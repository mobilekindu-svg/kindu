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64"/>
  </p:notesMasterIdLst>
  <p:sldIdLst>
    <p:sldId id="297" r:id="rId2"/>
    <p:sldId id="298"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351" r:id="rId42"/>
    <p:sldId id="427" r:id="rId43"/>
    <p:sldId id="353" r:id="rId44"/>
    <p:sldId id="354" r:id="rId45"/>
    <p:sldId id="356" r:id="rId46"/>
    <p:sldId id="357" r:id="rId47"/>
    <p:sldId id="358" r:id="rId48"/>
    <p:sldId id="359" r:id="rId49"/>
    <p:sldId id="360" r:id="rId50"/>
    <p:sldId id="428" r:id="rId51"/>
    <p:sldId id="429" r:id="rId52"/>
    <p:sldId id="430" r:id="rId53"/>
    <p:sldId id="433" r:id="rId54"/>
    <p:sldId id="434" r:id="rId55"/>
    <p:sldId id="435" r:id="rId56"/>
    <p:sldId id="436" r:id="rId57"/>
    <p:sldId id="438" r:id="rId58"/>
    <p:sldId id="439" r:id="rId59"/>
    <p:sldId id="442" r:id="rId60"/>
    <p:sldId id="440" r:id="rId61"/>
    <p:sldId id="443" r:id="rId62"/>
    <p:sldId id="299"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55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8BF13E-CE46-46FB-BECA-A80DECF726D9}" type="datetimeFigureOut">
              <a:rPr lang="en-US" smtClean="0"/>
              <a:t>2/28/2024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9DE5CD-03BD-4FDB-9ACD-FD3913B4A2B9}" type="slidenum">
              <a:rPr lang="en-US" smtClean="0"/>
              <a:t>‹#›</a:t>
            </a:fld>
            <a:endParaRPr lang="en-US"/>
          </a:p>
        </p:txBody>
      </p:sp>
    </p:spTree>
    <p:extLst>
      <p:ext uri="{BB962C8B-B14F-4D97-AF65-F5344CB8AC3E}">
        <p14:creationId xmlns:p14="http://schemas.microsoft.com/office/powerpoint/2010/main" val="3350072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2B72764-61A9-4E47-8A6F-1B24F57FC2C2}" type="slidenum">
              <a:rPr lang="en-US" smtClean="0"/>
              <a:pPr/>
              <a:t>37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2B72764-61A9-4E47-8A6F-1B24F57FC2C2}" type="slidenum">
              <a:rPr lang="en-US" smtClean="0"/>
              <a:pPr/>
              <a:t>38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2B72764-61A9-4E47-8A6F-1B24F57FC2C2}" type="slidenum">
              <a:rPr lang="en-US" smtClean="0"/>
              <a:pPr/>
              <a:t>39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2B72764-61A9-4E47-8A6F-1B24F57FC2C2}" type="slidenum">
              <a:rPr lang="en-US" smtClean="0"/>
              <a:pPr/>
              <a:t>40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BE58D-67F2-BF54-B98B-068AAEB72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5DF5B-8D2B-17FA-0838-D83B2D6C5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AA3C-8747-2C71-7252-50A09D6D97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C9F4B7-5F8F-932C-1CB5-FA407889805D}"/>
              </a:ext>
            </a:extLst>
          </p:cNvPr>
          <p:cNvSpPr>
            <a:spLocks noGrp="1"/>
          </p:cNvSpPr>
          <p:nvPr>
            <p:ph type="sldNum" sz="quarter" idx="10"/>
          </p:nvPr>
        </p:nvSpPr>
        <p:spPr/>
        <p:txBody>
          <a:bodyPr/>
          <a:lstStyle/>
          <a:p>
            <a:fld id="{742BA57D-8E53-4BD6-92F3-1A90F7807F90}" type="slidenum">
              <a:rPr lang="en-US" smtClean="0"/>
              <a:pPr/>
              <a:t>43</a:t>
            </a:fld>
            <a:endParaRPr lang="en-US"/>
          </a:p>
        </p:txBody>
      </p:sp>
    </p:spTree>
    <p:extLst>
      <p:ext uri="{BB962C8B-B14F-4D97-AF65-F5344CB8AC3E}">
        <p14:creationId xmlns:p14="http://schemas.microsoft.com/office/powerpoint/2010/main" val="2526596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2EB72-73B4-F3F2-484B-FC741FF84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23074-85DD-6F77-0B03-14ADB8AA5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69D26-B6E9-9676-98AC-6FFDCF79AFD6}"/>
              </a:ext>
            </a:extLst>
          </p:cNvPr>
          <p:cNvSpPr>
            <a:spLocks noGrp="1"/>
          </p:cNvSpPr>
          <p:nvPr>
            <p:ph type="body" idx="1"/>
          </p:nvPr>
        </p:nvSpPr>
        <p:spPr/>
        <p:txBody>
          <a:bodyPr/>
          <a:lstStyle/>
          <a:p>
            <a:pPr marL="0" indent="0">
              <a:buNone/>
            </a:pPr>
            <a:r>
              <a:rPr lang="en-US" sz="1600" dirty="0"/>
              <a:t>&lt;html&gt;</a:t>
            </a:r>
          </a:p>
          <a:p>
            <a:pPr marL="0" indent="0">
              <a:buNone/>
            </a:pPr>
            <a:r>
              <a:rPr lang="en-US" sz="1600" dirty="0"/>
              <a:t>&lt;head&gt;&lt;/head&gt;</a:t>
            </a:r>
          </a:p>
          <a:p>
            <a:pPr marL="0" indent="0">
              <a:buNone/>
            </a:pPr>
            <a:r>
              <a:rPr lang="en-US" sz="1600" dirty="0"/>
              <a:t>&lt;body&gt;</a:t>
            </a:r>
          </a:p>
          <a:p>
            <a:pPr marL="0" indent="0">
              <a:buNone/>
            </a:pPr>
            <a:r>
              <a:rPr lang="en-US" sz="1200" dirty="0"/>
              <a:t>&lt;form </a:t>
            </a:r>
            <a:r>
              <a:rPr lang="en-US" sz="1200" b="1" dirty="0">
                <a:effectLst>
                  <a:outerShdw blurRad="38100" dist="38100" dir="2700000" algn="tl">
                    <a:srgbClr val="000000">
                      <a:alpha val="43137"/>
                    </a:srgbClr>
                  </a:outerShdw>
                </a:effectLst>
              </a:rPr>
              <a:t>action=“</a:t>
            </a:r>
            <a:r>
              <a:rPr lang="en-US" sz="1200" b="1" dirty="0" err="1">
                <a:effectLst>
                  <a:outerShdw blurRad="38100" dist="38100" dir="2700000" algn="tl">
                    <a:srgbClr val="000000">
                      <a:alpha val="43137"/>
                    </a:srgbClr>
                  </a:outerShdw>
                </a:effectLst>
              </a:rPr>
              <a:t>test.php</a:t>
            </a:r>
            <a:r>
              <a:rPr lang="en-US" sz="1200" b="1" dirty="0">
                <a:effectLst>
                  <a:outerShdw blurRad="38100" dist="38100" dir="2700000" algn="tl">
                    <a:srgbClr val="000000">
                      <a:alpha val="43137"/>
                    </a:srgbClr>
                  </a:outerShdw>
                </a:effectLst>
              </a:rPr>
              <a:t>" method="GET"&gt;</a:t>
            </a:r>
          </a:p>
          <a:p>
            <a:pPr marL="0" indent="0">
              <a:buNone/>
            </a:pPr>
            <a:r>
              <a:rPr lang="en-US" sz="1200" dirty="0"/>
              <a:t>  Name: &lt;input type="text" name="name"&gt;</a:t>
            </a:r>
          </a:p>
          <a:p>
            <a:pPr marL="0" indent="0">
              <a:buNone/>
            </a:pPr>
            <a:r>
              <a:rPr lang="en-US" sz="1200" dirty="0"/>
              <a:t>  Password: &lt;input type=“password" name="age"&gt;</a:t>
            </a:r>
          </a:p>
          <a:p>
            <a:pPr marL="0" indent="0">
              <a:buNone/>
            </a:pPr>
            <a:r>
              <a:rPr lang="en-US" sz="1200" dirty="0"/>
              <a:t>  &lt;input type="submit"&gt;</a:t>
            </a:r>
          </a:p>
          <a:p>
            <a:pPr marL="0" indent="0">
              <a:buNone/>
            </a:pPr>
            <a:r>
              <a:rPr lang="en-US" sz="1200" dirty="0"/>
              <a:t>  &lt;/form&gt;</a:t>
            </a:r>
          </a:p>
          <a:p>
            <a:pPr marL="0" indent="0">
              <a:buNone/>
            </a:pPr>
            <a:r>
              <a:rPr lang="en-US" sz="1200" dirty="0"/>
              <a:t>&lt;/body&gt;</a:t>
            </a:r>
          </a:p>
          <a:p>
            <a:pPr marL="0" indent="0">
              <a:buNone/>
            </a:pPr>
            <a:r>
              <a:rPr lang="en-US" sz="1200" dirty="0"/>
              <a:t>&lt;/html&gt;</a:t>
            </a:r>
          </a:p>
          <a:p>
            <a:endParaRPr lang="en-US" dirty="0"/>
          </a:p>
        </p:txBody>
      </p:sp>
      <p:sp>
        <p:nvSpPr>
          <p:cNvPr id="4" name="Slide Number Placeholder 3">
            <a:extLst>
              <a:ext uri="{FF2B5EF4-FFF2-40B4-BE49-F238E27FC236}">
                <a16:creationId xmlns:a16="http://schemas.microsoft.com/office/drawing/2014/main" id="{E00615D5-D4BA-F5D8-7BCF-7CC2E4144357}"/>
              </a:ext>
            </a:extLst>
          </p:cNvPr>
          <p:cNvSpPr>
            <a:spLocks noGrp="1"/>
          </p:cNvSpPr>
          <p:nvPr>
            <p:ph type="sldNum" sz="quarter" idx="10"/>
          </p:nvPr>
        </p:nvSpPr>
        <p:spPr/>
        <p:txBody>
          <a:bodyPr/>
          <a:lstStyle/>
          <a:p>
            <a:fld id="{742BA57D-8E53-4BD6-92F3-1A90F7807F90}" type="slidenum">
              <a:rPr lang="en-US" smtClean="0"/>
              <a:pPr/>
              <a:t>45</a:t>
            </a:fld>
            <a:endParaRPr lang="en-US"/>
          </a:p>
        </p:txBody>
      </p:sp>
    </p:spTree>
    <p:extLst>
      <p:ext uri="{BB962C8B-B14F-4D97-AF65-F5344CB8AC3E}">
        <p14:creationId xmlns:p14="http://schemas.microsoft.com/office/powerpoint/2010/main" val="3535359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8BFBF6-BE8B-4C22-8167-DF7836254452}"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2396286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3427975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1A5B40-BA9E-49D9-8DD8-233C89C8E647}"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22967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18C78E-3A6C-4BD1-85A1-DED7B168DCA4}"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1220973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F4D487-E967-413C-A927-19C8E1861576}" type="datetime1">
              <a:rPr lang="en-US" smtClean="0"/>
              <a:t>2/28/2024</a:t>
            </a:fld>
            <a:endParaRPr lang="en-US"/>
          </a:p>
        </p:txBody>
      </p:sp>
      <p:sp>
        <p:nvSpPr>
          <p:cNvPr id="8" name="Footer Placeholder 7"/>
          <p:cNvSpPr>
            <a:spLocks noGrp="1"/>
          </p:cNvSpPr>
          <p:nvPr>
            <p:ph type="ftr" sz="quarter" idx="11"/>
          </p:nvPr>
        </p:nvSpPr>
        <p:spPr/>
        <p:txBody>
          <a:bodyPr/>
          <a:lstStyle/>
          <a:p>
            <a:r>
              <a:rPr lang="en-US"/>
              <a:t>compiled by: IT dep't staffs</a:t>
            </a: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201461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5163D6-3005-401D-99FE-04832FBD2BE8}" type="datetime1">
              <a:rPr lang="en-US" smtClean="0"/>
              <a:t>2/28/2024</a:t>
            </a:fld>
            <a:endParaRPr lang="en-US"/>
          </a:p>
        </p:txBody>
      </p:sp>
      <p:sp>
        <p:nvSpPr>
          <p:cNvPr id="4" name="Footer Placeholder 3"/>
          <p:cNvSpPr>
            <a:spLocks noGrp="1"/>
          </p:cNvSpPr>
          <p:nvPr>
            <p:ph type="ftr" sz="quarter" idx="11"/>
          </p:nvPr>
        </p:nvSpPr>
        <p:spPr/>
        <p:txBody>
          <a:bodyPr/>
          <a:lstStyle/>
          <a:p>
            <a:r>
              <a:rPr lang="en-US"/>
              <a:t>compiled by: IT dep't staffs</a:t>
            </a: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78138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067B0E-4D41-4BC2-B17B-59D7E82E73C8}" type="datetime1">
              <a:rPr lang="en-US" smtClean="0"/>
              <a:t>2/28/2024</a:t>
            </a:fld>
            <a:endParaRPr lang="en-US"/>
          </a:p>
        </p:txBody>
      </p:sp>
      <p:sp>
        <p:nvSpPr>
          <p:cNvPr id="3" name="Footer Placeholder 2"/>
          <p:cNvSpPr>
            <a:spLocks noGrp="1"/>
          </p:cNvSpPr>
          <p:nvPr>
            <p:ph type="ftr" sz="quarter" idx="11"/>
          </p:nvPr>
        </p:nvSpPr>
        <p:spPr/>
        <p:txBody>
          <a:bodyPr/>
          <a:lstStyle/>
          <a:p>
            <a:r>
              <a:rPr lang="en-US"/>
              <a:t>compiled by: IT dep't staffs</a:t>
            </a: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4291461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F6A4A5-A130-4515-BE10-FEF436299F75}"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1693009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278A8E-71C4-4C4F-A6D5-D7383DA941DA}"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2036692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B915BC-B7B4-4A5F-929F-C9FCF4A4CEEF}"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113387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CAD551-10A7-476F-8A26-1F9C07E1694A}"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D4953B1-23D1-427D-BAAF-F6F31382E945}"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52295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247D7F-33E5-4235-A61B-DC950BE76F29}"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370109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E38FF01-01A5-410B-9D3A-E2C2FCDDD1C4}"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D4953B1-23D1-427D-BAAF-F6F31382E945}"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27598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61B414-5616-45B0-9B7D-46894BF8164D}"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2531535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C5DC9E-1FE8-43F0-9B19-7E7917096128}"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1374223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DC41F3-D9D4-4182-92D2-3012F6143411}"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4953B1-23D1-427D-BAAF-F6F31382E945}" type="slidenum">
              <a:rPr lang="en-US" smtClean="0"/>
              <a:t>‹#›</a:t>
            </a:fld>
            <a:endParaRPr lang="en-US"/>
          </a:p>
        </p:txBody>
      </p:sp>
    </p:spTree>
    <p:extLst>
      <p:ext uri="{BB962C8B-B14F-4D97-AF65-F5344CB8AC3E}">
        <p14:creationId xmlns:p14="http://schemas.microsoft.com/office/powerpoint/2010/main" val="100028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CACD93D4-FA95-4B7A-9DEA-BD36CA01642D}" type="datetime1">
              <a:rPr lang="en-US" smtClean="0"/>
              <a:t>2/28/2024</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compiled by: IT dep't staffs</a:t>
            </a: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DD4953B1-23D1-427D-BAAF-F6F31382E945}" type="slidenum">
              <a:rPr lang="en-US" smtClean="0"/>
              <a:t>‹#›</a:t>
            </a:fld>
            <a:endParaRPr lang="en-US"/>
          </a:p>
        </p:txBody>
      </p:sp>
    </p:spTree>
    <p:extLst>
      <p:ext uri="{BB962C8B-B14F-4D97-AF65-F5344CB8AC3E}">
        <p14:creationId xmlns:p14="http://schemas.microsoft.com/office/powerpoint/2010/main" val="3018731462"/>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Lst>
  <p:hf hd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hyperlink" Target="http://www.test.com/index.htm?name1=value1&amp;name2=value2"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b="1" dirty="0">
                <a:solidFill>
                  <a:srgbClr val="00B0F0"/>
                </a:solidFill>
                <a:latin typeface="Times New Roman" panose="02020603050405020304" pitchFamily="18" charset="0"/>
                <a:cs typeface="Times New Roman" panose="02020603050405020304" pitchFamily="18" charset="0"/>
              </a:rPr>
              <a:t>Chapter 2</a:t>
            </a:r>
          </a:p>
        </p:txBody>
      </p:sp>
      <p:sp>
        <p:nvSpPr>
          <p:cNvPr id="3" name="Content Placeholder 2"/>
          <p:cNvSpPr>
            <a:spLocks noGrp="1"/>
          </p:cNvSpPr>
          <p:nvPr>
            <p:ph idx="1"/>
          </p:nvPr>
        </p:nvSpPr>
        <p:spPr>
          <a:xfrm>
            <a:off x="457200" y="1752600"/>
            <a:ext cx="8382000" cy="4373563"/>
          </a:xfrm>
        </p:spPr>
        <p:txBody>
          <a:bodyPr>
            <a:normAutofit/>
          </a:bodyPr>
          <a:lstStyle/>
          <a:p>
            <a:pPr marL="0" indent="0">
              <a:buNone/>
            </a:pPr>
            <a:r>
              <a:rPr lang="en-US" sz="4800" b="1" dirty="0">
                <a:latin typeface="Times New Roman" pitchFamily="18" charset="0"/>
                <a:cs typeface="Times New Roman" pitchFamily="18" charset="0"/>
              </a:rPr>
              <a:t>Conditional statement and loop </a:t>
            </a:r>
          </a:p>
        </p:txBody>
      </p:sp>
      <p:sp>
        <p:nvSpPr>
          <p:cNvPr id="4" name="Date Placeholder 3"/>
          <p:cNvSpPr>
            <a:spLocks noGrp="1"/>
          </p:cNvSpPr>
          <p:nvPr>
            <p:ph type="dt" sz="half" idx="10"/>
          </p:nvPr>
        </p:nvSpPr>
        <p:spPr/>
        <p:txBody>
          <a:bodyPr/>
          <a:lstStyle/>
          <a:p>
            <a:fld id="{B6C2A7DC-9750-4686-80FF-5F3E17863160}" type="datetime1">
              <a:rPr lang="en-US" smtClean="0"/>
              <a:t>2/28/2024</a:t>
            </a:fld>
            <a:endParaRPr lang="en-US"/>
          </a:p>
        </p:txBody>
      </p:sp>
      <p:sp>
        <p:nvSpPr>
          <p:cNvPr id="5" name="Footer Placeholder 4"/>
          <p:cNvSpPr>
            <a:spLocks noGrp="1"/>
          </p:cNvSpPr>
          <p:nvPr>
            <p:ph type="ftr" sz="quarter" idx="11"/>
          </p:nvPr>
        </p:nvSpPr>
        <p:spPr>
          <a:xfrm>
            <a:off x="2819400" y="6019800"/>
            <a:ext cx="4724400" cy="579215"/>
          </a:xfrm>
        </p:spPr>
        <p:txBody>
          <a:bodyPr/>
          <a:lstStyle/>
          <a:p>
            <a:r>
              <a:rPr lang="en-US" sz="14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14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D4953B1-23D1-427D-BAAF-F6F31382E945}" type="slidenum">
              <a:rPr lang="en-US" smtClean="0"/>
              <a:t>1</a:t>
            </a:fld>
            <a:endParaRPr lang="en-US"/>
          </a:p>
        </p:txBody>
      </p:sp>
    </p:spTree>
    <p:extLst>
      <p:ext uri="{BB962C8B-B14F-4D97-AF65-F5344CB8AC3E}">
        <p14:creationId xmlns:p14="http://schemas.microsoft.com/office/powerpoint/2010/main" val="2873402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PHP Decision Making</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4000" b="1" dirty="0"/>
              <a:t>if</a:t>
            </a:r>
          </a:p>
          <a:p>
            <a:pPr>
              <a:buFont typeface="Wingdings" pitchFamily="2" charset="2"/>
              <a:buChar char="Ø"/>
            </a:pPr>
            <a:r>
              <a:rPr lang="en-US" sz="4000" b="1" dirty="0"/>
              <a:t>if…else</a:t>
            </a:r>
          </a:p>
          <a:p>
            <a:pPr>
              <a:buFont typeface="Wingdings" pitchFamily="2" charset="2"/>
              <a:buChar char="Ø"/>
            </a:pPr>
            <a:r>
              <a:rPr lang="en-US" sz="4000" b="1" dirty="0"/>
              <a:t>if…</a:t>
            </a:r>
            <a:r>
              <a:rPr lang="en-US" sz="4000" b="1" dirty="0" err="1"/>
              <a:t>elseif</a:t>
            </a:r>
            <a:r>
              <a:rPr lang="en-US" sz="4000" b="1" dirty="0"/>
              <a:t>…else</a:t>
            </a:r>
          </a:p>
          <a:p>
            <a:pPr>
              <a:buFont typeface="Wingdings" pitchFamily="2" charset="2"/>
              <a:buChar char="Ø"/>
            </a:pPr>
            <a:r>
              <a:rPr lang="en-US" sz="4000" b="1" dirty="0"/>
              <a:t>switch </a:t>
            </a:r>
          </a:p>
        </p:txBody>
      </p:sp>
      <p:sp>
        <p:nvSpPr>
          <p:cNvPr id="4" name="Date Placeholder 3"/>
          <p:cNvSpPr>
            <a:spLocks noGrp="1"/>
          </p:cNvSpPr>
          <p:nvPr>
            <p:ph type="dt" sz="half" idx="10"/>
          </p:nvPr>
        </p:nvSpPr>
        <p:spPr/>
        <p:txBody>
          <a:bodyPr/>
          <a:lstStyle/>
          <a:p>
            <a:fld id="{28403B2C-729E-4B2F-9BC7-2CB2507F1CD0}"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2</a:t>
            </a:fld>
            <a:endParaRPr lang="en-US"/>
          </a:p>
        </p:txBody>
      </p:sp>
    </p:spTree>
    <p:extLst>
      <p:ext uri="{BB962C8B-B14F-4D97-AF65-F5344CB8AC3E}">
        <p14:creationId xmlns:p14="http://schemas.microsoft.com/office/powerpoint/2010/main" val="222775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858837"/>
          </a:xfrm>
        </p:spPr>
        <p:txBody>
          <a:bodyPr/>
          <a:lstStyle/>
          <a:p>
            <a:r>
              <a:rPr lang="en-US" b="1" dirty="0"/>
              <a:t>        </a:t>
            </a:r>
            <a:r>
              <a:rPr lang="en-US" b="1" dirty="0">
                <a:solidFill>
                  <a:srgbClr val="00B0F0"/>
                </a:solidFill>
              </a:rPr>
              <a:t>The if statement </a:t>
            </a:r>
          </a:p>
        </p:txBody>
      </p:sp>
      <p:sp>
        <p:nvSpPr>
          <p:cNvPr id="3" name="Content Placeholder 2"/>
          <p:cNvSpPr>
            <a:spLocks noGrp="1"/>
          </p:cNvSpPr>
          <p:nvPr>
            <p:ph idx="1"/>
          </p:nvPr>
        </p:nvSpPr>
        <p:spPr>
          <a:xfrm>
            <a:off x="762000" y="1447800"/>
            <a:ext cx="7620000" cy="4114800"/>
          </a:xfrm>
        </p:spPr>
        <p:txBody>
          <a:bodyPr>
            <a:normAutofit lnSpcReduction="10000"/>
          </a:bodyPr>
          <a:lstStyle/>
          <a:p>
            <a:pPr algn="just">
              <a:buFont typeface="Wingdings" pitchFamily="2" charset="2"/>
              <a:buChar char="Ø"/>
            </a:pPr>
            <a:r>
              <a:rPr lang="en-US" sz="4000" dirty="0"/>
              <a:t>Executes set of codes </a:t>
            </a:r>
            <a:r>
              <a:rPr lang="en-US" sz="4000" b="1" dirty="0"/>
              <a:t>when a condition is true</a:t>
            </a:r>
            <a:r>
              <a:rPr lang="en-US" sz="4000" dirty="0"/>
              <a:t>. </a:t>
            </a:r>
          </a:p>
          <a:p>
            <a:pPr marL="0" indent="0" algn="just">
              <a:buNone/>
            </a:pPr>
            <a:r>
              <a:rPr lang="en-US" sz="4000" dirty="0"/>
              <a:t>Syntax</a:t>
            </a:r>
          </a:p>
          <a:p>
            <a:pPr marL="0" indent="0" algn="just">
              <a:buNone/>
            </a:pPr>
            <a:r>
              <a:rPr lang="en-US" sz="4000" b="1" dirty="0"/>
              <a:t>if (condition)</a:t>
            </a:r>
          </a:p>
          <a:p>
            <a:pPr marL="0" indent="0" algn="just">
              <a:buNone/>
            </a:pPr>
            <a:r>
              <a:rPr lang="en-US" sz="4000" dirty="0"/>
              <a:t>	//code to be executed if //condition is true </a:t>
            </a:r>
          </a:p>
        </p:txBody>
      </p:sp>
      <p:sp>
        <p:nvSpPr>
          <p:cNvPr id="4" name="Date Placeholder 3"/>
          <p:cNvSpPr>
            <a:spLocks noGrp="1"/>
          </p:cNvSpPr>
          <p:nvPr>
            <p:ph type="dt" sz="half" idx="10"/>
          </p:nvPr>
        </p:nvSpPr>
        <p:spPr/>
        <p:txBody>
          <a:bodyPr/>
          <a:lstStyle/>
          <a:p>
            <a:fld id="{06521F6A-41C5-4F71-A904-C2A6D41FF721}"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r>
              <a:rPr lang="en-US" dirty="0"/>
              <a:t> </a:t>
            </a:r>
            <a:fld id="{0164FE31-0E14-4B83-80DC-64DA42BE9651}" type="slidenum">
              <a:rPr lang="en-US" smtClean="0"/>
              <a:pPr/>
              <a:t>3</a:t>
            </a:fld>
            <a:endParaRPr lang="en-US" dirty="0"/>
          </a:p>
        </p:txBody>
      </p:sp>
    </p:spTree>
    <p:extLst>
      <p:ext uri="{BB962C8B-B14F-4D97-AF65-F5344CB8AC3E}">
        <p14:creationId xmlns:p14="http://schemas.microsoft.com/office/powerpoint/2010/main" val="1682078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041440" cy="838200"/>
          </a:xfrm>
        </p:spPr>
        <p:txBody>
          <a:bodyPr/>
          <a:lstStyle/>
          <a:p>
            <a:r>
              <a:rPr lang="en-US" b="1" dirty="0"/>
              <a:t>       </a:t>
            </a:r>
            <a:r>
              <a:rPr lang="en-US" b="1" dirty="0">
                <a:solidFill>
                  <a:srgbClr val="00B0F0"/>
                </a:solidFill>
              </a:rPr>
              <a:t>if… else</a:t>
            </a:r>
          </a:p>
        </p:txBody>
      </p:sp>
      <p:sp>
        <p:nvSpPr>
          <p:cNvPr id="3" name="Content Placeholder 2"/>
          <p:cNvSpPr>
            <a:spLocks noGrp="1"/>
          </p:cNvSpPr>
          <p:nvPr>
            <p:ph idx="1"/>
          </p:nvPr>
        </p:nvSpPr>
        <p:spPr>
          <a:xfrm>
            <a:off x="838200" y="1219200"/>
            <a:ext cx="7467600" cy="4876800"/>
          </a:xfrm>
        </p:spPr>
        <p:txBody>
          <a:bodyPr>
            <a:normAutofit fontScale="92500" lnSpcReduction="10000"/>
          </a:bodyPr>
          <a:lstStyle/>
          <a:p>
            <a:pPr>
              <a:buFont typeface="Wingdings" pitchFamily="2" charset="2"/>
              <a:buChar char="Ø"/>
            </a:pPr>
            <a:r>
              <a:rPr lang="en-US" sz="4000" dirty="0"/>
              <a:t>Execute a set of code </a:t>
            </a:r>
            <a:r>
              <a:rPr lang="en-US" sz="4000" b="1" dirty="0"/>
              <a:t>when a condition is true and another if the condition is not true.</a:t>
            </a:r>
          </a:p>
          <a:p>
            <a:pPr marL="0" indent="0">
              <a:buNone/>
            </a:pPr>
            <a:r>
              <a:rPr lang="en-US" sz="4000" b="1" dirty="0"/>
              <a:t>Syntax:</a:t>
            </a:r>
          </a:p>
          <a:p>
            <a:pPr marL="0" indent="0">
              <a:buNone/>
            </a:pPr>
            <a:r>
              <a:rPr lang="en-US" sz="4000" b="1" dirty="0"/>
              <a:t>if (condition)</a:t>
            </a:r>
          </a:p>
          <a:p>
            <a:pPr marL="0" indent="0">
              <a:buNone/>
            </a:pPr>
            <a:r>
              <a:rPr lang="en-US" sz="4000" b="1" dirty="0"/>
              <a:t>	</a:t>
            </a:r>
            <a:r>
              <a:rPr lang="en-US" sz="4000" dirty="0"/>
              <a:t>//some code here</a:t>
            </a:r>
          </a:p>
          <a:p>
            <a:pPr marL="0" indent="0">
              <a:buNone/>
            </a:pPr>
            <a:r>
              <a:rPr lang="en-US" sz="4000" b="1" dirty="0"/>
              <a:t>else</a:t>
            </a:r>
          </a:p>
          <a:p>
            <a:pPr marL="0" indent="0">
              <a:buNone/>
            </a:pPr>
            <a:r>
              <a:rPr lang="en-US" sz="4000" b="1" dirty="0"/>
              <a:t>	// run if condition is false</a:t>
            </a:r>
          </a:p>
        </p:txBody>
      </p:sp>
      <p:sp>
        <p:nvSpPr>
          <p:cNvPr id="4" name="Date Placeholder 3"/>
          <p:cNvSpPr>
            <a:spLocks noGrp="1"/>
          </p:cNvSpPr>
          <p:nvPr>
            <p:ph type="dt" sz="half" idx="10"/>
          </p:nvPr>
        </p:nvSpPr>
        <p:spPr/>
        <p:txBody>
          <a:bodyPr/>
          <a:lstStyle/>
          <a:p>
            <a:fld id="{6304D2D3-5FF1-40A4-A014-DB938A35B922}"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4</a:t>
            </a:fld>
            <a:endParaRPr lang="en-US"/>
          </a:p>
        </p:txBody>
      </p:sp>
    </p:spTree>
    <p:extLst>
      <p:ext uri="{BB962C8B-B14F-4D97-AF65-F5344CB8AC3E}">
        <p14:creationId xmlns:p14="http://schemas.microsoft.com/office/powerpoint/2010/main" val="1598888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041440" cy="762000"/>
          </a:xfrm>
        </p:spPr>
        <p:txBody>
          <a:bodyPr/>
          <a:lstStyle/>
          <a:p>
            <a:r>
              <a:rPr lang="en-US" b="1" dirty="0"/>
              <a:t>     </a:t>
            </a:r>
            <a:r>
              <a:rPr lang="en-US" b="1" dirty="0" err="1">
                <a:solidFill>
                  <a:srgbClr val="00B0F0"/>
                </a:solidFill>
              </a:rPr>
              <a:t>if..elseif</a:t>
            </a:r>
            <a:r>
              <a:rPr lang="en-US" b="1" dirty="0">
                <a:solidFill>
                  <a:srgbClr val="00B0F0"/>
                </a:solidFill>
              </a:rPr>
              <a:t>…else</a:t>
            </a:r>
          </a:p>
        </p:txBody>
      </p:sp>
      <p:sp>
        <p:nvSpPr>
          <p:cNvPr id="3" name="Content Placeholder 2"/>
          <p:cNvSpPr>
            <a:spLocks noGrp="1"/>
          </p:cNvSpPr>
          <p:nvPr>
            <p:ph idx="1"/>
          </p:nvPr>
        </p:nvSpPr>
        <p:spPr>
          <a:xfrm>
            <a:off x="177800" y="1143000"/>
            <a:ext cx="8991600" cy="5151525"/>
          </a:xfrm>
        </p:spPr>
        <p:txBody>
          <a:bodyPr>
            <a:normAutofit fontScale="85000" lnSpcReduction="20000"/>
          </a:bodyPr>
          <a:lstStyle/>
          <a:p>
            <a:pPr>
              <a:buFont typeface="Wingdings" pitchFamily="2" charset="2"/>
              <a:buChar char="Ø"/>
            </a:pPr>
            <a:r>
              <a:rPr lang="en-US" sz="4000" dirty="0"/>
              <a:t>Execute  a set of code </a:t>
            </a:r>
            <a:r>
              <a:rPr lang="en-US" sz="4000" b="1" dirty="0"/>
              <a:t>if one of several condition are true.</a:t>
            </a:r>
          </a:p>
          <a:p>
            <a:pPr marL="0" indent="0">
              <a:buNone/>
            </a:pPr>
            <a:r>
              <a:rPr lang="en-US" sz="4000" b="1" dirty="0"/>
              <a:t>Syntax:</a:t>
            </a:r>
          </a:p>
          <a:p>
            <a:pPr marL="0" indent="0">
              <a:buNone/>
            </a:pPr>
            <a:r>
              <a:rPr lang="en-US" sz="4000" b="1" dirty="0"/>
              <a:t>if (condition 1)</a:t>
            </a:r>
          </a:p>
          <a:p>
            <a:pPr marL="0" indent="0">
              <a:buNone/>
            </a:pPr>
            <a:r>
              <a:rPr lang="en-US" sz="4000" b="1" dirty="0"/>
              <a:t>	</a:t>
            </a:r>
            <a:r>
              <a:rPr lang="en-US" sz="4000" dirty="0"/>
              <a:t>//if condition 1 is true this will run</a:t>
            </a:r>
          </a:p>
          <a:p>
            <a:pPr marL="0" indent="0">
              <a:buNone/>
            </a:pPr>
            <a:r>
              <a:rPr lang="en-US" sz="4000" b="1" dirty="0" err="1"/>
              <a:t>elseif</a:t>
            </a:r>
            <a:r>
              <a:rPr lang="en-US" sz="4000" b="1" dirty="0"/>
              <a:t> (condition 2)</a:t>
            </a:r>
          </a:p>
          <a:p>
            <a:pPr marL="0" indent="0">
              <a:buNone/>
            </a:pPr>
            <a:r>
              <a:rPr lang="en-US" sz="4000" b="1" dirty="0"/>
              <a:t>	</a:t>
            </a:r>
            <a:r>
              <a:rPr lang="en-US" sz="4000" dirty="0"/>
              <a:t>//if condition 2 is true this will run</a:t>
            </a:r>
          </a:p>
          <a:p>
            <a:pPr marL="0" indent="0">
              <a:buNone/>
            </a:pPr>
            <a:r>
              <a:rPr lang="en-US" sz="4000" b="1" dirty="0"/>
              <a:t>else</a:t>
            </a:r>
          </a:p>
          <a:p>
            <a:pPr marL="0" indent="0">
              <a:buNone/>
            </a:pPr>
            <a:r>
              <a:rPr lang="en-US" sz="4000" b="1" dirty="0"/>
              <a:t>	</a:t>
            </a:r>
            <a:r>
              <a:rPr lang="en-US" sz="4000" dirty="0"/>
              <a:t>//if all of the above are not true this will run</a:t>
            </a:r>
          </a:p>
        </p:txBody>
      </p:sp>
      <p:sp>
        <p:nvSpPr>
          <p:cNvPr id="4" name="Date Placeholder 3"/>
          <p:cNvSpPr>
            <a:spLocks noGrp="1"/>
          </p:cNvSpPr>
          <p:nvPr>
            <p:ph type="dt" sz="half" idx="10"/>
          </p:nvPr>
        </p:nvSpPr>
        <p:spPr/>
        <p:txBody>
          <a:bodyPr/>
          <a:lstStyle/>
          <a:p>
            <a:fld id="{0D31F726-7C78-4178-B67A-290631B9AD8C}"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5</a:t>
            </a:fld>
            <a:endParaRPr lang="en-US"/>
          </a:p>
        </p:txBody>
      </p:sp>
    </p:spTree>
    <p:extLst>
      <p:ext uri="{BB962C8B-B14F-4D97-AF65-F5344CB8AC3E}">
        <p14:creationId xmlns:p14="http://schemas.microsoft.com/office/powerpoint/2010/main" val="287637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782637"/>
          </a:xfrm>
        </p:spPr>
        <p:txBody>
          <a:bodyPr/>
          <a:lstStyle/>
          <a:p>
            <a:r>
              <a:rPr lang="en-US" b="1" dirty="0"/>
              <a:t>                 </a:t>
            </a:r>
            <a:r>
              <a:rPr lang="en-US" b="1" dirty="0">
                <a:solidFill>
                  <a:srgbClr val="00B0F0"/>
                </a:solidFill>
              </a:rPr>
              <a:t>switch</a:t>
            </a:r>
          </a:p>
        </p:txBody>
      </p:sp>
      <p:sp>
        <p:nvSpPr>
          <p:cNvPr id="3" name="Content Placeholder 2"/>
          <p:cNvSpPr>
            <a:spLocks noGrp="1"/>
          </p:cNvSpPr>
          <p:nvPr>
            <p:ph idx="1"/>
          </p:nvPr>
        </p:nvSpPr>
        <p:spPr>
          <a:xfrm>
            <a:off x="304800" y="1295400"/>
            <a:ext cx="8534400" cy="5181600"/>
          </a:xfrm>
        </p:spPr>
        <p:txBody>
          <a:bodyPr>
            <a:normAutofit fontScale="85000" lnSpcReduction="20000"/>
          </a:bodyPr>
          <a:lstStyle/>
          <a:p>
            <a:pPr>
              <a:buFont typeface="Wingdings" pitchFamily="2" charset="2"/>
              <a:buChar char="Ø"/>
            </a:pPr>
            <a:r>
              <a:rPr lang="en-US" sz="4000" dirty="0"/>
              <a:t>To </a:t>
            </a:r>
            <a:r>
              <a:rPr lang="en-US" sz="4000" b="1" dirty="0"/>
              <a:t>select</a:t>
            </a:r>
            <a:r>
              <a:rPr lang="en-US" sz="4000" dirty="0"/>
              <a:t> one of many </a:t>
            </a:r>
            <a:r>
              <a:rPr lang="en-US" sz="4000" b="1" dirty="0"/>
              <a:t>blocks of code to be executed.</a:t>
            </a:r>
          </a:p>
          <a:p>
            <a:pPr marL="0" indent="0">
              <a:buNone/>
            </a:pPr>
            <a:r>
              <a:rPr lang="en-US" sz="4000" b="1" dirty="0"/>
              <a:t>Syntax:</a:t>
            </a:r>
          </a:p>
          <a:p>
            <a:pPr marL="0" indent="0">
              <a:buNone/>
            </a:pPr>
            <a:r>
              <a:rPr lang="en-US" sz="4000" b="1" dirty="0"/>
              <a:t>switch (expression)</a:t>
            </a:r>
          </a:p>
          <a:p>
            <a:pPr marL="0" indent="0">
              <a:buNone/>
            </a:pPr>
            <a:r>
              <a:rPr lang="en-US" sz="4000" b="1" dirty="0"/>
              <a:t>	{</a:t>
            </a:r>
          </a:p>
          <a:p>
            <a:pPr marL="0" indent="0">
              <a:buNone/>
            </a:pPr>
            <a:r>
              <a:rPr lang="en-US" sz="4000" b="1" dirty="0"/>
              <a:t>	     case label1: </a:t>
            </a:r>
            <a:r>
              <a:rPr lang="en-US" sz="4000" dirty="0"/>
              <a:t>code here</a:t>
            </a:r>
            <a:r>
              <a:rPr lang="en-US" sz="4000" b="1" dirty="0"/>
              <a:t>; break;</a:t>
            </a:r>
          </a:p>
          <a:p>
            <a:pPr marL="0" indent="0">
              <a:buNone/>
            </a:pPr>
            <a:r>
              <a:rPr lang="en-US" sz="4000" b="1" dirty="0"/>
              <a:t>	     case label2: </a:t>
            </a:r>
            <a:r>
              <a:rPr lang="en-US" sz="4000" dirty="0"/>
              <a:t>code here</a:t>
            </a:r>
            <a:r>
              <a:rPr lang="en-US" sz="4000" b="1" dirty="0"/>
              <a:t>; break;</a:t>
            </a:r>
          </a:p>
          <a:p>
            <a:pPr marL="0" indent="0">
              <a:buNone/>
            </a:pPr>
            <a:r>
              <a:rPr lang="en-US" sz="4000" b="1" dirty="0"/>
              <a:t>	      Default: </a:t>
            </a:r>
            <a:r>
              <a:rPr lang="en-US" sz="4000" dirty="0"/>
              <a:t>code if the above are not met</a:t>
            </a:r>
            <a:r>
              <a:rPr lang="en-US" sz="4000" b="1" dirty="0"/>
              <a:t>;</a:t>
            </a:r>
          </a:p>
          <a:p>
            <a:pPr marL="0" indent="0">
              <a:buNone/>
            </a:pPr>
            <a:r>
              <a:rPr lang="en-US" sz="4000" b="1" dirty="0"/>
              <a:t>	}</a:t>
            </a:r>
          </a:p>
        </p:txBody>
      </p:sp>
      <p:sp>
        <p:nvSpPr>
          <p:cNvPr id="4" name="Date Placeholder 3"/>
          <p:cNvSpPr>
            <a:spLocks noGrp="1"/>
          </p:cNvSpPr>
          <p:nvPr>
            <p:ph type="dt" sz="half" idx="10"/>
          </p:nvPr>
        </p:nvSpPr>
        <p:spPr/>
        <p:txBody>
          <a:bodyPr/>
          <a:lstStyle/>
          <a:p>
            <a:fld id="{9B755D80-FEDF-4349-9A2D-A93AAC46EC5B}"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r>
              <a:rPr lang="en-US" dirty="0"/>
              <a:t> </a:t>
            </a:r>
            <a:fld id="{0164FE31-0E14-4B83-80DC-64DA42BE9651}" type="slidenum">
              <a:rPr lang="en-US" smtClean="0"/>
              <a:pPr/>
              <a:t>6</a:t>
            </a:fld>
            <a:endParaRPr lang="en-US" dirty="0"/>
          </a:p>
        </p:txBody>
      </p:sp>
    </p:spTree>
    <p:extLst>
      <p:ext uri="{BB962C8B-B14F-4D97-AF65-F5344CB8AC3E}">
        <p14:creationId xmlns:p14="http://schemas.microsoft.com/office/powerpoint/2010/main" val="770759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041440" cy="706437"/>
          </a:xfrm>
        </p:spPr>
        <p:txBody>
          <a:bodyPr>
            <a:normAutofit/>
          </a:bodyPr>
          <a:lstStyle/>
          <a:p>
            <a:r>
              <a:rPr lang="en-US" b="1" dirty="0"/>
              <a:t>      </a:t>
            </a:r>
            <a:r>
              <a:rPr lang="en-US" b="1" dirty="0">
                <a:solidFill>
                  <a:srgbClr val="00B0F0"/>
                </a:solidFill>
              </a:rPr>
              <a:t>How if…else works</a:t>
            </a:r>
          </a:p>
        </p:txBody>
      </p:sp>
      <p:sp>
        <p:nvSpPr>
          <p:cNvPr id="3" name="Content Placeholder 2"/>
          <p:cNvSpPr>
            <a:spLocks noGrp="1"/>
          </p:cNvSpPr>
          <p:nvPr>
            <p:ph idx="1"/>
          </p:nvPr>
        </p:nvSpPr>
        <p:spPr>
          <a:xfrm>
            <a:off x="762000" y="1295400"/>
            <a:ext cx="7467600" cy="4343399"/>
          </a:xfrm>
        </p:spPr>
        <p:txBody>
          <a:bodyPr>
            <a:normAutofit/>
          </a:bodyPr>
          <a:lstStyle/>
          <a:p>
            <a:pPr marL="0" indent="0">
              <a:buNone/>
            </a:pPr>
            <a:r>
              <a:rPr lang="en-US" sz="3200" dirty="0"/>
              <a:t>&lt;?</a:t>
            </a:r>
            <a:r>
              <a:rPr lang="en-US" sz="3200" dirty="0" err="1"/>
              <a:t>php</a:t>
            </a:r>
            <a:endParaRPr lang="en-US" sz="3200" dirty="0"/>
          </a:p>
          <a:p>
            <a:pPr marL="0" indent="0">
              <a:buNone/>
            </a:pPr>
            <a:r>
              <a:rPr lang="en-US" sz="3200" dirty="0"/>
              <a:t>	$number = 12;</a:t>
            </a:r>
          </a:p>
          <a:p>
            <a:pPr marL="0" indent="0">
              <a:buNone/>
            </a:pPr>
            <a:r>
              <a:rPr lang="en-US" sz="3200" dirty="0"/>
              <a:t>	if ($number &gt; 0)</a:t>
            </a:r>
          </a:p>
          <a:p>
            <a:pPr marL="0" indent="0">
              <a:buNone/>
            </a:pPr>
            <a:r>
              <a:rPr lang="en-US" sz="3200" dirty="0"/>
              <a:t>		echo ‘right’;</a:t>
            </a:r>
          </a:p>
          <a:p>
            <a:pPr marL="0" indent="0">
              <a:buNone/>
            </a:pPr>
            <a:r>
              <a:rPr lang="en-US" sz="3200" dirty="0"/>
              <a:t>	else</a:t>
            </a:r>
          </a:p>
          <a:p>
            <a:pPr marL="0" indent="0">
              <a:buNone/>
            </a:pPr>
            <a:r>
              <a:rPr lang="en-US" sz="3200" dirty="0"/>
              <a:t>		echo ‘wrong’;</a:t>
            </a:r>
          </a:p>
          <a:p>
            <a:pPr marL="0" indent="0">
              <a:buNone/>
            </a:pPr>
            <a:r>
              <a:rPr lang="en-US" sz="3200" dirty="0"/>
              <a:t>?&gt;</a:t>
            </a:r>
          </a:p>
        </p:txBody>
      </p:sp>
      <p:sp>
        <p:nvSpPr>
          <p:cNvPr id="4" name="Date Placeholder 3"/>
          <p:cNvSpPr>
            <a:spLocks noGrp="1"/>
          </p:cNvSpPr>
          <p:nvPr>
            <p:ph type="dt" sz="half" idx="10"/>
          </p:nvPr>
        </p:nvSpPr>
        <p:spPr/>
        <p:txBody>
          <a:bodyPr/>
          <a:lstStyle/>
          <a:p>
            <a:fld id="{4ECBC477-DE8A-42A4-A928-FCDD9E8FFBBB}"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7</a:t>
            </a:fld>
            <a:endParaRPr lang="en-US" dirty="0"/>
          </a:p>
        </p:txBody>
      </p:sp>
    </p:spTree>
    <p:extLst>
      <p:ext uri="{BB962C8B-B14F-4D97-AF65-F5344CB8AC3E}">
        <p14:creationId xmlns:p14="http://schemas.microsoft.com/office/powerpoint/2010/main" val="3653140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782637"/>
          </a:xfrm>
        </p:spPr>
        <p:txBody>
          <a:bodyPr/>
          <a:lstStyle/>
          <a:p>
            <a:r>
              <a:rPr lang="en-US" b="1" dirty="0"/>
              <a:t>    </a:t>
            </a:r>
            <a:r>
              <a:rPr lang="en-US" b="1" dirty="0">
                <a:solidFill>
                  <a:srgbClr val="00B0F0"/>
                </a:solidFill>
              </a:rPr>
              <a:t>How if…elseif…else works</a:t>
            </a:r>
          </a:p>
        </p:txBody>
      </p:sp>
      <p:sp>
        <p:nvSpPr>
          <p:cNvPr id="3" name="Content Placeholder 2"/>
          <p:cNvSpPr>
            <a:spLocks noGrp="1"/>
          </p:cNvSpPr>
          <p:nvPr>
            <p:ph idx="1"/>
          </p:nvPr>
        </p:nvSpPr>
        <p:spPr>
          <a:xfrm>
            <a:off x="1485096" y="1295400"/>
            <a:ext cx="7049303" cy="5181600"/>
          </a:xfrm>
        </p:spPr>
        <p:txBody>
          <a:bodyPr>
            <a:normAutofit fontScale="92500" lnSpcReduction="10000"/>
          </a:bodyPr>
          <a:lstStyle/>
          <a:p>
            <a:pPr marL="0" indent="0">
              <a:buNone/>
            </a:pPr>
            <a:r>
              <a:rPr lang="en-US" sz="3600" dirty="0"/>
              <a:t>&lt;?</a:t>
            </a:r>
            <a:r>
              <a:rPr lang="en-US" sz="3600" dirty="0" err="1"/>
              <a:t>php</a:t>
            </a:r>
            <a:endParaRPr lang="en-US" sz="3600" dirty="0"/>
          </a:p>
          <a:p>
            <a:pPr marL="0" indent="0">
              <a:buNone/>
            </a:pPr>
            <a:r>
              <a:rPr lang="en-US" sz="3600" dirty="0"/>
              <a:t>	$number = 12;</a:t>
            </a:r>
          </a:p>
          <a:p>
            <a:pPr marL="0" indent="0">
              <a:buNone/>
            </a:pPr>
            <a:r>
              <a:rPr lang="en-US" sz="3600" dirty="0"/>
              <a:t>	</a:t>
            </a:r>
            <a:r>
              <a:rPr lang="en-US" sz="3600" b="1" dirty="0"/>
              <a:t>if</a:t>
            </a:r>
            <a:r>
              <a:rPr lang="en-US" sz="3600" dirty="0"/>
              <a:t> </a:t>
            </a:r>
            <a:r>
              <a:rPr lang="en-US" sz="3600" b="1" dirty="0"/>
              <a:t>($number &lt; 0</a:t>
            </a:r>
            <a:r>
              <a:rPr lang="en-US" sz="3600" dirty="0"/>
              <a:t>)</a:t>
            </a:r>
          </a:p>
          <a:p>
            <a:pPr marL="0" indent="0">
              <a:buNone/>
            </a:pPr>
            <a:r>
              <a:rPr lang="en-US" sz="3600" dirty="0"/>
              <a:t>		</a:t>
            </a:r>
            <a:r>
              <a:rPr lang="en-US" sz="3600" b="1" dirty="0"/>
              <a:t>echo</a:t>
            </a:r>
            <a:r>
              <a:rPr lang="en-US" sz="3600" dirty="0"/>
              <a:t> ‘it is negative’;</a:t>
            </a:r>
          </a:p>
          <a:p>
            <a:pPr marL="0" indent="0">
              <a:buNone/>
            </a:pPr>
            <a:r>
              <a:rPr lang="en-US" sz="3600" dirty="0"/>
              <a:t>	</a:t>
            </a:r>
            <a:r>
              <a:rPr lang="en-US" sz="3600" b="1" dirty="0" err="1"/>
              <a:t>elseif</a:t>
            </a:r>
            <a:r>
              <a:rPr lang="en-US" sz="3600" dirty="0"/>
              <a:t> </a:t>
            </a:r>
            <a:r>
              <a:rPr lang="en-US" sz="3600" b="1" dirty="0"/>
              <a:t>($number == 0</a:t>
            </a:r>
            <a:r>
              <a:rPr lang="en-US" sz="3600" dirty="0"/>
              <a:t>)</a:t>
            </a:r>
          </a:p>
          <a:p>
            <a:pPr marL="0" indent="0">
              <a:buNone/>
            </a:pPr>
            <a:r>
              <a:rPr lang="en-US" sz="3600" dirty="0"/>
              <a:t>		</a:t>
            </a:r>
            <a:r>
              <a:rPr lang="en-US" sz="3600" b="1" dirty="0"/>
              <a:t>echo</a:t>
            </a:r>
            <a:r>
              <a:rPr lang="en-US" sz="3600" dirty="0"/>
              <a:t> ‘it is zero’;</a:t>
            </a:r>
          </a:p>
          <a:p>
            <a:pPr marL="0" indent="0">
              <a:buNone/>
            </a:pPr>
            <a:r>
              <a:rPr lang="en-US" sz="3600" dirty="0"/>
              <a:t>	</a:t>
            </a:r>
            <a:r>
              <a:rPr lang="en-US" sz="3600" b="1" dirty="0" err="1"/>
              <a:t>elseif</a:t>
            </a:r>
            <a:r>
              <a:rPr lang="en-US" sz="3600" dirty="0"/>
              <a:t> </a:t>
            </a:r>
            <a:r>
              <a:rPr lang="en-US" sz="3600" b="1" dirty="0"/>
              <a:t>($number &gt; 0</a:t>
            </a:r>
            <a:r>
              <a:rPr lang="en-US" sz="3600" dirty="0"/>
              <a:t>)</a:t>
            </a:r>
          </a:p>
          <a:p>
            <a:pPr marL="0" indent="0">
              <a:buNone/>
            </a:pPr>
            <a:r>
              <a:rPr lang="en-US" sz="3600" dirty="0"/>
              <a:t>		</a:t>
            </a:r>
            <a:r>
              <a:rPr lang="en-US" sz="3600" b="1" dirty="0"/>
              <a:t>echo</a:t>
            </a:r>
            <a:r>
              <a:rPr lang="en-US" sz="3600" dirty="0"/>
              <a:t> ‘yes it is’;</a:t>
            </a:r>
          </a:p>
          <a:p>
            <a:pPr marL="0" indent="0">
              <a:buNone/>
            </a:pPr>
            <a:r>
              <a:rPr lang="en-US" sz="3600" dirty="0"/>
              <a:t>?&gt;</a:t>
            </a:r>
          </a:p>
        </p:txBody>
      </p:sp>
      <p:sp>
        <p:nvSpPr>
          <p:cNvPr id="4" name="Date Placeholder 3"/>
          <p:cNvSpPr>
            <a:spLocks noGrp="1"/>
          </p:cNvSpPr>
          <p:nvPr>
            <p:ph type="dt" sz="half" idx="10"/>
          </p:nvPr>
        </p:nvSpPr>
        <p:spPr/>
        <p:txBody>
          <a:bodyPr/>
          <a:lstStyle/>
          <a:p>
            <a:fld id="{B43D3B4B-8F42-4BA3-BBB8-5D802A3BBB3D}"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8</a:t>
            </a:fld>
            <a:endParaRPr lang="en-US"/>
          </a:p>
        </p:txBody>
      </p:sp>
    </p:spTree>
    <p:extLst>
      <p:ext uri="{BB962C8B-B14F-4D97-AF65-F5344CB8AC3E}">
        <p14:creationId xmlns:p14="http://schemas.microsoft.com/office/powerpoint/2010/main" val="3022482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477837"/>
          </a:xfrm>
        </p:spPr>
        <p:txBody>
          <a:bodyPr>
            <a:normAutofit fontScale="90000"/>
          </a:bodyPr>
          <a:lstStyle/>
          <a:p>
            <a:r>
              <a:rPr lang="en-US" b="1" dirty="0"/>
              <a:t>        </a:t>
            </a:r>
            <a:r>
              <a:rPr lang="en-US" b="1" dirty="0">
                <a:solidFill>
                  <a:srgbClr val="00B0F0"/>
                </a:solidFill>
              </a:rPr>
              <a:t>How switch works</a:t>
            </a:r>
          </a:p>
        </p:txBody>
      </p:sp>
      <p:sp>
        <p:nvSpPr>
          <p:cNvPr id="3" name="Content Placeholder 2"/>
          <p:cNvSpPr>
            <a:spLocks noGrp="1"/>
          </p:cNvSpPr>
          <p:nvPr>
            <p:ph idx="1"/>
          </p:nvPr>
        </p:nvSpPr>
        <p:spPr>
          <a:xfrm>
            <a:off x="1524000" y="1152908"/>
            <a:ext cx="7391400" cy="4714492"/>
          </a:xfrm>
        </p:spPr>
        <p:txBody>
          <a:bodyPr>
            <a:normAutofit fontScale="40000" lnSpcReduction="20000"/>
          </a:bodyPr>
          <a:lstStyle/>
          <a:p>
            <a:pPr marL="0" indent="0">
              <a:buNone/>
            </a:pPr>
            <a:r>
              <a:rPr lang="en-US" sz="5500" b="1" dirty="0"/>
              <a:t>&lt;?</a:t>
            </a:r>
            <a:r>
              <a:rPr lang="en-US" sz="5500" b="1" dirty="0" err="1"/>
              <a:t>php</a:t>
            </a:r>
            <a:endParaRPr lang="en-US" sz="5500" dirty="0"/>
          </a:p>
          <a:p>
            <a:pPr marL="0" indent="0">
              <a:buNone/>
            </a:pPr>
            <a:r>
              <a:rPr lang="en-US" sz="5500" b="1" dirty="0"/>
              <a:t>$d=date("D");</a:t>
            </a:r>
            <a:endParaRPr lang="en-US" sz="5500" dirty="0"/>
          </a:p>
          <a:p>
            <a:pPr marL="0" indent="0">
              <a:buNone/>
            </a:pPr>
            <a:r>
              <a:rPr lang="en-US" sz="5500" b="1" dirty="0"/>
              <a:t>switch ($d)</a:t>
            </a:r>
            <a:endParaRPr lang="en-US" sz="5500" dirty="0"/>
          </a:p>
          <a:p>
            <a:pPr marL="0" indent="0">
              <a:buNone/>
            </a:pPr>
            <a:r>
              <a:rPr lang="en-US" sz="5500" b="1" dirty="0"/>
              <a:t>{</a:t>
            </a:r>
            <a:endParaRPr lang="en-US" sz="5500" dirty="0"/>
          </a:p>
          <a:p>
            <a:pPr marL="0" indent="0">
              <a:buNone/>
            </a:pPr>
            <a:r>
              <a:rPr lang="en-US" sz="5500" b="1" dirty="0"/>
              <a:t>case "Mon":</a:t>
            </a:r>
            <a:endParaRPr lang="en-US" sz="5500" dirty="0"/>
          </a:p>
          <a:p>
            <a:pPr marL="0" indent="0">
              <a:buNone/>
            </a:pPr>
            <a:r>
              <a:rPr lang="en-US" sz="5500" b="1" dirty="0"/>
              <a:t>  	echo "Today is Monday"; break;</a:t>
            </a:r>
            <a:endParaRPr lang="en-US" sz="5500" dirty="0"/>
          </a:p>
          <a:p>
            <a:pPr marL="0" indent="0">
              <a:buNone/>
            </a:pPr>
            <a:r>
              <a:rPr lang="en-US" sz="5500" b="1" dirty="0"/>
              <a:t>case “Sat":</a:t>
            </a:r>
            <a:endParaRPr lang="en-US" sz="5500" dirty="0"/>
          </a:p>
          <a:p>
            <a:pPr marL="0" indent="0">
              <a:buNone/>
            </a:pPr>
            <a:r>
              <a:rPr lang="en-US" sz="5500" b="1" dirty="0"/>
              <a:t>           echo "Today is Tuesday"; break;</a:t>
            </a:r>
            <a:endParaRPr lang="en-US" sz="5500" dirty="0"/>
          </a:p>
          <a:p>
            <a:pPr marL="0" indent="0">
              <a:buNone/>
            </a:pPr>
            <a:r>
              <a:rPr lang="en-US" sz="5500" b="1" dirty="0"/>
              <a:t>default:</a:t>
            </a:r>
            <a:endParaRPr lang="en-US" sz="5500" dirty="0"/>
          </a:p>
          <a:p>
            <a:pPr marL="0" indent="0">
              <a:buNone/>
            </a:pPr>
            <a:r>
              <a:rPr lang="en-US" sz="5500" b="1" dirty="0"/>
              <a:t>	echo "Wonder which day is this ?";</a:t>
            </a:r>
            <a:endParaRPr lang="en-US" sz="5500" dirty="0"/>
          </a:p>
          <a:p>
            <a:pPr marL="0" indent="0">
              <a:buNone/>
            </a:pPr>
            <a:r>
              <a:rPr lang="en-US" sz="5500" b="1" dirty="0"/>
              <a:t>}</a:t>
            </a:r>
            <a:endParaRPr lang="en-US" sz="5500" dirty="0"/>
          </a:p>
          <a:p>
            <a:pPr marL="0" indent="0">
              <a:buNone/>
            </a:pPr>
            <a:r>
              <a:rPr lang="en-US" sz="5500" b="1" dirty="0"/>
              <a:t>?&gt;</a:t>
            </a:r>
            <a:endParaRPr lang="en-US" sz="5500" dirty="0"/>
          </a:p>
          <a:p>
            <a:pPr marL="0" indent="0">
              <a:buNone/>
            </a:pPr>
            <a:endParaRPr lang="en-US" sz="3600" dirty="0"/>
          </a:p>
        </p:txBody>
      </p:sp>
      <p:sp>
        <p:nvSpPr>
          <p:cNvPr id="4" name="Date Placeholder 3"/>
          <p:cNvSpPr>
            <a:spLocks noGrp="1"/>
          </p:cNvSpPr>
          <p:nvPr>
            <p:ph type="dt" sz="half" idx="10"/>
          </p:nvPr>
        </p:nvSpPr>
        <p:spPr/>
        <p:txBody>
          <a:bodyPr/>
          <a:lstStyle/>
          <a:p>
            <a:fld id="{2A2BF14A-8084-44CF-9BCE-64F606B13228}"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9</a:t>
            </a:fld>
            <a:endParaRPr lang="en-US"/>
          </a:p>
        </p:txBody>
      </p:sp>
    </p:spTree>
    <p:extLst>
      <p:ext uri="{BB962C8B-B14F-4D97-AF65-F5344CB8AC3E}">
        <p14:creationId xmlns:p14="http://schemas.microsoft.com/office/powerpoint/2010/main" val="425379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962" y="37621"/>
            <a:ext cx="8041440" cy="630237"/>
          </a:xfrm>
        </p:spPr>
        <p:txBody>
          <a:bodyPr>
            <a:normAutofit fontScale="90000"/>
          </a:bodyPr>
          <a:lstStyle/>
          <a:p>
            <a:r>
              <a:rPr lang="en-US" b="1" dirty="0">
                <a:solidFill>
                  <a:srgbClr val="00B0F0"/>
                </a:solidFill>
              </a:rPr>
              <a:t>How switch works</a:t>
            </a:r>
            <a:endParaRPr lang="en-US" dirty="0">
              <a:solidFill>
                <a:srgbClr val="00B0F0"/>
              </a:solidFill>
            </a:endParaRPr>
          </a:p>
        </p:txBody>
      </p:sp>
      <p:sp>
        <p:nvSpPr>
          <p:cNvPr id="3" name="Content Placeholder 2"/>
          <p:cNvSpPr>
            <a:spLocks noGrp="1"/>
          </p:cNvSpPr>
          <p:nvPr>
            <p:ph idx="1"/>
          </p:nvPr>
        </p:nvSpPr>
        <p:spPr>
          <a:xfrm>
            <a:off x="1485098" y="667859"/>
            <a:ext cx="6820702" cy="5580542"/>
          </a:xfrm>
        </p:spPr>
        <p:txBody>
          <a:bodyPr>
            <a:noAutofit/>
          </a:bodyPr>
          <a:lstStyle/>
          <a:p>
            <a:pPr marL="0" indent="0">
              <a:buNone/>
            </a:pPr>
            <a:r>
              <a:rPr lang="en-US" sz="1800" dirty="0">
                <a:latin typeface="Times New Roman" pitchFamily="18" charset="0"/>
                <a:cs typeface="Times New Roman" pitchFamily="18" charset="0"/>
              </a:rPr>
              <a:t>$</a:t>
            </a:r>
            <a:r>
              <a:rPr lang="en-US" sz="1800" dirty="0" err="1">
                <a:latin typeface="Times New Roman" pitchFamily="18" charset="0"/>
                <a:cs typeface="Times New Roman" pitchFamily="18" charset="0"/>
              </a:rPr>
              <a:t>num</a:t>
            </a:r>
            <a:r>
              <a:rPr lang="en-US" sz="1800" dirty="0">
                <a:latin typeface="Times New Roman" pitchFamily="18" charset="0"/>
                <a:cs typeface="Times New Roman" pitchFamily="18" charset="0"/>
              </a:rPr>
              <a:t>=20;      </a:t>
            </a:r>
          </a:p>
          <a:p>
            <a:pPr marL="0" indent="0">
              <a:buNone/>
            </a:pPr>
            <a:r>
              <a:rPr lang="en-US" sz="1800" dirty="0">
                <a:latin typeface="Times New Roman" pitchFamily="18" charset="0"/>
                <a:cs typeface="Times New Roman" pitchFamily="18" charset="0"/>
              </a:rPr>
              <a:t>switch($</a:t>
            </a:r>
            <a:r>
              <a:rPr lang="en-US" sz="1800" dirty="0" err="1">
                <a:latin typeface="Times New Roman" pitchFamily="18" charset="0"/>
                <a:cs typeface="Times New Roman" pitchFamily="18" charset="0"/>
              </a:rPr>
              <a:t>num</a:t>
            </a:r>
            <a:r>
              <a:rPr lang="en-US" sz="1800" dirty="0">
                <a:latin typeface="Times New Roman" pitchFamily="18" charset="0"/>
                <a:cs typeface="Times New Roman" pitchFamily="18" charset="0"/>
              </a:rPr>
              <a:t>)</a:t>
            </a:r>
          </a:p>
          <a:p>
            <a:pPr marL="0" indent="0">
              <a:buNone/>
            </a:pPr>
            <a:r>
              <a:rPr lang="en-US" sz="1800" dirty="0">
                <a:latin typeface="Times New Roman" pitchFamily="18" charset="0"/>
                <a:cs typeface="Times New Roman" pitchFamily="18" charset="0"/>
              </a:rPr>
              <a:t>{      </a:t>
            </a:r>
          </a:p>
          <a:p>
            <a:pPr marL="0" indent="0">
              <a:buNone/>
            </a:pPr>
            <a:r>
              <a:rPr lang="en-US" sz="1800" dirty="0">
                <a:latin typeface="Times New Roman" pitchFamily="18" charset="0"/>
                <a:cs typeface="Times New Roman" pitchFamily="18" charset="0"/>
              </a:rPr>
              <a:t>case 10:      </a:t>
            </a:r>
          </a:p>
          <a:p>
            <a:pPr marL="0" indent="0">
              <a:buNone/>
            </a:pPr>
            <a:r>
              <a:rPr lang="en-US" sz="1800" dirty="0">
                <a:latin typeface="Times New Roman" pitchFamily="18" charset="0"/>
                <a:cs typeface="Times New Roman" pitchFamily="18" charset="0"/>
              </a:rPr>
              <a:t>echo("number is equals to 10");      </a:t>
            </a:r>
          </a:p>
          <a:p>
            <a:pPr marL="0" indent="0">
              <a:buNone/>
            </a:pPr>
            <a:r>
              <a:rPr lang="en-US" sz="1800" dirty="0">
                <a:latin typeface="Times New Roman" pitchFamily="18" charset="0"/>
                <a:cs typeface="Times New Roman" pitchFamily="18" charset="0"/>
              </a:rPr>
              <a:t>break;      </a:t>
            </a:r>
          </a:p>
          <a:p>
            <a:pPr marL="0" indent="0">
              <a:buNone/>
            </a:pPr>
            <a:r>
              <a:rPr lang="en-US" sz="1800" dirty="0">
                <a:latin typeface="Times New Roman" pitchFamily="18" charset="0"/>
                <a:cs typeface="Times New Roman" pitchFamily="18" charset="0"/>
              </a:rPr>
              <a:t>case 20:      </a:t>
            </a:r>
          </a:p>
          <a:p>
            <a:pPr marL="0" indent="0">
              <a:buNone/>
            </a:pPr>
            <a:r>
              <a:rPr lang="en-US" sz="1800" dirty="0">
                <a:latin typeface="Times New Roman" pitchFamily="18" charset="0"/>
                <a:cs typeface="Times New Roman" pitchFamily="18" charset="0"/>
              </a:rPr>
              <a:t>echo("number is equal to 20");      </a:t>
            </a:r>
          </a:p>
          <a:p>
            <a:pPr marL="0" indent="0">
              <a:buNone/>
            </a:pPr>
            <a:r>
              <a:rPr lang="en-US" sz="1800" dirty="0">
                <a:latin typeface="Times New Roman" pitchFamily="18" charset="0"/>
                <a:cs typeface="Times New Roman" pitchFamily="18" charset="0"/>
              </a:rPr>
              <a:t>break;      </a:t>
            </a:r>
          </a:p>
          <a:p>
            <a:pPr marL="0" indent="0">
              <a:buNone/>
            </a:pPr>
            <a:r>
              <a:rPr lang="en-US" sz="1800" dirty="0">
                <a:latin typeface="Times New Roman" pitchFamily="18" charset="0"/>
                <a:cs typeface="Times New Roman" pitchFamily="18" charset="0"/>
              </a:rPr>
              <a:t>case 30:      </a:t>
            </a:r>
          </a:p>
          <a:p>
            <a:pPr marL="0" indent="0">
              <a:buNone/>
            </a:pPr>
            <a:r>
              <a:rPr lang="en-US" sz="1800" dirty="0">
                <a:latin typeface="Times New Roman" pitchFamily="18" charset="0"/>
                <a:cs typeface="Times New Roman" pitchFamily="18" charset="0"/>
              </a:rPr>
              <a:t>echo("number is equal to 30");      </a:t>
            </a:r>
          </a:p>
          <a:p>
            <a:pPr marL="0" indent="0">
              <a:buNone/>
            </a:pPr>
            <a:r>
              <a:rPr lang="en-US" sz="1800" dirty="0">
                <a:latin typeface="Times New Roman" pitchFamily="18" charset="0"/>
                <a:cs typeface="Times New Roman" pitchFamily="18" charset="0"/>
              </a:rPr>
              <a:t>break;      </a:t>
            </a:r>
          </a:p>
          <a:p>
            <a:pPr marL="0" indent="0">
              <a:buNone/>
            </a:pPr>
            <a:r>
              <a:rPr lang="en-US" sz="1800" dirty="0">
                <a:latin typeface="Times New Roman" pitchFamily="18" charset="0"/>
                <a:cs typeface="Times New Roman" pitchFamily="18" charset="0"/>
              </a:rPr>
              <a:t>default:      </a:t>
            </a:r>
          </a:p>
          <a:p>
            <a:pPr marL="0" indent="0">
              <a:buNone/>
            </a:pPr>
            <a:r>
              <a:rPr lang="en-US" sz="1800" dirty="0">
                <a:latin typeface="Times New Roman" pitchFamily="18" charset="0"/>
                <a:cs typeface="Times New Roman" pitchFamily="18" charset="0"/>
              </a:rPr>
              <a:t>echo("number is not equal to 10, 20 or 30"); </a:t>
            </a:r>
          </a:p>
          <a:p>
            <a:pPr marL="0" indent="0">
              <a:buNone/>
            </a:pPr>
            <a:r>
              <a:rPr lang="en-US" sz="1800" dirty="0">
                <a:latin typeface="Times New Roman" pitchFamily="18" charset="0"/>
                <a:cs typeface="Times New Roman" pitchFamily="18" charset="0"/>
              </a:rPr>
              <a:t>} </a:t>
            </a:r>
          </a:p>
        </p:txBody>
      </p:sp>
      <p:sp>
        <p:nvSpPr>
          <p:cNvPr id="4" name="Date Placeholder 3"/>
          <p:cNvSpPr>
            <a:spLocks noGrp="1"/>
          </p:cNvSpPr>
          <p:nvPr>
            <p:ph type="dt" sz="half" idx="10"/>
          </p:nvPr>
        </p:nvSpPr>
        <p:spPr/>
        <p:txBody>
          <a:bodyPr/>
          <a:lstStyle/>
          <a:p>
            <a:fld id="{CD58E598-ECA0-487C-8ED7-56A6E748C0ED}" type="datetime1">
              <a:rPr lang="en-US" smtClean="0"/>
              <a:t>2/28/2024</a:t>
            </a:fld>
            <a:endParaRPr lang="en-US"/>
          </a:p>
        </p:txBody>
      </p:sp>
      <p:sp>
        <p:nvSpPr>
          <p:cNvPr id="6" name="Footer Placeholder 5"/>
          <p:cNvSpPr>
            <a:spLocks noGrp="1"/>
          </p:cNvSpPr>
          <p:nvPr>
            <p:ph type="ftr" sz="quarter" idx="11"/>
          </p:nvPr>
        </p:nvSpPr>
        <p:spPr>
          <a:xfrm>
            <a:off x="5105399" y="6135809"/>
            <a:ext cx="2553503" cy="365125"/>
          </a:xfrm>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10</a:t>
            </a:fld>
            <a:endParaRPr lang="en-US"/>
          </a:p>
        </p:txBody>
      </p:sp>
    </p:spTree>
    <p:extLst>
      <p:ext uri="{BB962C8B-B14F-4D97-AF65-F5344CB8AC3E}">
        <p14:creationId xmlns:p14="http://schemas.microsoft.com/office/powerpoint/2010/main" val="3776935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Exercise </a:t>
            </a:r>
          </a:p>
        </p:txBody>
      </p:sp>
      <p:sp>
        <p:nvSpPr>
          <p:cNvPr id="3" name="Content Placeholder 2"/>
          <p:cNvSpPr>
            <a:spLocks noGrp="1"/>
          </p:cNvSpPr>
          <p:nvPr>
            <p:ph idx="1"/>
          </p:nvPr>
        </p:nvSpPr>
        <p:spPr>
          <a:xfrm>
            <a:off x="1096207" y="1600200"/>
            <a:ext cx="7057193" cy="3657600"/>
          </a:xfrm>
        </p:spPr>
        <p:txBody>
          <a:bodyPr>
            <a:normAutofit/>
          </a:bodyPr>
          <a:lstStyle/>
          <a:p>
            <a:pPr marL="0" indent="0" algn="just">
              <a:buNone/>
            </a:pPr>
            <a:r>
              <a:rPr lang="en-US" sz="5400" dirty="0"/>
              <a:t>convert the previous into </a:t>
            </a:r>
            <a:r>
              <a:rPr lang="en-US" sz="5400" dirty="0">
                <a:solidFill>
                  <a:srgbClr val="FF0000"/>
                </a:solidFill>
              </a:rPr>
              <a:t>if…elseif…else  </a:t>
            </a:r>
            <a:r>
              <a:rPr lang="en-US" sz="5400" dirty="0"/>
              <a:t>code!</a:t>
            </a:r>
          </a:p>
        </p:txBody>
      </p:sp>
      <p:sp>
        <p:nvSpPr>
          <p:cNvPr id="4" name="Date Placeholder 3"/>
          <p:cNvSpPr>
            <a:spLocks noGrp="1"/>
          </p:cNvSpPr>
          <p:nvPr>
            <p:ph type="dt" sz="half" idx="10"/>
          </p:nvPr>
        </p:nvSpPr>
        <p:spPr/>
        <p:txBody>
          <a:bodyPr/>
          <a:lstStyle/>
          <a:p>
            <a:fld id="{107A249D-B58A-4C5E-85EA-C7786773BC86}"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11</a:t>
            </a:fld>
            <a:endParaRPr lang="en-US"/>
          </a:p>
        </p:txBody>
      </p:sp>
    </p:spTree>
    <p:extLst>
      <p:ext uri="{BB962C8B-B14F-4D97-AF65-F5344CB8AC3E}">
        <p14:creationId xmlns:p14="http://schemas.microsoft.com/office/powerpoint/2010/main" val="281305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36563"/>
            <a:ext cx="6763920" cy="782637"/>
          </a:xfrm>
        </p:spPr>
        <p:txBody>
          <a:bodyPr/>
          <a:lstStyle/>
          <a:p>
            <a:r>
              <a:rPr lang="en-US" b="1" dirty="0">
                <a:solidFill>
                  <a:srgbClr val="00B0F0"/>
                </a:solidFill>
              </a:rPr>
              <a:t>PHP Loop Types</a:t>
            </a:r>
          </a:p>
        </p:txBody>
      </p:sp>
      <p:sp>
        <p:nvSpPr>
          <p:cNvPr id="3" name="Content Placeholder 2"/>
          <p:cNvSpPr>
            <a:spLocks noGrp="1"/>
          </p:cNvSpPr>
          <p:nvPr>
            <p:ph idx="1"/>
          </p:nvPr>
        </p:nvSpPr>
        <p:spPr>
          <a:xfrm>
            <a:off x="838200" y="1600200"/>
            <a:ext cx="7467600" cy="3951337"/>
          </a:xfrm>
        </p:spPr>
        <p:txBody>
          <a:bodyPr>
            <a:normAutofit/>
          </a:bodyPr>
          <a:lstStyle/>
          <a:p>
            <a:pPr>
              <a:buFont typeface="Wingdings" pitchFamily="2" charset="2"/>
              <a:buChar char="Ø"/>
            </a:pPr>
            <a:r>
              <a:rPr lang="en-US" sz="4800" b="1" dirty="0"/>
              <a:t>for loop</a:t>
            </a:r>
          </a:p>
          <a:p>
            <a:pPr>
              <a:buFont typeface="Wingdings" pitchFamily="2" charset="2"/>
              <a:buChar char="Ø"/>
            </a:pPr>
            <a:r>
              <a:rPr lang="en-US" sz="4800" b="1" dirty="0"/>
              <a:t>while loop</a:t>
            </a:r>
          </a:p>
          <a:p>
            <a:pPr>
              <a:buFont typeface="Wingdings" pitchFamily="2" charset="2"/>
              <a:buChar char="Ø"/>
            </a:pPr>
            <a:r>
              <a:rPr lang="en-US" sz="4800" b="1" dirty="0"/>
              <a:t>do…while loop</a:t>
            </a:r>
          </a:p>
          <a:p>
            <a:pPr>
              <a:buFont typeface="Wingdings" pitchFamily="2" charset="2"/>
              <a:buChar char="Ø"/>
            </a:pPr>
            <a:r>
              <a:rPr lang="en-US" sz="4800" b="1" dirty="0"/>
              <a:t>foreach loop</a:t>
            </a:r>
          </a:p>
          <a:p>
            <a:pPr marL="0" indent="0">
              <a:buNone/>
            </a:pPr>
            <a:endParaRPr lang="en-US" sz="4000" dirty="0"/>
          </a:p>
        </p:txBody>
      </p:sp>
      <p:sp>
        <p:nvSpPr>
          <p:cNvPr id="4" name="Date Placeholder 3"/>
          <p:cNvSpPr>
            <a:spLocks noGrp="1"/>
          </p:cNvSpPr>
          <p:nvPr>
            <p:ph type="dt" sz="half" idx="10"/>
          </p:nvPr>
        </p:nvSpPr>
        <p:spPr/>
        <p:txBody>
          <a:bodyPr/>
          <a:lstStyle/>
          <a:p>
            <a:fld id="{C599D94E-9901-4305-8689-EF3DC5CCDABD}" type="datetime1">
              <a:rPr lang="en-US" smtClean="0"/>
              <a:t>2/28/2024</a:t>
            </a:fld>
            <a:endParaRPr lang="en-US"/>
          </a:p>
        </p:txBody>
      </p:sp>
      <p:sp>
        <p:nvSpPr>
          <p:cNvPr id="6" name="Footer Placeholder 5"/>
          <p:cNvSpPr>
            <a:spLocks noGrp="1"/>
          </p:cNvSpPr>
          <p:nvPr>
            <p:ph type="ftr" sz="quarter" idx="11"/>
          </p:nvPr>
        </p:nvSpPr>
        <p:spPr/>
        <p:txBody>
          <a:bodyPr/>
          <a:lstStyle/>
          <a:p>
            <a:r>
              <a:rPr lang="en-US" sz="900" b="1">
                <a:solidFill>
                  <a:srgbClr val="00B0F0"/>
                </a:solidFill>
                <a:latin typeface="Verdana" panose="020B0604030504040204" pitchFamily="34" charset="0"/>
                <a:ea typeface="Verdana" panose="020B0604030504040204" pitchFamily="34" charset="0"/>
                <a:cs typeface="Times New Roman" panose="02020603050405020304" pitchFamily="18" charset="0"/>
              </a:rPr>
              <a:t>compiled by: IT dep't staffs</a:t>
            </a:r>
            <a:endParaRPr lang="en-US" sz="900" b="1" dirty="0">
              <a:solidFill>
                <a:srgbClr val="00B0F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164FE31-0E14-4B83-80DC-64DA42BE9651}" type="slidenum">
              <a:rPr lang="en-US" smtClean="0"/>
              <a:pPr/>
              <a:t>12</a:t>
            </a:fld>
            <a:endParaRPr lang="en-US" dirty="0"/>
          </a:p>
        </p:txBody>
      </p:sp>
    </p:spTree>
    <p:extLst>
      <p:ext uri="{BB962C8B-B14F-4D97-AF65-F5344CB8AC3E}">
        <p14:creationId xmlns:p14="http://schemas.microsoft.com/office/powerpoint/2010/main" val="3477254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1"/>
            <a:ext cx="8041440" cy="533400"/>
          </a:xfrm>
        </p:spPr>
        <p:txBody>
          <a:bodyPr>
            <a:normAutofit fontScale="90000"/>
          </a:bodyPr>
          <a:lstStyle/>
          <a:p>
            <a:r>
              <a:rPr lang="en-US" b="1" dirty="0"/>
              <a:t>     </a:t>
            </a:r>
            <a:r>
              <a:rPr lang="en-US" b="1" dirty="0">
                <a:solidFill>
                  <a:srgbClr val="00B0F0"/>
                </a:solidFill>
              </a:rPr>
              <a:t>for loop</a:t>
            </a:r>
          </a:p>
        </p:txBody>
      </p:sp>
      <p:sp>
        <p:nvSpPr>
          <p:cNvPr id="3" name="Content Placeholder 2"/>
          <p:cNvSpPr>
            <a:spLocks noGrp="1"/>
          </p:cNvSpPr>
          <p:nvPr>
            <p:ph idx="1"/>
          </p:nvPr>
        </p:nvSpPr>
        <p:spPr>
          <a:xfrm>
            <a:off x="228600" y="1066800"/>
            <a:ext cx="8915400" cy="5562600"/>
          </a:xfrm>
        </p:spPr>
        <p:txBody>
          <a:bodyPr>
            <a:normAutofit lnSpcReduction="10000"/>
          </a:bodyPr>
          <a:lstStyle/>
          <a:p>
            <a:pPr>
              <a:buFont typeface="Wingdings" pitchFamily="2" charset="2"/>
              <a:buChar char="Ø"/>
            </a:pPr>
            <a:r>
              <a:rPr lang="en-US" sz="4000" dirty="0"/>
              <a:t>loops through a block of code a </a:t>
            </a:r>
            <a:r>
              <a:rPr lang="en-US" sz="4000" b="1" dirty="0"/>
              <a:t>specified number of times.</a:t>
            </a:r>
          </a:p>
          <a:p>
            <a:pPr marL="0" indent="0">
              <a:buNone/>
            </a:pPr>
            <a:r>
              <a:rPr lang="en-US" sz="4000" b="1" dirty="0"/>
              <a:t>Syntax</a:t>
            </a:r>
            <a:endParaRPr lang="en-US" sz="4000" dirty="0"/>
          </a:p>
          <a:p>
            <a:pPr marL="0" indent="0">
              <a:buNone/>
            </a:pPr>
            <a:r>
              <a:rPr lang="en-US" sz="4000" b="1" dirty="0"/>
              <a:t>for (initialization; condition; increment[decrement])</a:t>
            </a:r>
          </a:p>
          <a:p>
            <a:pPr marL="0" indent="0">
              <a:buNone/>
            </a:pPr>
            <a:r>
              <a:rPr lang="en-US" sz="4000" dirty="0"/>
              <a:t>{</a:t>
            </a:r>
          </a:p>
          <a:p>
            <a:pPr marL="0" indent="0">
              <a:buNone/>
            </a:pPr>
            <a:r>
              <a:rPr lang="en-US" sz="4000" dirty="0"/>
              <a:t>  		code to be executed;</a:t>
            </a:r>
          </a:p>
          <a:p>
            <a:pPr marL="0" indent="0">
              <a:buNone/>
            </a:pPr>
            <a:r>
              <a:rPr lang="en-US" sz="4000" dirty="0"/>
              <a:t>}</a:t>
            </a:r>
          </a:p>
          <a:p>
            <a:pPr>
              <a:buFont typeface="Wingdings" pitchFamily="2" charset="2"/>
              <a:buChar char="Ø"/>
            </a:pPr>
            <a:endParaRPr lang="en-US" sz="4000" b="1" dirty="0"/>
          </a:p>
        </p:txBody>
      </p:sp>
      <p:sp>
        <p:nvSpPr>
          <p:cNvPr id="4" name="Date Placeholder 3"/>
          <p:cNvSpPr>
            <a:spLocks noGrp="1"/>
          </p:cNvSpPr>
          <p:nvPr>
            <p:ph type="dt" sz="half" idx="10"/>
          </p:nvPr>
        </p:nvSpPr>
        <p:spPr/>
        <p:txBody>
          <a:bodyPr/>
          <a:lstStyle/>
          <a:p>
            <a:fld id="{3DDE9655-A8EC-4272-A42F-93333288EA3B}"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13</a:t>
            </a:fld>
            <a:endParaRPr lang="en-US"/>
          </a:p>
        </p:txBody>
      </p:sp>
    </p:spTree>
    <p:extLst>
      <p:ext uri="{BB962C8B-B14F-4D97-AF65-F5344CB8AC3E}">
        <p14:creationId xmlns:p14="http://schemas.microsoft.com/office/powerpoint/2010/main" val="917604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477837"/>
          </a:xfrm>
        </p:spPr>
        <p:txBody>
          <a:bodyPr>
            <a:normAutofit fontScale="90000"/>
          </a:bodyPr>
          <a:lstStyle/>
          <a:p>
            <a:r>
              <a:rPr lang="en-US" b="1" dirty="0"/>
              <a:t>      </a:t>
            </a:r>
            <a:r>
              <a:rPr lang="en-US" b="1" dirty="0">
                <a:solidFill>
                  <a:srgbClr val="00B0F0"/>
                </a:solidFill>
              </a:rPr>
              <a:t>How it works</a:t>
            </a:r>
          </a:p>
        </p:txBody>
      </p:sp>
      <p:sp>
        <p:nvSpPr>
          <p:cNvPr id="3" name="Content Placeholder 2"/>
          <p:cNvSpPr>
            <a:spLocks noGrp="1"/>
          </p:cNvSpPr>
          <p:nvPr>
            <p:ph idx="1"/>
          </p:nvPr>
        </p:nvSpPr>
        <p:spPr>
          <a:xfrm>
            <a:off x="1295400" y="1152908"/>
            <a:ext cx="6934200" cy="5476492"/>
          </a:xfrm>
        </p:spPr>
        <p:txBody>
          <a:bodyPr>
            <a:normAutofit lnSpcReduction="10000"/>
          </a:bodyPr>
          <a:lstStyle/>
          <a:p>
            <a:pPr marL="0" indent="0">
              <a:buNone/>
            </a:pPr>
            <a:r>
              <a:rPr lang="en-US" sz="3600" b="1" dirty="0"/>
              <a:t>$a = 0;</a:t>
            </a:r>
            <a:endParaRPr lang="en-US" sz="3600" dirty="0"/>
          </a:p>
          <a:p>
            <a:pPr marL="0" indent="0">
              <a:buNone/>
            </a:pPr>
            <a:r>
              <a:rPr lang="en-US" sz="3600" b="1" dirty="0"/>
              <a:t>$b = 0;</a:t>
            </a:r>
            <a:endParaRPr lang="en-US" sz="3600" dirty="0"/>
          </a:p>
          <a:p>
            <a:pPr marL="0" indent="0">
              <a:buNone/>
            </a:pPr>
            <a:r>
              <a:rPr lang="en-US" sz="3600" b="1" dirty="0"/>
              <a:t>for( $i=0; $i&lt;5; $i++ )</a:t>
            </a:r>
            <a:endParaRPr lang="en-US" sz="3600" dirty="0"/>
          </a:p>
          <a:p>
            <a:pPr marL="0" indent="0">
              <a:buNone/>
            </a:pPr>
            <a:r>
              <a:rPr lang="en-US" sz="3600" b="1" dirty="0"/>
              <a:t>{</a:t>
            </a:r>
            <a:endParaRPr lang="en-US" sz="3600" dirty="0"/>
          </a:p>
          <a:p>
            <a:pPr marL="0" indent="0">
              <a:buNone/>
            </a:pPr>
            <a:r>
              <a:rPr lang="en-US" sz="3600" b="1" dirty="0"/>
              <a:t>    		$a += 10;</a:t>
            </a:r>
            <a:endParaRPr lang="en-US" sz="3600" dirty="0"/>
          </a:p>
          <a:p>
            <a:pPr marL="0" indent="0">
              <a:buNone/>
            </a:pPr>
            <a:r>
              <a:rPr lang="en-US" sz="3600" b="1" dirty="0"/>
              <a:t>    		$b += 5;</a:t>
            </a:r>
            <a:endParaRPr lang="en-US" sz="3600" dirty="0"/>
          </a:p>
          <a:p>
            <a:pPr marL="0" indent="0">
              <a:buNone/>
            </a:pPr>
            <a:r>
              <a:rPr lang="en-US" sz="3600" b="1" dirty="0"/>
              <a:t>}</a:t>
            </a:r>
            <a:endParaRPr lang="en-US" sz="3600" dirty="0"/>
          </a:p>
          <a:p>
            <a:pPr marL="0" indent="0">
              <a:buNone/>
            </a:pPr>
            <a:r>
              <a:rPr lang="en-US" sz="3600" b="1" dirty="0"/>
              <a:t>echo ("At the end of the loop a=$a and b=$b" );</a:t>
            </a:r>
            <a:endParaRPr lang="en-US" sz="3600" dirty="0"/>
          </a:p>
          <a:p>
            <a:pPr marL="0" indent="0">
              <a:buNone/>
            </a:pPr>
            <a:endParaRPr lang="en-US" sz="3600" dirty="0"/>
          </a:p>
        </p:txBody>
      </p:sp>
      <p:sp>
        <p:nvSpPr>
          <p:cNvPr id="4" name="Date Placeholder 3"/>
          <p:cNvSpPr>
            <a:spLocks noGrp="1"/>
          </p:cNvSpPr>
          <p:nvPr>
            <p:ph type="dt" sz="half" idx="10"/>
          </p:nvPr>
        </p:nvSpPr>
        <p:spPr/>
        <p:txBody>
          <a:bodyPr/>
          <a:lstStyle/>
          <a:p>
            <a:fld id="{D1802553-C09D-4648-B3CA-BDF259B72038}"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14</a:t>
            </a:fld>
            <a:endParaRPr lang="en-US"/>
          </a:p>
        </p:txBody>
      </p:sp>
    </p:spTree>
    <p:extLst>
      <p:ext uri="{BB962C8B-B14F-4D97-AF65-F5344CB8AC3E}">
        <p14:creationId xmlns:p14="http://schemas.microsoft.com/office/powerpoint/2010/main" val="3913178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823690"/>
          </a:xfrm>
        </p:spPr>
        <p:txBody>
          <a:bodyPr/>
          <a:lstStyle/>
          <a:p>
            <a:r>
              <a:rPr lang="en-US" b="1" dirty="0">
                <a:solidFill>
                  <a:srgbClr val="00B0F0"/>
                </a:solidFill>
              </a:rPr>
              <a:t>while loop</a:t>
            </a:r>
          </a:p>
        </p:txBody>
      </p:sp>
      <p:sp>
        <p:nvSpPr>
          <p:cNvPr id="3" name="Content Placeholder 2"/>
          <p:cNvSpPr>
            <a:spLocks noGrp="1"/>
          </p:cNvSpPr>
          <p:nvPr>
            <p:ph idx="1"/>
          </p:nvPr>
        </p:nvSpPr>
        <p:spPr>
          <a:xfrm>
            <a:off x="990600" y="1447800"/>
            <a:ext cx="7315200" cy="4541925"/>
          </a:xfrm>
        </p:spPr>
        <p:txBody>
          <a:bodyPr>
            <a:normAutofit fontScale="85000" lnSpcReduction="10000"/>
          </a:bodyPr>
          <a:lstStyle/>
          <a:p>
            <a:pPr algn="just">
              <a:buFont typeface="Wingdings" pitchFamily="2" charset="2"/>
              <a:buChar char="Ø"/>
            </a:pPr>
            <a:r>
              <a:rPr lang="en-US" sz="3600" dirty="0"/>
              <a:t>execute a block of code </a:t>
            </a:r>
            <a:r>
              <a:rPr lang="en-US" sz="3600" b="1" dirty="0"/>
              <a:t>if and as long as a test expression is true</a:t>
            </a:r>
          </a:p>
          <a:p>
            <a:pPr algn="just">
              <a:buFont typeface="Wingdings" pitchFamily="2" charset="2"/>
              <a:buChar char="Ø"/>
            </a:pPr>
            <a:r>
              <a:rPr lang="en-US" sz="3600" b="1" dirty="0"/>
              <a:t>Syntax:</a:t>
            </a:r>
          </a:p>
          <a:p>
            <a:pPr marL="0" indent="0">
              <a:buNone/>
            </a:pPr>
            <a:r>
              <a:rPr lang="en-US" sz="4300" b="1" dirty="0"/>
              <a:t>while (condition)</a:t>
            </a:r>
          </a:p>
          <a:p>
            <a:pPr marL="0" indent="0">
              <a:buNone/>
            </a:pPr>
            <a:r>
              <a:rPr lang="en-US" sz="4300" b="1" dirty="0"/>
              <a:t>{</a:t>
            </a:r>
          </a:p>
          <a:p>
            <a:pPr marL="0" indent="0">
              <a:buNone/>
            </a:pPr>
            <a:r>
              <a:rPr lang="en-US" sz="4300" b="1" dirty="0"/>
              <a:t>    		//code to be executed;</a:t>
            </a:r>
          </a:p>
          <a:p>
            <a:pPr marL="0" indent="0">
              <a:buNone/>
            </a:pPr>
            <a:r>
              <a:rPr lang="en-US" sz="4300" b="1" dirty="0"/>
              <a:t>}</a:t>
            </a:r>
          </a:p>
          <a:p>
            <a:pPr marL="0" indent="0" algn="just">
              <a:buNone/>
            </a:pPr>
            <a:endParaRPr lang="en-US" sz="3600" dirty="0"/>
          </a:p>
        </p:txBody>
      </p:sp>
      <p:sp>
        <p:nvSpPr>
          <p:cNvPr id="4" name="Date Placeholder 3"/>
          <p:cNvSpPr>
            <a:spLocks noGrp="1"/>
          </p:cNvSpPr>
          <p:nvPr>
            <p:ph type="dt" sz="half" idx="10"/>
          </p:nvPr>
        </p:nvSpPr>
        <p:spPr/>
        <p:txBody>
          <a:bodyPr/>
          <a:lstStyle/>
          <a:p>
            <a:fld id="{017A2FA8-6344-40F5-9F46-73DB435D8A38}"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15</a:t>
            </a:fld>
            <a:endParaRPr lang="en-US"/>
          </a:p>
        </p:txBody>
      </p:sp>
    </p:spTree>
    <p:extLst>
      <p:ext uri="{BB962C8B-B14F-4D97-AF65-F5344CB8AC3E}">
        <p14:creationId xmlns:p14="http://schemas.microsoft.com/office/powerpoint/2010/main" val="1240836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706437"/>
          </a:xfrm>
        </p:spPr>
        <p:txBody>
          <a:bodyPr>
            <a:normAutofit/>
          </a:bodyPr>
          <a:lstStyle/>
          <a:p>
            <a:r>
              <a:rPr lang="en-US" b="1" dirty="0"/>
              <a:t>      </a:t>
            </a:r>
            <a:r>
              <a:rPr lang="en-US" b="1" dirty="0">
                <a:solidFill>
                  <a:srgbClr val="00B0F0"/>
                </a:solidFill>
              </a:rPr>
              <a:t>How it works</a:t>
            </a:r>
          </a:p>
        </p:txBody>
      </p:sp>
      <p:sp>
        <p:nvSpPr>
          <p:cNvPr id="3" name="Content Placeholder 2"/>
          <p:cNvSpPr>
            <a:spLocks noGrp="1"/>
          </p:cNvSpPr>
          <p:nvPr>
            <p:ph idx="1"/>
          </p:nvPr>
        </p:nvSpPr>
        <p:spPr>
          <a:xfrm>
            <a:off x="1295400" y="1066800"/>
            <a:ext cx="7010400" cy="5410200"/>
          </a:xfrm>
        </p:spPr>
        <p:txBody>
          <a:bodyPr>
            <a:normAutofit fontScale="92500" lnSpcReduction="20000"/>
          </a:bodyPr>
          <a:lstStyle/>
          <a:p>
            <a:pPr marL="0" indent="0">
              <a:buNone/>
            </a:pPr>
            <a:r>
              <a:rPr lang="en-US" sz="4100" b="1" dirty="0"/>
              <a:t>$i = 0;</a:t>
            </a:r>
          </a:p>
          <a:p>
            <a:pPr marL="0" indent="0">
              <a:buNone/>
            </a:pPr>
            <a:r>
              <a:rPr lang="en-US" sz="4100" b="1" dirty="0"/>
              <a:t>$</a:t>
            </a:r>
            <a:r>
              <a:rPr lang="en-US" sz="4100" b="1" dirty="0" err="1"/>
              <a:t>num</a:t>
            </a:r>
            <a:r>
              <a:rPr lang="en-US" sz="4100" b="1" dirty="0"/>
              <a:t> = 50;</a:t>
            </a:r>
          </a:p>
          <a:p>
            <a:pPr marL="0" indent="0">
              <a:buNone/>
            </a:pPr>
            <a:r>
              <a:rPr lang="en-US" sz="4100" b="1" dirty="0"/>
              <a:t>while( $i &lt; 10)</a:t>
            </a:r>
          </a:p>
          <a:p>
            <a:pPr marL="0" indent="0">
              <a:buNone/>
            </a:pPr>
            <a:r>
              <a:rPr lang="en-US" sz="4100" b="1" dirty="0"/>
              <a:t>{</a:t>
            </a:r>
          </a:p>
          <a:p>
            <a:pPr marL="0" indent="0">
              <a:buNone/>
            </a:pPr>
            <a:r>
              <a:rPr lang="en-US" sz="4100" b="1" dirty="0"/>
              <a:t>   		$</a:t>
            </a:r>
            <a:r>
              <a:rPr lang="en-US" sz="4100" b="1" dirty="0" err="1"/>
              <a:t>num</a:t>
            </a:r>
            <a:r>
              <a:rPr lang="en-US" sz="4100" b="1" dirty="0"/>
              <a:t>--;</a:t>
            </a:r>
          </a:p>
          <a:p>
            <a:pPr marL="0" indent="0">
              <a:buNone/>
            </a:pPr>
            <a:r>
              <a:rPr lang="en-US" sz="4100" b="1" dirty="0"/>
              <a:t>   		$i++;</a:t>
            </a:r>
          </a:p>
          <a:p>
            <a:pPr marL="0" indent="0">
              <a:buNone/>
            </a:pPr>
            <a:r>
              <a:rPr lang="en-US" sz="4100" b="1" dirty="0"/>
              <a:t>}</a:t>
            </a:r>
          </a:p>
          <a:p>
            <a:pPr marL="0" indent="0">
              <a:buNone/>
            </a:pPr>
            <a:r>
              <a:rPr lang="en-US" sz="4100" b="1" dirty="0"/>
              <a:t>echo ("Loop stopped at i = $i and </a:t>
            </a:r>
            <a:r>
              <a:rPr lang="en-US" sz="4100" b="1" dirty="0" err="1"/>
              <a:t>num</a:t>
            </a:r>
            <a:r>
              <a:rPr lang="en-US" sz="4100" b="1" dirty="0"/>
              <a:t> = $</a:t>
            </a:r>
            <a:r>
              <a:rPr lang="en-US" sz="4100" b="1" dirty="0" err="1"/>
              <a:t>num</a:t>
            </a:r>
            <a:r>
              <a:rPr lang="en-US" sz="4100" b="1" dirty="0"/>
              <a:t>" );</a:t>
            </a:r>
          </a:p>
          <a:p>
            <a:pPr marL="0" indent="0">
              <a:buNone/>
            </a:pPr>
            <a:endParaRPr lang="en-US" sz="3600" b="1" dirty="0"/>
          </a:p>
        </p:txBody>
      </p:sp>
      <p:sp>
        <p:nvSpPr>
          <p:cNvPr id="4" name="Date Placeholder 3"/>
          <p:cNvSpPr>
            <a:spLocks noGrp="1"/>
          </p:cNvSpPr>
          <p:nvPr>
            <p:ph type="dt" sz="half" idx="10"/>
          </p:nvPr>
        </p:nvSpPr>
        <p:spPr/>
        <p:txBody>
          <a:bodyPr/>
          <a:lstStyle/>
          <a:p>
            <a:fld id="{F28B2151-5A0C-4BBB-B61A-44D0C1D97BFC}"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16</a:t>
            </a:fld>
            <a:endParaRPr lang="en-US"/>
          </a:p>
        </p:txBody>
      </p:sp>
    </p:spTree>
    <p:extLst>
      <p:ext uri="{BB962C8B-B14F-4D97-AF65-F5344CB8AC3E}">
        <p14:creationId xmlns:p14="http://schemas.microsoft.com/office/powerpoint/2010/main" val="1455639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2415" y="228600"/>
            <a:ext cx="6591985" cy="1066800"/>
          </a:xfrm>
        </p:spPr>
        <p:txBody>
          <a:bodyPr/>
          <a:lstStyle/>
          <a:p>
            <a:r>
              <a:rPr lang="en-US" b="1" dirty="0">
                <a:solidFill>
                  <a:srgbClr val="00B0F0"/>
                </a:solidFill>
              </a:rPr>
              <a:t>do…while loop</a:t>
            </a:r>
          </a:p>
        </p:txBody>
      </p:sp>
      <p:sp>
        <p:nvSpPr>
          <p:cNvPr id="3" name="Content Placeholder 2"/>
          <p:cNvSpPr>
            <a:spLocks noGrp="1"/>
          </p:cNvSpPr>
          <p:nvPr>
            <p:ph idx="1"/>
          </p:nvPr>
        </p:nvSpPr>
        <p:spPr>
          <a:xfrm>
            <a:off x="1219201" y="1152908"/>
            <a:ext cx="7315200" cy="4758314"/>
          </a:xfrm>
        </p:spPr>
        <p:txBody>
          <a:bodyPr>
            <a:normAutofit/>
          </a:bodyPr>
          <a:lstStyle/>
          <a:p>
            <a:pPr algn="just">
              <a:buFont typeface="Wingdings" pitchFamily="2" charset="2"/>
              <a:buChar char="Ø"/>
            </a:pPr>
            <a:r>
              <a:rPr lang="en-US" sz="4400" b="1" dirty="0"/>
              <a:t>Execute </a:t>
            </a:r>
            <a:r>
              <a:rPr lang="en-US" sz="4400" dirty="0"/>
              <a:t>a block of code </a:t>
            </a:r>
            <a:r>
              <a:rPr lang="en-US" sz="4400" b="1" dirty="0"/>
              <a:t>at least once</a:t>
            </a:r>
            <a:r>
              <a:rPr lang="en-US" sz="4400" dirty="0"/>
              <a:t>.</a:t>
            </a:r>
          </a:p>
          <a:p>
            <a:pPr algn="just">
              <a:buFont typeface="Wingdings" pitchFamily="2" charset="2"/>
              <a:buChar char="Ø"/>
            </a:pPr>
            <a:r>
              <a:rPr lang="en-US" sz="4400" dirty="0"/>
              <a:t>It </a:t>
            </a:r>
            <a:r>
              <a:rPr lang="en-US" sz="4400" b="1" dirty="0"/>
              <a:t>then</a:t>
            </a:r>
            <a:r>
              <a:rPr lang="en-US" sz="4400" dirty="0"/>
              <a:t> will </a:t>
            </a:r>
            <a:r>
              <a:rPr lang="en-US" sz="4400" b="1" dirty="0"/>
              <a:t>repeat</a:t>
            </a:r>
            <a:r>
              <a:rPr lang="en-US" sz="4400" dirty="0"/>
              <a:t> the loop </a:t>
            </a:r>
            <a:r>
              <a:rPr lang="en-US" sz="4400" b="1" dirty="0"/>
              <a:t>as long as a condition is true.</a:t>
            </a:r>
          </a:p>
          <a:p>
            <a:pPr algn="just">
              <a:buFont typeface="Wingdings" pitchFamily="2" charset="2"/>
              <a:buChar char="Ø"/>
            </a:pPr>
            <a:endParaRPr lang="en-US" sz="4400" dirty="0"/>
          </a:p>
        </p:txBody>
      </p:sp>
      <p:sp>
        <p:nvSpPr>
          <p:cNvPr id="4" name="Date Placeholder 3"/>
          <p:cNvSpPr>
            <a:spLocks noGrp="1"/>
          </p:cNvSpPr>
          <p:nvPr>
            <p:ph type="dt" sz="half" idx="10"/>
          </p:nvPr>
        </p:nvSpPr>
        <p:spPr/>
        <p:txBody>
          <a:bodyPr/>
          <a:lstStyle/>
          <a:p>
            <a:fld id="{CC44F21C-724B-42BC-A095-A9933A8DACE5}"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17</a:t>
            </a:fld>
            <a:endParaRPr lang="en-US"/>
          </a:p>
        </p:txBody>
      </p:sp>
    </p:spTree>
    <p:extLst>
      <p:ext uri="{BB962C8B-B14F-4D97-AF65-F5344CB8AC3E}">
        <p14:creationId xmlns:p14="http://schemas.microsoft.com/office/powerpoint/2010/main" val="781534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1" y="228600"/>
            <a:ext cx="6705600" cy="1066800"/>
          </a:xfrm>
        </p:spPr>
        <p:txBody>
          <a:bodyPr/>
          <a:lstStyle/>
          <a:p>
            <a:r>
              <a:rPr lang="en-US" dirty="0" err="1"/>
              <a:t>Cont</a:t>
            </a:r>
            <a:r>
              <a:rPr lang="en-US" dirty="0"/>
              <a:t>…</a:t>
            </a:r>
          </a:p>
        </p:txBody>
      </p:sp>
      <p:sp>
        <p:nvSpPr>
          <p:cNvPr id="3" name="Content Placeholder 2"/>
          <p:cNvSpPr>
            <a:spLocks noGrp="1"/>
          </p:cNvSpPr>
          <p:nvPr>
            <p:ph idx="1"/>
          </p:nvPr>
        </p:nvSpPr>
        <p:spPr>
          <a:xfrm>
            <a:off x="1828801" y="1295400"/>
            <a:ext cx="6705599" cy="4615822"/>
          </a:xfrm>
        </p:spPr>
        <p:txBody>
          <a:bodyPr>
            <a:normAutofit fontScale="92500" lnSpcReduction="20000"/>
          </a:bodyPr>
          <a:lstStyle/>
          <a:p>
            <a:pPr>
              <a:buFont typeface="Wingdings" pitchFamily="2" charset="2"/>
              <a:buChar char="Ø"/>
            </a:pPr>
            <a:r>
              <a:rPr lang="en-US" sz="4000" b="1" dirty="0"/>
              <a:t>Syntax:</a:t>
            </a:r>
          </a:p>
          <a:p>
            <a:pPr marL="0" indent="0" algn="just">
              <a:buNone/>
            </a:pPr>
            <a:r>
              <a:rPr lang="en-US" sz="4800" b="1" dirty="0"/>
              <a:t>do</a:t>
            </a:r>
          </a:p>
          <a:p>
            <a:pPr marL="0" indent="0" algn="just">
              <a:buNone/>
            </a:pPr>
            <a:r>
              <a:rPr lang="en-US" sz="4800" b="1" dirty="0"/>
              <a:t>{</a:t>
            </a:r>
          </a:p>
          <a:p>
            <a:pPr marL="0" indent="0" algn="just">
              <a:buNone/>
            </a:pPr>
            <a:r>
              <a:rPr lang="en-US" sz="4800" b="1" dirty="0"/>
              <a:t>   		//code to be executed;</a:t>
            </a:r>
          </a:p>
          <a:p>
            <a:pPr marL="0" indent="0" algn="just">
              <a:buNone/>
            </a:pPr>
            <a:r>
              <a:rPr lang="en-US" sz="4800" b="1" dirty="0"/>
              <a:t>}</a:t>
            </a:r>
          </a:p>
          <a:p>
            <a:pPr marL="0" indent="0" algn="just">
              <a:buNone/>
            </a:pPr>
            <a:r>
              <a:rPr lang="en-US" sz="4800" b="1" dirty="0"/>
              <a:t>while (condition);</a:t>
            </a:r>
          </a:p>
          <a:p>
            <a:pPr marL="0" indent="0">
              <a:buNone/>
            </a:pPr>
            <a:endParaRPr lang="en-US" sz="4000" b="1" dirty="0"/>
          </a:p>
        </p:txBody>
      </p:sp>
      <p:sp>
        <p:nvSpPr>
          <p:cNvPr id="4" name="Date Placeholder 3"/>
          <p:cNvSpPr>
            <a:spLocks noGrp="1"/>
          </p:cNvSpPr>
          <p:nvPr>
            <p:ph type="dt" sz="half" idx="10"/>
          </p:nvPr>
        </p:nvSpPr>
        <p:spPr/>
        <p:txBody>
          <a:bodyPr/>
          <a:lstStyle/>
          <a:p>
            <a:fld id="{53E4E1A2-54E5-4F11-9181-C6BF29F0E03E}"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18</a:t>
            </a:fld>
            <a:endParaRPr lang="en-US"/>
          </a:p>
        </p:txBody>
      </p:sp>
    </p:spTree>
    <p:extLst>
      <p:ext uri="{BB962C8B-B14F-4D97-AF65-F5344CB8AC3E}">
        <p14:creationId xmlns:p14="http://schemas.microsoft.com/office/powerpoint/2010/main" val="788098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782637"/>
          </a:xfrm>
        </p:spPr>
        <p:txBody>
          <a:bodyPr/>
          <a:lstStyle/>
          <a:p>
            <a:r>
              <a:rPr lang="en-US" b="1" dirty="0"/>
              <a:t>       </a:t>
            </a:r>
            <a:r>
              <a:rPr lang="en-US" b="1" dirty="0">
                <a:solidFill>
                  <a:srgbClr val="00B0F0"/>
                </a:solidFill>
              </a:rPr>
              <a:t>How it works</a:t>
            </a:r>
          </a:p>
        </p:txBody>
      </p:sp>
      <p:sp>
        <p:nvSpPr>
          <p:cNvPr id="3" name="Content Placeholder 2"/>
          <p:cNvSpPr>
            <a:spLocks noGrp="1"/>
          </p:cNvSpPr>
          <p:nvPr>
            <p:ph idx="1"/>
          </p:nvPr>
        </p:nvSpPr>
        <p:spPr>
          <a:xfrm>
            <a:off x="1295400" y="1219200"/>
            <a:ext cx="7010400" cy="5181600"/>
          </a:xfrm>
        </p:spPr>
        <p:txBody>
          <a:bodyPr>
            <a:normAutofit/>
          </a:bodyPr>
          <a:lstStyle/>
          <a:p>
            <a:pPr marL="0" indent="0">
              <a:buNone/>
            </a:pPr>
            <a:r>
              <a:rPr lang="en-US" sz="3200" b="1" dirty="0"/>
              <a:t>$i = 0;</a:t>
            </a:r>
            <a:endParaRPr lang="en-US" sz="3200" dirty="0"/>
          </a:p>
          <a:p>
            <a:pPr marL="0" indent="0">
              <a:buNone/>
            </a:pPr>
            <a:r>
              <a:rPr lang="en-US" sz="3200" b="1" dirty="0"/>
              <a:t>$</a:t>
            </a:r>
            <a:r>
              <a:rPr lang="en-US" sz="3200" b="1" dirty="0" err="1"/>
              <a:t>num</a:t>
            </a:r>
            <a:r>
              <a:rPr lang="en-US" sz="3200" b="1" dirty="0"/>
              <a:t> = 0;</a:t>
            </a:r>
            <a:endParaRPr lang="en-US" sz="3200" dirty="0"/>
          </a:p>
          <a:p>
            <a:pPr marL="0" indent="0">
              <a:buNone/>
            </a:pPr>
            <a:r>
              <a:rPr lang="en-US" sz="3200" b="1" dirty="0"/>
              <a:t>do</a:t>
            </a:r>
            <a:endParaRPr lang="en-US" sz="3200" dirty="0"/>
          </a:p>
          <a:p>
            <a:pPr marL="0" indent="0">
              <a:buNone/>
            </a:pPr>
            <a:r>
              <a:rPr lang="en-US" sz="3200" b="1" dirty="0"/>
              <a:t>{</a:t>
            </a:r>
            <a:endParaRPr lang="en-US" sz="3200" dirty="0"/>
          </a:p>
          <a:p>
            <a:pPr marL="0" indent="0">
              <a:buNone/>
            </a:pPr>
            <a:r>
              <a:rPr lang="en-US" sz="3200" b="1" dirty="0"/>
              <a:t>  	$i++;</a:t>
            </a:r>
            <a:endParaRPr lang="en-US" sz="3200" dirty="0"/>
          </a:p>
          <a:p>
            <a:pPr marL="0" indent="0">
              <a:buNone/>
            </a:pPr>
            <a:r>
              <a:rPr lang="en-US" sz="3200" b="1" dirty="0"/>
              <a:t>}</a:t>
            </a:r>
            <a:endParaRPr lang="en-US" sz="3200" dirty="0"/>
          </a:p>
          <a:p>
            <a:pPr marL="0" indent="0">
              <a:buNone/>
            </a:pPr>
            <a:r>
              <a:rPr lang="en-US" sz="3200" b="1" dirty="0"/>
              <a:t>while( $i &lt; 10 );</a:t>
            </a:r>
            <a:endParaRPr lang="en-US" sz="3200" dirty="0"/>
          </a:p>
          <a:p>
            <a:pPr marL="0" indent="0">
              <a:buNone/>
            </a:pPr>
            <a:r>
              <a:rPr lang="en-US" sz="3200" b="1" dirty="0"/>
              <a:t>echo ("Loop stopped at i = $i" );</a:t>
            </a:r>
            <a:endParaRPr lang="en-US" sz="3200" dirty="0"/>
          </a:p>
          <a:p>
            <a:pPr marL="0" indent="0">
              <a:buNone/>
            </a:pPr>
            <a:endParaRPr lang="en-US" dirty="0"/>
          </a:p>
        </p:txBody>
      </p:sp>
      <p:sp>
        <p:nvSpPr>
          <p:cNvPr id="4" name="Date Placeholder 3"/>
          <p:cNvSpPr>
            <a:spLocks noGrp="1"/>
          </p:cNvSpPr>
          <p:nvPr>
            <p:ph type="dt" sz="half" idx="10"/>
          </p:nvPr>
        </p:nvSpPr>
        <p:spPr/>
        <p:txBody>
          <a:bodyPr/>
          <a:lstStyle/>
          <a:p>
            <a:fld id="{6911B564-CB70-4298-922B-88FA0F25B55E}"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19</a:t>
            </a:fld>
            <a:endParaRPr lang="en-US"/>
          </a:p>
        </p:txBody>
      </p:sp>
    </p:spTree>
    <p:extLst>
      <p:ext uri="{BB962C8B-B14F-4D97-AF65-F5344CB8AC3E}">
        <p14:creationId xmlns:p14="http://schemas.microsoft.com/office/powerpoint/2010/main" val="112955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584240" cy="1087437"/>
          </a:xfrm>
        </p:spPr>
        <p:txBody>
          <a:bodyPr/>
          <a:lstStyle/>
          <a:p>
            <a:r>
              <a:rPr lang="en-US" b="1" dirty="0"/>
              <a:t>      </a:t>
            </a:r>
            <a:r>
              <a:rPr lang="en-US" b="1" dirty="0">
                <a:solidFill>
                  <a:srgbClr val="00B0F0"/>
                </a:solidFill>
              </a:rPr>
              <a:t>foreach loop</a:t>
            </a:r>
          </a:p>
        </p:txBody>
      </p:sp>
      <p:sp>
        <p:nvSpPr>
          <p:cNvPr id="3" name="Content Placeholder 2"/>
          <p:cNvSpPr>
            <a:spLocks noGrp="1"/>
          </p:cNvSpPr>
          <p:nvPr>
            <p:ph idx="1"/>
          </p:nvPr>
        </p:nvSpPr>
        <p:spPr>
          <a:xfrm>
            <a:off x="990600" y="533401"/>
            <a:ext cx="7315200" cy="5791200"/>
          </a:xfrm>
        </p:spPr>
        <p:txBody>
          <a:bodyPr>
            <a:noAutofit/>
          </a:bodyPr>
          <a:lstStyle/>
          <a:p>
            <a:pPr>
              <a:buFont typeface="Wingdings" pitchFamily="2" charset="2"/>
              <a:buChar char="Ø"/>
            </a:pPr>
            <a:r>
              <a:rPr lang="en-US" sz="3800" dirty="0"/>
              <a:t>Used to loop through </a:t>
            </a:r>
            <a:r>
              <a:rPr lang="en-US" sz="3800" b="1" dirty="0"/>
              <a:t>arrays.</a:t>
            </a:r>
          </a:p>
          <a:p>
            <a:pPr>
              <a:buFont typeface="Wingdings" pitchFamily="2" charset="2"/>
              <a:buChar char="Ø"/>
            </a:pPr>
            <a:r>
              <a:rPr lang="en-US" sz="3800" dirty="0"/>
              <a:t>For each pass</a:t>
            </a:r>
          </a:p>
          <a:p>
            <a:pPr lvl="1">
              <a:buFont typeface="Arial" pitchFamily="34" charset="0"/>
              <a:buChar char="•"/>
            </a:pPr>
            <a:r>
              <a:rPr lang="en-US" sz="3800" b="1" dirty="0">
                <a:effectLst>
                  <a:outerShdw blurRad="38100" dist="38100" dir="2700000" algn="tl">
                    <a:srgbClr val="000000">
                      <a:alpha val="43137"/>
                    </a:srgbClr>
                  </a:outerShdw>
                </a:effectLst>
              </a:rPr>
              <a:t>value of the current array element is assigned to $value</a:t>
            </a:r>
          </a:p>
          <a:p>
            <a:pPr lvl="1">
              <a:buFont typeface="Arial" pitchFamily="34" charset="0"/>
              <a:buChar char="•"/>
            </a:pPr>
            <a:r>
              <a:rPr lang="en-US" sz="3800" dirty="0">
                <a:effectLst>
                  <a:outerShdw blurRad="38100" dist="38100" dir="2700000" algn="tl">
                    <a:srgbClr val="000000">
                      <a:alpha val="43137"/>
                    </a:srgbClr>
                  </a:outerShdw>
                </a:effectLst>
              </a:rPr>
              <a:t>the array pointer is moved by one</a:t>
            </a:r>
          </a:p>
          <a:p>
            <a:pPr lvl="1">
              <a:buFont typeface="Arial" pitchFamily="34" charset="0"/>
              <a:buChar char="•"/>
            </a:pPr>
            <a:r>
              <a:rPr lang="en-US" sz="3800" dirty="0">
                <a:effectLst>
                  <a:outerShdw blurRad="38100" dist="38100" dir="2700000" algn="tl">
                    <a:srgbClr val="000000">
                      <a:alpha val="43137"/>
                    </a:srgbClr>
                  </a:outerShdw>
                </a:effectLst>
              </a:rPr>
              <a:t>in the next pass next element will be processed</a:t>
            </a:r>
          </a:p>
        </p:txBody>
      </p:sp>
      <p:sp>
        <p:nvSpPr>
          <p:cNvPr id="4" name="Date Placeholder 3"/>
          <p:cNvSpPr>
            <a:spLocks noGrp="1"/>
          </p:cNvSpPr>
          <p:nvPr>
            <p:ph type="dt" sz="half" idx="10"/>
          </p:nvPr>
        </p:nvSpPr>
        <p:spPr/>
        <p:txBody>
          <a:bodyPr/>
          <a:lstStyle/>
          <a:p>
            <a:fld id="{9022668D-8BF2-4457-AA0D-CE85504B9654}"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20</a:t>
            </a:fld>
            <a:endParaRPr lang="en-US" dirty="0"/>
          </a:p>
        </p:txBody>
      </p:sp>
    </p:spTree>
    <p:extLst>
      <p:ext uri="{BB962C8B-B14F-4D97-AF65-F5344CB8AC3E}">
        <p14:creationId xmlns:p14="http://schemas.microsoft.com/office/powerpoint/2010/main" val="3332666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a:t>
            </a:r>
            <a:r>
              <a:rPr lang="en-US" dirty="0"/>
              <a:t>…</a:t>
            </a:r>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sz="3600" b="1" dirty="0"/>
              <a:t>Syntax:</a:t>
            </a:r>
          </a:p>
          <a:p>
            <a:pPr marL="0" indent="0">
              <a:buNone/>
            </a:pPr>
            <a:r>
              <a:rPr lang="en-US" sz="4400" b="1" dirty="0"/>
              <a:t>foreach (array as $value)</a:t>
            </a:r>
          </a:p>
          <a:p>
            <a:pPr marL="0" indent="0">
              <a:buNone/>
            </a:pPr>
            <a:r>
              <a:rPr lang="en-US" sz="4400" b="1" dirty="0"/>
              <a:t>{</a:t>
            </a:r>
          </a:p>
          <a:p>
            <a:pPr marL="0" indent="0">
              <a:buNone/>
            </a:pPr>
            <a:r>
              <a:rPr lang="en-US" sz="4400" b="1" dirty="0"/>
              <a:t>    		//code to be executed;</a:t>
            </a:r>
          </a:p>
          <a:p>
            <a:pPr marL="0" indent="0">
              <a:buNone/>
            </a:pPr>
            <a:r>
              <a:rPr lang="en-US" sz="4400" b="1" dirty="0"/>
              <a:t>}</a:t>
            </a:r>
          </a:p>
          <a:p>
            <a:pPr marL="0" indent="0">
              <a:buNone/>
            </a:pPr>
            <a:endParaRPr lang="en-US" sz="3600" b="1" dirty="0"/>
          </a:p>
        </p:txBody>
      </p:sp>
      <p:sp>
        <p:nvSpPr>
          <p:cNvPr id="4" name="Date Placeholder 3"/>
          <p:cNvSpPr>
            <a:spLocks noGrp="1"/>
          </p:cNvSpPr>
          <p:nvPr>
            <p:ph type="dt" sz="half" idx="10"/>
          </p:nvPr>
        </p:nvSpPr>
        <p:spPr/>
        <p:txBody>
          <a:bodyPr/>
          <a:lstStyle/>
          <a:p>
            <a:fld id="{B8DC3B0E-6A58-43A9-94B5-877D6C5184FD}"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21</a:t>
            </a:fld>
            <a:endParaRPr lang="en-US"/>
          </a:p>
        </p:txBody>
      </p:sp>
    </p:spTree>
    <p:extLst>
      <p:ext uri="{BB962C8B-B14F-4D97-AF65-F5344CB8AC3E}">
        <p14:creationId xmlns:p14="http://schemas.microsoft.com/office/powerpoint/2010/main" val="3541463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782637"/>
          </a:xfrm>
        </p:spPr>
        <p:txBody>
          <a:bodyPr/>
          <a:lstStyle/>
          <a:p>
            <a:r>
              <a:rPr lang="en-US" b="1" dirty="0"/>
              <a:t>      </a:t>
            </a:r>
            <a:r>
              <a:rPr lang="en-US" b="1" dirty="0">
                <a:solidFill>
                  <a:srgbClr val="00B0F0"/>
                </a:solidFill>
              </a:rPr>
              <a:t>How it works</a:t>
            </a:r>
          </a:p>
        </p:txBody>
      </p:sp>
      <p:sp>
        <p:nvSpPr>
          <p:cNvPr id="3" name="Content Placeholder 2"/>
          <p:cNvSpPr>
            <a:spLocks noGrp="1"/>
          </p:cNvSpPr>
          <p:nvPr>
            <p:ph idx="1"/>
          </p:nvPr>
        </p:nvSpPr>
        <p:spPr>
          <a:xfrm>
            <a:off x="228600" y="1600200"/>
            <a:ext cx="8686800" cy="5257800"/>
          </a:xfrm>
        </p:spPr>
        <p:txBody>
          <a:bodyPr>
            <a:normAutofit/>
          </a:bodyPr>
          <a:lstStyle/>
          <a:p>
            <a:pPr marL="0" indent="0">
              <a:buNone/>
            </a:pPr>
            <a:r>
              <a:rPr lang="en-US" sz="4300" b="1" dirty="0"/>
              <a:t>$array = array( 1, 2, 3, 4, 5);</a:t>
            </a:r>
            <a:endParaRPr lang="en-US" sz="4300" dirty="0"/>
          </a:p>
          <a:p>
            <a:pPr marL="0" indent="0">
              <a:buNone/>
            </a:pPr>
            <a:r>
              <a:rPr lang="en-US" sz="4300" dirty="0"/>
              <a:t>foreach( $array as $value )</a:t>
            </a:r>
          </a:p>
          <a:p>
            <a:pPr marL="0" indent="0">
              <a:buNone/>
            </a:pPr>
            <a:r>
              <a:rPr lang="en-US" sz="4300" dirty="0"/>
              <a:t>{</a:t>
            </a:r>
          </a:p>
          <a:p>
            <a:pPr marL="0" indent="0">
              <a:buNone/>
            </a:pPr>
            <a:r>
              <a:rPr lang="en-US" sz="4300" dirty="0"/>
              <a:t>  	echo "Value is $value &lt;</a:t>
            </a:r>
            <a:r>
              <a:rPr lang="en-US" sz="4300" dirty="0" err="1"/>
              <a:t>br</a:t>
            </a:r>
            <a:r>
              <a:rPr lang="en-US" sz="4300" dirty="0"/>
              <a:t> /&gt;";</a:t>
            </a:r>
          </a:p>
          <a:p>
            <a:pPr marL="0" indent="0">
              <a:buNone/>
            </a:pPr>
            <a:r>
              <a:rPr lang="en-US" sz="4300" dirty="0"/>
              <a:t>}</a:t>
            </a:r>
          </a:p>
          <a:p>
            <a:endParaRPr lang="en-US" dirty="0"/>
          </a:p>
        </p:txBody>
      </p:sp>
      <p:sp>
        <p:nvSpPr>
          <p:cNvPr id="4" name="Date Placeholder 3"/>
          <p:cNvSpPr>
            <a:spLocks noGrp="1"/>
          </p:cNvSpPr>
          <p:nvPr>
            <p:ph type="dt" sz="half" idx="10"/>
          </p:nvPr>
        </p:nvSpPr>
        <p:spPr/>
        <p:txBody>
          <a:bodyPr/>
          <a:lstStyle/>
          <a:p>
            <a:fld id="{FDBD49A1-56E6-4C47-99DE-948476DEF6D2}"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22</a:t>
            </a:fld>
            <a:endParaRPr lang="en-US"/>
          </a:p>
        </p:txBody>
      </p:sp>
    </p:spTree>
    <p:extLst>
      <p:ext uri="{BB962C8B-B14F-4D97-AF65-F5344CB8AC3E}">
        <p14:creationId xmlns:p14="http://schemas.microsoft.com/office/powerpoint/2010/main" val="3623212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206" y="36286"/>
            <a:ext cx="7478634" cy="858837"/>
          </a:xfrm>
        </p:spPr>
        <p:txBody>
          <a:bodyPr>
            <a:normAutofit fontScale="90000"/>
          </a:bodyPr>
          <a:lstStyle/>
          <a:p>
            <a:r>
              <a:rPr lang="en-US" b="1" dirty="0">
                <a:solidFill>
                  <a:srgbClr val="00B0F0"/>
                </a:solidFill>
                <a:effectLst>
                  <a:outerShdw blurRad="38100" dist="38100" dir="2700000" algn="tl">
                    <a:srgbClr val="000000">
                      <a:alpha val="43137"/>
                    </a:srgbClr>
                  </a:outerShdw>
                </a:effectLst>
              </a:rPr>
              <a:t>Break and continue statements</a:t>
            </a:r>
            <a:br>
              <a:rPr lang="en-US" dirty="0"/>
            </a:br>
            <a:endParaRPr lang="en-US" dirty="0"/>
          </a:p>
        </p:txBody>
      </p:sp>
      <p:sp>
        <p:nvSpPr>
          <p:cNvPr id="3" name="Content Placeholder 2"/>
          <p:cNvSpPr>
            <a:spLocks noGrp="1"/>
          </p:cNvSpPr>
          <p:nvPr>
            <p:ph idx="1"/>
          </p:nvPr>
        </p:nvSpPr>
        <p:spPr>
          <a:xfrm>
            <a:off x="1209702" y="990600"/>
            <a:ext cx="7329078" cy="5334000"/>
          </a:xfrm>
        </p:spPr>
        <p:txBody>
          <a:bodyPr>
            <a:normAutofit fontScale="92500" lnSpcReduction="10000"/>
          </a:bodyPr>
          <a:lstStyle/>
          <a:p>
            <a:pPr marL="0" indent="0" algn="just">
              <a:buNone/>
            </a:pPr>
            <a:r>
              <a:rPr lang="en-US" sz="4000" dirty="0"/>
              <a:t>The ‘</a:t>
            </a:r>
            <a:r>
              <a:rPr lang="en-US" sz="4000" b="1" dirty="0"/>
              <a:t>break</a:t>
            </a:r>
            <a:r>
              <a:rPr lang="en-US" sz="4000" dirty="0"/>
              <a:t>’ statement</a:t>
            </a:r>
          </a:p>
          <a:p>
            <a:pPr algn="just">
              <a:buFont typeface="Wingdings" pitchFamily="2" charset="2"/>
              <a:buChar char="Ø"/>
            </a:pPr>
            <a:r>
              <a:rPr lang="en-US" sz="4000" dirty="0"/>
              <a:t>Used to </a:t>
            </a:r>
            <a:r>
              <a:rPr lang="en-US" sz="4000" b="1" dirty="0"/>
              <a:t>terminate </a:t>
            </a:r>
            <a:r>
              <a:rPr lang="en-US" sz="4000" dirty="0"/>
              <a:t>the execution of a loop</a:t>
            </a:r>
            <a:r>
              <a:rPr lang="en-US" sz="4000" b="1" dirty="0"/>
              <a:t> prematurely.</a:t>
            </a:r>
          </a:p>
          <a:p>
            <a:pPr algn="just">
              <a:buFont typeface="Wingdings" pitchFamily="2" charset="2"/>
              <a:buChar char="Ø"/>
            </a:pPr>
            <a:r>
              <a:rPr lang="en-US" sz="4000" dirty="0"/>
              <a:t>is </a:t>
            </a:r>
            <a:r>
              <a:rPr lang="en-US" sz="4000" b="1" dirty="0"/>
              <a:t>situated inside the statement block.</a:t>
            </a:r>
          </a:p>
          <a:p>
            <a:pPr algn="just">
              <a:buFont typeface="Wingdings" pitchFamily="2" charset="2"/>
              <a:buChar char="Ø"/>
            </a:pPr>
            <a:r>
              <a:rPr lang="en-US" sz="4000" b="1" dirty="0"/>
              <a:t>After coming out of a loop immediate statement to the loop will be executed</a:t>
            </a:r>
            <a:r>
              <a:rPr lang="en-US" sz="4000" dirty="0"/>
              <a:t>.</a:t>
            </a:r>
          </a:p>
          <a:p>
            <a:pPr>
              <a:buFont typeface="Wingdings" pitchFamily="2" charset="2"/>
              <a:buChar char="Ø"/>
            </a:pPr>
            <a:endParaRPr lang="en-US" sz="3600" dirty="0"/>
          </a:p>
        </p:txBody>
      </p:sp>
      <p:sp>
        <p:nvSpPr>
          <p:cNvPr id="4" name="Date Placeholder 3"/>
          <p:cNvSpPr>
            <a:spLocks noGrp="1"/>
          </p:cNvSpPr>
          <p:nvPr>
            <p:ph type="dt" sz="half" idx="10"/>
          </p:nvPr>
        </p:nvSpPr>
        <p:spPr/>
        <p:txBody>
          <a:bodyPr/>
          <a:lstStyle/>
          <a:p>
            <a:fld id="{B7DBA01E-0FC7-40F4-9AD1-B1F146ED956F}"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23</a:t>
            </a:fld>
            <a:endParaRPr lang="en-US"/>
          </a:p>
        </p:txBody>
      </p:sp>
    </p:spTree>
    <p:extLst>
      <p:ext uri="{BB962C8B-B14F-4D97-AF65-F5344CB8AC3E}">
        <p14:creationId xmlns:p14="http://schemas.microsoft.com/office/powerpoint/2010/main" val="271777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706437"/>
          </a:xfrm>
        </p:spPr>
        <p:txBody>
          <a:bodyPr>
            <a:normAutofit/>
          </a:bodyPr>
          <a:lstStyle/>
          <a:p>
            <a:r>
              <a:rPr lang="en-US" b="1" dirty="0"/>
              <a:t>How it works</a:t>
            </a:r>
          </a:p>
        </p:txBody>
      </p:sp>
      <p:sp>
        <p:nvSpPr>
          <p:cNvPr id="3" name="Content Placeholder 2"/>
          <p:cNvSpPr>
            <a:spLocks noGrp="1"/>
          </p:cNvSpPr>
          <p:nvPr>
            <p:ph idx="1"/>
          </p:nvPr>
        </p:nvSpPr>
        <p:spPr>
          <a:xfrm>
            <a:off x="1485096" y="1219200"/>
            <a:ext cx="6820703" cy="5334000"/>
          </a:xfrm>
        </p:spPr>
        <p:txBody>
          <a:bodyPr>
            <a:normAutofit fontScale="92500" lnSpcReduction="10000"/>
          </a:bodyPr>
          <a:lstStyle/>
          <a:p>
            <a:pPr marL="0" indent="0">
              <a:buNone/>
            </a:pPr>
            <a:r>
              <a:rPr lang="en-US" sz="3000" b="1" dirty="0"/>
              <a:t>&lt;?</a:t>
            </a:r>
            <a:r>
              <a:rPr lang="en-US" sz="3000" b="1" dirty="0" err="1"/>
              <a:t>php</a:t>
            </a:r>
            <a:endParaRPr lang="en-US" sz="3000" dirty="0"/>
          </a:p>
          <a:p>
            <a:pPr marL="0" indent="0">
              <a:buNone/>
            </a:pPr>
            <a:r>
              <a:rPr lang="en-US" sz="3000" b="1" dirty="0"/>
              <a:t>$i = 0;</a:t>
            </a:r>
            <a:endParaRPr lang="en-US" sz="3000" dirty="0"/>
          </a:p>
          <a:p>
            <a:pPr marL="0" indent="0">
              <a:buNone/>
            </a:pPr>
            <a:r>
              <a:rPr lang="en-US" sz="3000" b="1" dirty="0"/>
              <a:t>while( $i &lt; 10)</a:t>
            </a:r>
            <a:endParaRPr lang="en-US" sz="3000" dirty="0"/>
          </a:p>
          <a:p>
            <a:pPr marL="0" indent="0">
              <a:buNone/>
            </a:pPr>
            <a:r>
              <a:rPr lang="en-US" sz="3000" b="1" dirty="0"/>
              <a:t>{</a:t>
            </a:r>
            <a:endParaRPr lang="en-US" sz="3000" dirty="0"/>
          </a:p>
          <a:p>
            <a:pPr marL="0" indent="0">
              <a:buNone/>
            </a:pPr>
            <a:r>
              <a:rPr lang="en-US" sz="3000" b="1" dirty="0"/>
              <a:t>   	$i++;</a:t>
            </a:r>
            <a:endParaRPr lang="en-US" sz="3000" dirty="0"/>
          </a:p>
          <a:p>
            <a:pPr marL="0" indent="0">
              <a:buNone/>
            </a:pPr>
            <a:r>
              <a:rPr lang="en-US" sz="3000" b="1" dirty="0"/>
              <a:t>   	if( $i == 3 )</a:t>
            </a:r>
            <a:endParaRPr lang="en-US" sz="3000" dirty="0"/>
          </a:p>
          <a:p>
            <a:pPr marL="0" indent="0">
              <a:buNone/>
            </a:pPr>
            <a:r>
              <a:rPr lang="en-US" sz="3000" b="1" dirty="0"/>
              <a:t>	break;</a:t>
            </a:r>
            <a:endParaRPr lang="en-US" sz="3000" dirty="0"/>
          </a:p>
          <a:p>
            <a:pPr marL="0" indent="0">
              <a:buNone/>
            </a:pPr>
            <a:r>
              <a:rPr lang="en-US" sz="3000" b="1" dirty="0"/>
              <a:t>}</a:t>
            </a:r>
            <a:endParaRPr lang="en-US" sz="3000" dirty="0"/>
          </a:p>
          <a:p>
            <a:pPr marL="0" indent="0">
              <a:buNone/>
            </a:pPr>
            <a:r>
              <a:rPr lang="en-US" sz="3000" b="1" dirty="0"/>
              <a:t>echo ("Loop stopped at i = $i" );</a:t>
            </a:r>
            <a:endParaRPr lang="en-US" sz="3000" dirty="0"/>
          </a:p>
          <a:p>
            <a:pPr marL="0" indent="0">
              <a:buNone/>
            </a:pPr>
            <a:r>
              <a:rPr lang="en-US" sz="3000" b="1" dirty="0"/>
              <a:t>?&gt;</a:t>
            </a:r>
            <a:endParaRPr lang="en-US" sz="3000" dirty="0"/>
          </a:p>
          <a:p>
            <a:endParaRPr lang="en-US" dirty="0"/>
          </a:p>
        </p:txBody>
      </p:sp>
      <p:sp>
        <p:nvSpPr>
          <p:cNvPr id="4" name="Date Placeholder 3"/>
          <p:cNvSpPr>
            <a:spLocks noGrp="1"/>
          </p:cNvSpPr>
          <p:nvPr>
            <p:ph type="dt" sz="half" idx="10"/>
          </p:nvPr>
        </p:nvSpPr>
        <p:spPr/>
        <p:txBody>
          <a:bodyPr/>
          <a:lstStyle/>
          <a:p>
            <a:fld id="{846111F7-5577-4A77-9134-6B62B050BCCF}"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24</a:t>
            </a:fld>
            <a:endParaRPr lang="en-US"/>
          </a:p>
        </p:txBody>
      </p:sp>
    </p:spTree>
    <p:extLst>
      <p:ext uri="{BB962C8B-B14F-4D97-AF65-F5344CB8AC3E}">
        <p14:creationId xmlns:p14="http://schemas.microsoft.com/office/powerpoint/2010/main" val="3068203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976090"/>
          </a:xfrm>
        </p:spPr>
        <p:txBody>
          <a:bodyPr/>
          <a:lstStyle/>
          <a:p>
            <a:r>
              <a:rPr lang="en-US" dirty="0"/>
              <a:t>The </a:t>
            </a:r>
            <a:r>
              <a:rPr lang="en-US" b="1" dirty="0"/>
              <a:t>‘</a:t>
            </a:r>
            <a:r>
              <a:rPr lang="en-US" b="1" dirty="0">
                <a:solidFill>
                  <a:srgbClr val="00B0F0"/>
                </a:solidFill>
              </a:rPr>
              <a:t>continue</a:t>
            </a:r>
            <a:r>
              <a:rPr lang="en-US" b="1" dirty="0"/>
              <a:t>’ </a:t>
            </a:r>
            <a:r>
              <a:rPr lang="en-US" dirty="0"/>
              <a:t>statement</a:t>
            </a:r>
            <a:endParaRPr lang="en-US" b="1" dirty="0"/>
          </a:p>
        </p:txBody>
      </p:sp>
      <p:sp>
        <p:nvSpPr>
          <p:cNvPr id="3" name="Content Placeholder 2"/>
          <p:cNvSpPr>
            <a:spLocks noGrp="1"/>
          </p:cNvSpPr>
          <p:nvPr>
            <p:ph idx="1"/>
          </p:nvPr>
        </p:nvSpPr>
        <p:spPr>
          <a:xfrm>
            <a:off x="1942415" y="1752600"/>
            <a:ext cx="6591985" cy="3962400"/>
          </a:xfrm>
        </p:spPr>
        <p:txBody>
          <a:bodyPr>
            <a:normAutofit lnSpcReduction="10000"/>
          </a:bodyPr>
          <a:lstStyle/>
          <a:p>
            <a:pPr>
              <a:buFont typeface="Wingdings" pitchFamily="2" charset="2"/>
              <a:buChar char="Ø"/>
            </a:pPr>
            <a:r>
              <a:rPr lang="en-US" sz="3600" dirty="0"/>
              <a:t>Used  to </a:t>
            </a:r>
            <a:r>
              <a:rPr lang="en-US" sz="3600" b="1" dirty="0"/>
              <a:t>halt (stop) the current iteration</a:t>
            </a:r>
            <a:r>
              <a:rPr lang="en-US" sz="3600" dirty="0"/>
              <a:t> of a loop </a:t>
            </a:r>
            <a:r>
              <a:rPr lang="en-US" sz="3600" b="1" dirty="0"/>
              <a:t>but</a:t>
            </a:r>
            <a:r>
              <a:rPr lang="en-US" sz="3600" dirty="0"/>
              <a:t>,</a:t>
            </a:r>
          </a:p>
          <a:p>
            <a:pPr>
              <a:buFont typeface="Wingdings" pitchFamily="2" charset="2"/>
              <a:buChar char="Ø"/>
            </a:pPr>
            <a:r>
              <a:rPr lang="en-US" sz="3600" dirty="0"/>
              <a:t>it</a:t>
            </a:r>
            <a:r>
              <a:rPr lang="en-US" sz="3600" b="1" dirty="0"/>
              <a:t> does not terminate </a:t>
            </a:r>
            <a:r>
              <a:rPr lang="en-US" sz="3600" dirty="0"/>
              <a:t>the loop.</a:t>
            </a:r>
          </a:p>
          <a:p>
            <a:pPr>
              <a:buFont typeface="Wingdings" pitchFamily="2" charset="2"/>
              <a:buChar char="Ø"/>
            </a:pPr>
            <a:r>
              <a:rPr lang="en-US" sz="3600" b="1" dirty="0"/>
              <a:t>is situated inside the statement block</a:t>
            </a:r>
            <a:r>
              <a:rPr lang="en-US" sz="3600" dirty="0"/>
              <a:t> </a:t>
            </a:r>
          </a:p>
          <a:p>
            <a:pPr>
              <a:buFont typeface="Wingdings" pitchFamily="2" charset="2"/>
              <a:buChar char="Ø"/>
            </a:pPr>
            <a:endParaRPr lang="en-US" sz="3600" dirty="0"/>
          </a:p>
        </p:txBody>
      </p:sp>
      <p:sp>
        <p:nvSpPr>
          <p:cNvPr id="4" name="Date Placeholder 3"/>
          <p:cNvSpPr>
            <a:spLocks noGrp="1"/>
          </p:cNvSpPr>
          <p:nvPr>
            <p:ph type="dt" sz="half" idx="10"/>
          </p:nvPr>
        </p:nvSpPr>
        <p:spPr/>
        <p:txBody>
          <a:bodyPr/>
          <a:lstStyle/>
          <a:p>
            <a:fld id="{01AD57B8-3F57-4F2D-BFF1-040E03B13281}"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25</a:t>
            </a:fld>
            <a:endParaRPr lang="en-US"/>
          </a:p>
        </p:txBody>
      </p:sp>
    </p:spTree>
    <p:extLst>
      <p:ext uri="{BB962C8B-B14F-4D97-AF65-F5344CB8AC3E}">
        <p14:creationId xmlns:p14="http://schemas.microsoft.com/office/powerpoint/2010/main" val="420160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706437"/>
          </a:xfrm>
        </p:spPr>
        <p:txBody>
          <a:bodyPr>
            <a:normAutofit/>
          </a:bodyPr>
          <a:lstStyle/>
          <a:p>
            <a:r>
              <a:rPr lang="en-US" b="1" dirty="0"/>
              <a:t>           </a:t>
            </a:r>
            <a:r>
              <a:rPr lang="en-US" b="1" dirty="0">
                <a:solidFill>
                  <a:srgbClr val="00B0F0"/>
                </a:solidFill>
              </a:rPr>
              <a:t>How it works</a:t>
            </a:r>
          </a:p>
        </p:txBody>
      </p:sp>
      <p:sp>
        <p:nvSpPr>
          <p:cNvPr id="3" name="Content Placeholder 2"/>
          <p:cNvSpPr>
            <a:spLocks noGrp="1"/>
          </p:cNvSpPr>
          <p:nvPr>
            <p:ph idx="1"/>
          </p:nvPr>
        </p:nvSpPr>
        <p:spPr>
          <a:xfrm>
            <a:off x="1295400" y="1152908"/>
            <a:ext cx="7010400" cy="5095492"/>
          </a:xfrm>
        </p:spPr>
        <p:txBody>
          <a:bodyPr>
            <a:normAutofit fontScale="92500" lnSpcReduction="10000"/>
          </a:bodyPr>
          <a:lstStyle/>
          <a:p>
            <a:pPr marL="0" indent="0">
              <a:buNone/>
            </a:pPr>
            <a:r>
              <a:rPr lang="en-US" sz="3200" b="1" dirty="0"/>
              <a:t>&lt;?</a:t>
            </a:r>
            <a:r>
              <a:rPr lang="en-US" sz="3200" b="1" dirty="0" err="1"/>
              <a:t>php</a:t>
            </a:r>
            <a:endParaRPr lang="en-US" sz="3200" dirty="0"/>
          </a:p>
          <a:p>
            <a:pPr marL="0" indent="0">
              <a:buNone/>
            </a:pPr>
            <a:r>
              <a:rPr lang="en-US" sz="3200" b="1" dirty="0"/>
              <a:t>$array = array( 1, 2, 3, 4, 5);</a:t>
            </a:r>
            <a:endParaRPr lang="en-US" sz="3200" dirty="0"/>
          </a:p>
          <a:p>
            <a:pPr marL="0" indent="0">
              <a:buNone/>
            </a:pPr>
            <a:r>
              <a:rPr lang="en-US" sz="3200" b="1" dirty="0"/>
              <a:t>foreach( $array as $value )</a:t>
            </a:r>
            <a:endParaRPr lang="en-US" sz="3200" dirty="0"/>
          </a:p>
          <a:p>
            <a:pPr marL="0" indent="0">
              <a:buNone/>
            </a:pPr>
            <a:r>
              <a:rPr lang="en-US" sz="3200" b="1" dirty="0"/>
              <a:t>{</a:t>
            </a:r>
            <a:endParaRPr lang="en-US" sz="3200" dirty="0"/>
          </a:p>
          <a:p>
            <a:pPr marL="0" indent="0">
              <a:buNone/>
            </a:pPr>
            <a:r>
              <a:rPr lang="en-US" sz="3200" b="1" dirty="0"/>
              <a:t>  		if( $value == 3 )</a:t>
            </a:r>
          </a:p>
          <a:p>
            <a:pPr marL="0" indent="0">
              <a:buNone/>
            </a:pPr>
            <a:r>
              <a:rPr lang="en-US" sz="3200" b="1" dirty="0"/>
              <a:t>		continue;</a:t>
            </a:r>
            <a:endParaRPr lang="en-US" sz="3200" dirty="0"/>
          </a:p>
          <a:p>
            <a:pPr marL="0" indent="0">
              <a:buNone/>
            </a:pPr>
            <a:r>
              <a:rPr lang="en-US" sz="3200" b="1" dirty="0"/>
              <a:t> 		echo "Value is $value &lt;</a:t>
            </a:r>
            <a:r>
              <a:rPr lang="en-US" sz="3200" b="1" dirty="0" err="1"/>
              <a:t>br</a:t>
            </a:r>
            <a:r>
              <a:rPr lang="en-US" sz="3200" b="1" dirty="0"/>
              <a:t> /&gt;";</a:t>
            </a:r>
            <a:endParaRPr lang="en-US" sz="3200" dirty="0"/>
          </a:p>
          <a:p>
            <a:pPr marL="0" indent="0">
              <a:buNone/>
            </a:pPr>
            <a:r>
              <a:rPr lang="en-US" sz="3200" b="1" dirty="0"/>
              <a:t>}</a:t>
            </a:r>
          </a:p>
          <a:p>
            <a:pPr marL="0" indent="0">
              <a:buNone/>
            </a:pPr>
            <a:r>
              <a:rPr lang="en-US" sz="3200" b="1" dirty="0"/>
              <a:t>?&gt;</a:t>
            </a:r>
            <a:endParaRPr lang="en-US" sz="3200" dirty="0"/>
          </a:p>
          <a:p>
            <a:pPr marL="0" indent="0">
              <a:buNone/>
            </a:pPr>
            <a:endParaRPr lang="en-US" dirty="0"/>
          </a:p>
        </p:txBody>
      </p:sp>
      <p:sp>
        <p:nvSpPr>
          <p:cNvPr id="4" name="Date Placeholder 3"/>
          <p:cNvSpPr>
            <a:spLocks noGrp="1"/>
          </p:cNvSpPr>
          <p:nvPr>
            <p:ph type="dt" sz="half" idx="10"/>
          </p:nvPr>
        </p:nvSpPr>
        <p:spPr/>
        <p:txBody>
          <a:bodyPr/>
          <a:lstStyle/>
          <a:p>
            <a:fld id="{61445B5A-E751-47AA-8E46-49FAFE2701A7}"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r>
              <a:rPr lang="en-US" dirty="0"/>
              <a:t>  </a:t>
            </a:r>
            <a:fld id="{0164FE31-0E14-4B83-80DC-64DA42BE9651}" type="slidenum">
              <a:rPr lang="en-US" smtClean="0"/>
              <a:pPr/>
              <a:t>26</a:t>
            </a:fld>
            <a:endParaRPr lang="en-US" dirty="0"/>
          </a:p>
        </p:txBody>
      </p:sp>
    </p:spTree>
    <p:extLst>
      <p:ext uri="{BB962C8B-B14F-4D97-AF65-F5344CB8AC3E}">
        <p14:creationId xmlns:p14="http://schemas.microsoft.com/office/powerpoint/2010/main" val="4209078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2415" y="352740"/>
            <a:ext cx="6591985" cy="794273"/>
          </a:xfrm>
        </p:spPr>
        <p:txBody>
          <a:bodyPr/>
          <a:lstStyle/>
          <a:p>
            <a:r>
              <a:rPr lang="en-US" dirty="0">
                <a:solidFill>
                  <a:srgbClr val="FF0000"/>
                </a:solidFill>
              </a:rPr>
              <a:t>Exercise</a:t>
            </a:r>
            <a:r>
              <a:rPr lang="en-US" dirty="0"/>
              <a:t> </a:t>
            </a:r>
          </a:p>
        </p:txBody>
      </p:sp>
      <p:sp>
        <p:nvSpPr>
          <p:cNvPr id="3" name="Content Placeholder 2"/>
          <p:cNvSpPr>
            <a:spLocks noGrp="1"/>
          </p:cNvSpPr>
          <p:nvPr>
            <p:ph idx="1"/>
          </p:nvPr>
        </p:nvSpPr>
        <p:spPr>
          <a:xfrm>
            <a:off x="1219200" y="1371600"/>
            <a:ext cx="7391399" cy="4539622"/>
          </a:xfrm>
        </p:spPr>
        <p:txBody>
          <a:bodyPr>
            <a:normAutofit/>
          </a:bodyPr>
          <a:lstStyle/>
          <a:p>
            <a:pPr>
              <a:buFont typeface="Wingdings" pitchFamily="2" charset="2"/>
              <a:buChar char="Ø"/>
            </a:pPr>
            <a:r>
              <a:rPr lang="en-US" sz="3600" dirty="0"/>
              <a:t>Write a program that displays the following output using </a:t>
            </a:r>
            <a:r>
              <a:rPr lang="en-US" sz="3600" b="1" dirty="0"/>
              <a:t>loop </a:t>
            </a:r>
            <a:r>
              <a:rPr lang="en-US" sz="3600" b="1"/>
              <a:t>and continue </a:t>
            </a:r>
            <a:r>
              <a:rPr lang="en-US" sz="3600" b="1" dirty="0"/>
              <a:t>statement</a:t>
            </a:r>
            <a:r>
              <a:rPr lang="en-US" sz="3600" dirty="0"/>
              <a:t>:</a:t>
            </a:r>
          </a:p>
          <a:p>
            <a:pPr marL="0" indent="0">
              <a:buNone/>
            </a:pPr>
            <a:r>
              <a:rPr lang="en-US" sz="3600" dirty="0"/>
              <a:t>1,3,5,7,9,11</a:t>
            </a:r>
          </a:p>
          <a:p>
            <a:pPr marL="0" indent="0">
              <a:buNone/>
            </a:pPr>
            <a:endParaRPr lang="en-US" sz="3600" b="1" dirty="0"/>
          </a:p>
        </p:txBody>
      </p:sp>
      <p:sp>
        <p:nvSpPr>
          <p:cNvPr id="4" name="Date Placeholder 3"/>
          <p:cNvSpPr>
            <a:spLocks noGrp="1"/>
          </p:cNvSpPr>
          <p:nvPr>
            <p:ph type="dt" sz="half" idx="10"/>
          </p:nvPr>
        </p:nvSpPr>
        <p:spPr/>
        <p:txBody>
          <a:bodyPr/>
          <a:lstStyle/>
          <a:p>
            <a:fld id="{1FF8DE91-DDEF-485B-B6AA-E10289B46198}"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27</a:t>
            </a:fld>
            <a:endParaRPr lang="en-US"/>
          </a:p>
        </p:txBody>
      </p:sp>
    </p:spTree>
    <p:extLst>
      <p:ext uri="{BB962C8B-B14F-4D97-AF65-F5344CB8AC3E}">
        <p14:creationId xmlns:p14="http://schemas.microsoft.com/office/powerpoint/2010/main" val="9611431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41440" cy="1442674"/>
          </a:xfrm>
        </p:spPr>
        <p:txBody>
          <a:bodyPr>
            <a:normAutofit fontScale="90000"/>
          </a:bodyPr>
          <a:lstStyle/>
          <a:p>
            <a:r>
              <a:rPr lang="en-US" sz="4400" dirty="0"/>
              <a:t>What do you think is the output of the following program?</a:t>
            </a:r>
          </a:p>
        </p:txBody>
      </p:sp>
      <p:sp>
        <p:nvSpPr>
          <p:cNvPr id="3" name="Content Placeholder 2"/>
          <p:cNvSpPr>
            <a:spLocks noGrp="1"/>
          </p:cNvSpPr>
          <p:nvPr>
            <p:ph idx="1"/>
          </p:nvPr>
        </p:nvSpPr>
        <p:spPr>
          <a:xfrm>
            <a:off x="838200" y="1600200"/>
            <a:ext cx="7700580" cy="5029200"/>
          </a:xfrm>
        </p:spPr>
        <p:txBody>
          <a:bodyPr>
            <a:normAutofit fontScale="85000" lnSpcReduction="20000"/>
          </a:bodyPr>
          <a:lstStyle/>
          <a:p>
            <a:pPr marL="0" indent="0">
              <a:buNone/>
            </a:pPr>
            <a:r>
              <a:rPr lang="en-US" sz="3600" b="1" dirty="0"/>
              <a:t>&lt;?</a:t>
            </a:r>
            <a:r>
              <a:rPr lang="en-US" sz="3600" b="1" dirty="0" err="1"/>
              <a:t>php</a:t>
            </a:r>
            <a:endParaRPr lang="en-US" sz="3600" b="1" dirty="0"/>
          </a:p>
          <a:p>
            <a:pPr marL="0" indent="0">
              <a:buNone/>
            </a:pPr>
            <a:r>
              <a:rPr lang="en-US" sz="3600" b="1" dirty="0"/>
              <a:t>$</a:t>
            </a:r>
            <a:r>
              <a:rPr lang="en-US" sz="3600" b="1" dirty="0" err="1"/>
              <a:t>num</a:t>
            </a:r>
            <a:r>
              <a:rPr lang="en-US" sz="3600" b="1" dirty="0"/>
              <a:t> = 10;</a:t>
            </a:r>
          </a:p>
          <a:p>
            <a:pPr marL="0" indent="0">
              <a:buNone/>
            </a:pPr>
            <a:r>
              <a:rPr lang="en-US" sz="3600" b="1" dirty="0"/>
              <a:t>do</a:t>
            </a:r>
          </a:p>
          <a:p>
            <a:pPr marL="0" indent="0">
              <a:buNone/>
            </a:pPr>
            <a:r>
              <a:rPr lang="en-US" sz="3600" b="1" dirty="0"/>
              <a:t>	{</a:t>
            </a:r>
          </a:p>
          <a:p>
            <a:pPr marL="0" indent="0">
              <a:buNone/>
            </a:pPr>
            <a:r>
              <a:rPr lang="en-US" sz="3600" b="1" dirty="0"/>
              <a:t>		echo “The first number is $</a:t>
            </a:r>
            <a:r>
              <a:rPr lang="en-US" sz="3600" b="1" dirty="0" err="1"/>
              <a:t>num</a:t>
            </a:r>
            <a:r>
              <a:rPr lang="en-US" sz="3600" b="1" dirty="0"/>
              <a:t>”;</a:t>
            </a:r>
          </a:p>
          <a:p>
            <a:pPr marL="0" indent="0">
              <a:buNone/>
            </a:pPr>
            <a:r>
              <a:rPr lang="en-US" sz="3600" b="1" dirty="0"/>
              <a:t>		echo ‘&lt;</a:t>
            </a:r>
            <a:r>
              <a:rPr lang="en-US" sz="3600" b="1" dirty="0" err="1"/>
              <a:t>br</a:t>
            </a:r>
            <a:r>
              <a:rPr lang="en-US" sz="3600" b="1" dirty="0"/>
              <a:t>&gt;’;</a:t>
            </a:r>
          </a:p>
          <a:p>
            <a:pPr marL="0" indent="0">
              <a:buNone/>
            </a:pPr>
            <a:r>
              <a:rPr lang="en-US" sz="3600" b="1" dirty="0"/>
              <a:t>		$</a:t>
            </a:r>
            <a:r>
              <a:rPr lang="en-US" sz="3600" b="1" dirty="0" err="1"/>
              <a:t>num</a:t>
            </a:r>
            <a:r>
              <a:rPr lang="en-US" sz="3600" b="1" dirty="0"/>
              <a:t>++;</a:t>
            </a:r>
          </a:p>
          <a:p>
            <a:pPr marL="0" indent="0">
              <a:buNone/>
            </a:pPr>
            <a:r>
              <a:rPr lang="en-US" sz="3600" b="1" dirty="0"/>
              <a:t>	}</a:t>
            </a:r>
          </a:p>
          <a:p>
            <a:pPr marL="0" indent="0">
              <a:buNone/>
            </a:pPr>
            <a:r>
              <a:rPr lang="en-US" sz="3600" b="1" dirty="0"/>
              <a:t>While ($</a:t>
            </a:r>
            <a:r>
              <a:rPr lang="en-US" sz="3600" b="1" dirty="0" err="1"/>
              <a:t>num</a:t>
            </a:r>
            <a:r>
              <a:rPr lang="en-US" sz="3600" b="1" dirty="0"/>
              <a:t> &lt; 10);</a:t>
            </a:r>
          </a:p>
          <a:p>
            <a:pPr marL="0" indent="0">
              <a:buNone/>
            </a:pPr>
            <a:r>
              <a:rPr lang="en-US" sz="3600" b="1" dirty="0"/>
              <a:t>?&gt;</a:t>
            </a:r>
          </a:p>
        </p:txBody>
      </p:sp>
      <p:sp>
        <p:nvSpPr>
          <p:cNvPr id="4" name="Date Placeholder 3"/>
          <p:cNvSpPr>
            <a:spLocks noGrp="1"/>
          </p:cNvSpPr>
          <p:nvPr>
            <p:ph type="dt" sz="half" idx="10"/>
          </p:nvPr>
        </p:nvSpPr>
        <p:spPr/>
        <p:txBody>
          <a:bodyPr/>
          <a:lstStyle/>
          <a:p>
            <a:fld id="{EAB03797-3CD7-428A-9598-8A53DBB16149}"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28</a:t>
            </a:fld>
            <a:endParaRPr lang="en-US"/>
          </a:p>
        </p:txBody>
      </p:sp>
    </p:spTree>
    <p:extLst>
      <p:ext uri="{BB962C8B-B14F-4D97-AF65-F5344CB8AC3E}">
        <p14:creationId xmlns:p14="http://schemas.microsoft.com/office/powerpoint/2010/main" val="2349614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0" y="2438400"/>
            <a:ext cx="8041439" cy="2097259"/>
          </a:xfrm>
        </p:spPr>
        <p:txBody>
          <a:bodyPr>
            <a:normAutofit fontScale="90000"/>
          </a:bodyPr>
          <a:lstStyle/>
          <a:p>
            <a:r>
              <a:rPr lang="en-US" sz="16600" b="1" dirty="0">
                <a:effectLst>
                  <a:outerShdw blurRad="38100" dist="38100" dir="2700000" algn="tl">
                    <a:srgbClr val="000000">
                      <a:alpha val="43137"/>
                    </a:srgbClr>
                  </a:outerShdw>
                </a:effectLst>
              </a:rPr>
              <a:t>  </a:t>
            </a:r>
            <a:r>
              <a:rPr lang="en-US" sz="16600" b="1" dirty="0">
                <a:solidFill>
                  <a:srgbClr val="00B0F0"/>
                </a:solidFill>
                <a:effectLst>
                  <a:outerShdw blurRad="38100" dist="38100" dir="2700000" algn="tl">
                    <a:srgbClr val="000000">
                      <a:alpha val="43137"/>
                    </a:srgbClr>
                  </a:outerShdw>
                </a:effectLst>
              </a:rPr>
              <a:t>Arrays</a:t>
            </a:r>
          </a:p>
        </p:txBody>
      </p:sp>
      <p:sp>
        <p:nvSpPr>
          <p:cNvPr id="2" name="Date Placeholder 1"/>
          <p:cNvSpPr>
            <a:spLocks noGrp="1"/>
          </p:cNvSpPr>
          <p:nvPr>
            <p:ph type="dt" sz="half" idx="10"/>
          </p:nvPr>
        </p:nvSpPr>
        <p:spPr/>
        <p:txBody>
          <a:bodyPr/>
          <a:lstStyle/>
          <a:p>
            <a:fld id="{61556D7D-49B5-4DEC-BAF2-9B8A0E7229E8}" type="datetime1">
              <a:rPr lang="en-US" smtClean="0"/>
              <a:t>2/28/2024</a:t>
            </a:fld>
            <a:endParaRPr lang="en-US"/>
          </a:p>
        </p:txBody>
      </p:sp>
      <p:sp>
        <p:nvSpPr>
          <p:cNvPr id="3" name="Footer Placeholder 2"/>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29</a:t>
            </a:fld>
            <a:endParaRPr lang="en-US"/>
          </a:p>
        </p:txBody>
      </p:sp>
    </p:spTree>
    <p:extLst>
      <p:ext uri="{BB962C8B-B14F-4D97-AF65-F5344CB8AC3E}">
        <p14:creationId xmlns:p14="http://schemas.microsoft.com/office/powerpoint/2010/main" val="5701391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00B0F0"/>
                </a:solidFill>
              </a:rPr>
              <a:t>Arrays</a:t>
            </a:r>
          </a:p>
        </p:txBody>
      </p:sp>
      <p:sp>
        <p:nvSpPr>
          <p:cNvPr id="7" name="Content Placeholder 6"/>
          <p:cNvSpPr>
            <a:spLocks noGrp="1"/>
          </p:cNvSpPr>
          <p:nvPr>
            <p:ph idx="1"/>
          </p:nvPr>
        </p:nvSpPr>
        <p:spPr>
          <a:xfrm>
            <a:off x="1942415" y="1676400"/>
            <a:ext cx="6591985" cy="4234822"/>
          </a:xfrm>
        </p:spPr>
        <p:txBody>
          <a:bodyPr>
            <a:normAutofit/>
          </a:bodyPr>
          <a:lstStyle/>
          <a:p>
            <a:pPr>
              <a:buFont typeface="Wingdings" pitchFamily="2" charset="2"/>
              <a:buChar char="Ø"/>
            </a:pPr>
            <a:r>
              <a:rPr lang="en-US" sz="3600" dirty="0"/>
              <a:t>is a data structure that stores one or more </a:t>
            </a:r>
            <a:r>
              <a:rPr lang="en-US" sz="3600" b="1" dirty="0"/>
              <a:t>similar type </a:t>
            </a:r>
            <a:r>
              <a:rPr lang="en-US" sz="3600" dirty="0"/>
              <a:t>of values </a:t>
            </a:r>
            <a:r>
              <a:rPr lang="en-US" sz="3600" b="1" dirty="0"/>
              <a:t>in a single value.</a:t>
            </a:r>
          </a:p>
          <a:p>
            <a:pPr>
              <a:buFont typeface="Wingdings" pitchFamily="2" charset="2"/>
              <a:buChar char="Ø"/>
            </a:pPr>
            <a:endParaRPr lang="en-US" sz="3600" b="1" dirty="0"/>
          </a:p>
        </p:txBody>
      </p:sp>
      <p:sp>
        <p:nvSpPr>
          <p:cNvPr id="2" name="Date Placeholder 1"/>
          <p:cNvSpPr>
            <a:spLocks noGrp="1"/>
          </p:cNvSpPr>
          <p:nvPr>
            <p:ph type="dt" sz="half" idx="10"/>
          </p:nvPr>
        </p:nvSpPr>
        <p:spPr/>
        <p:txBody>
          <a:bodyPr/>
          <a:lstStyle/>
          <a:p>
            <a:fld id="{E2E6C1F3-07DA-4894-BFA9-3BD52AB2513A}" type="datetime1">
              <a:rPr lang="en-US" smtClean="0"/>
              <a:t>2/28/2024</a:t>
            </a:fld>
            <a:endParaRPr lang="en-US"/>
          </a:p>
        </p:txBody>
      </p:sp>
      <p:sp>
        <p:nvSpPr>
          <p:cNvPr id="3" name="Footer Placeholder 2"/>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30</a:t>
            </a:fld>
            <a:endParaRPr lang="en-US"/>
          </a:p>
        </p:txBody>
      </p:sp>
    </p:spTree>
    <p:extLst>
      <p:ext uri="{BB962C8B-B14F-4D97-AF65-F5344CB8AC3E}">
        <p14:creationId xmlns:p14="http://schemas.microsoft.com/office/powerpoint/2010/main" val="2388410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624110"/>
            <a:ext cx="6477000" cy="823690"/>
          </a:xfrm>
        </p:spPr>
        <p:txBody>
          <a:bodyPr/>
          <a:lstStyle/>
          <a:p>
            <a:r>
              <a:rPr lang="en-US" dirty="0">
                <a:solidFill>
                  <a:srgbClr val="00B0F0"/>
                </a:solidFill>
              </a:rPr>
              <a:t>Types</a:t>
            </a:r>
          </a:p>
        </p:txBody>
      </p:sp>
      <p:sp>
        <p:nvSpPr>
          <p:cNvPr id="3" name="Content Placeholder 2"/>
          <p:cNvSpPr>
            <a:spLocks noGrp="1"/>
          </p:cNvSpPr>
          <p:nvPr>
            <p:ph idx="1"/>
          </p:nvPr>
        </p:nvSpPr>
        <p:spPr>
          <a:xfrm>
            <a:off x="1828801" y="1447800"/>
            <a:ext cx="6705600" cy="4463422"/>
          </a:xfrm>
        </p:spPr>
        <p:txBody>
          <a:bodyPr>
            <a:normAutofit/>
          </a:bodyPr>
          <a:lstStyle/>
          <a:p>
            <a:pPr marL="457200" indent="-457200">
              <a:buFont typeface="+mj-lt"/>
              <a:buAutoNum type="arabicPeriod"/>
            </a:pPr>
            <a:r>
              <a:rPr lang="en-US" sz="4400" dirty="0"/>
              <a:t>Numeric</a:t>
            </a:r>
          </a:p>
          <a:p>
            <a:pPr marL="457200" indent="-457200">
              <a:buFont typeface="+mj-lt"/>
              <a:buAutoNum type="arabicPeriod"/>
            </a:pPr>
            <a:r>
              <a:rPr lang="en-US" sz="4400" dirty="0"/>
              <a:t>Associative</a:t>
            </a:r>
          </a:p>
          <a:p>
            <a:pPr marL="457200" indent="-457200">
              <a:buFont typeface="+mj-lt"/>
              <a:buAutoNum type="arabicPeriod"/>
            </a:pPr>
            <a:r>
              <a:rPr lang="en-US" sz="4400" dirty="0"/>
              <a:t>Multidimensional</a:t>
            </a:r>
          </a:p>
          <a:p>
            <a:pPr marL="0" indent="0">
              <a:buNone/>
            </a:pPr>
            <a:endParaRPr lang="en-US" sz="4400" dirty="0"/>
          </a:p>
        </p:txBody>
      </p:sp>
      <p:sp>
        <p:nvSpPr>
          <p:cNvPr id="4" name="Date Placeholder 3"/>
          <p:cNvSpPr>
            <a:spLocks noGrp="1"/>
          </p:cNvSpPr>
          <p:nvPr>
            <p:ph type="dt" sz="half" idx="10"/>
          </p:nvPr>
        </p:nvSpPr>
        <p:spPr/>
        <p:txBody>
          <a:bodyPr/>
          <a:lstStyle/>
          <a:p>
            <a:fld id="{F4D875D0-CB74-469D-9A78-A87C1AD40A43}"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31</a:t>
            </a:fld>
            <a:endParaRPr lang="en-US"/>
          </a:p>
        </p:txBody>
      </p:sp>
    </p:spTree>
    <p:extLst>
      <p:ext uri="{BB962C8B-B14F-4D97-AF65-F5344CB8AC3E}">
        <p14:creationId xmlns:p14="http://schemas.microsoft.com/office/powerpoint/2010/main" val="4124482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 Arrays</a:t>
            </a:r>
          </a:p>
        </p:txBody>
      </p:sp>
      <p:sp>
        <p:nvSpPr>
          <p:cNvPr id="3" name="Content Placeholder 2"/>
          <p:cNvSpPr>
            <a:spLocks noGrp="1"/>
          </p:cNvSpPr>
          <p:nvPr>
            <p:ph idx="1"/>
          </p:nvPr>
        </p:nvSpPr>
        <p:spPr>
          <a:xfrm>
            <a:off x="1676401" y="1905000"/>
            <a:ext cx="6858000" cy="4006222"/>
          </a:xfrm>
        </p:spPr>
        <p:txBody>
          <a:bodyPr>
            <a:normAutofit fontScale="92500" lnSpcReduction="20000"/>
          </a:bodyPr>
          <a:lstStyle/>
          <a:p>
            <a:pPr>
              <a:buFont typeface="Wingdings" pitchFamily="2" charset="2"/>
              <a:buChar char="Ø"/>
            </a:pPr>
            <a:r>
              <a:rPr lang="en-US" sz="4000" dirty="0"/>
              <a:t>array with a </a:t>
            </a:r>
            <a:r>
              <a:rPr lang="en-US" sz="4000" b="1" dirty="0"/>
              <a:t>numeric index.</a:t>
            </a:r>
          </a:p>
          <a:p>
            <a:pPr>
              <a:buFont typeface="Wingdings" pitchFamily="2" charset="2"/>
              <a:buChar char="Ø"/>
            </a:pPr>
            <a:r>
              <a:rPr lang="en-US" sz="4000" dirty="0"/>
              <a:t>By default array index starts from </a:t>
            </a:r>
            <a:r>
              <a:rPr lang="en-US" sz="4000" b="1" dirty="0"/>
              <a:t>zero.</a:t>
            </a:r>
          </a:p>
          <a:p>
            <a:pPr marL="0" indent="0">
              <a:buNone/>
            </a:pPr>
            <a:r>
              <a:rPr lang="en-US" sz="4000" dirty="0"/>
              <a:t>$numbers = array( 1, 2, 3, 4, 5);</a:t>
            </a:r>
          </a:p>
          <a:p>
            <a:pPr marL="0" indent="0">
              <a:buNone/>
            </a:pPr>
            <a:r>
              <a:rPr lang="en-US" sz="4000" b="1" dirty="0"/>
              <a:t>$numbers[0] = “one”;</a:t>
            </a:r>
          </a:p>
          <a:p>
            <a:pPr marL="0" indent="0">
              <a:buNone/>
            </a:pPr>
            <a:r>
              <a:rPr lang="en-US" sz="4000" b="1" dirty="0"/>
              <a:t>$numbers[1] = ‘two’;</a:t>
            </a:r>
          </a:p>
        </p:txBody>
      </p:sp>
      <p:sp>
        <p:nvSpPr>
          <p:cNvPr id="4" name="Date Placeholder 3"/>
          <p:cNvSpPr>
            <a:spLocks noGrp="1"/>
          </p:cNvSpPr>
          <p:nvPr>
            <p:ph type="dt" sz="half" idx="10"/>
          </p:nvPr>
        </p:nvSpPr>
        <p:spPr/>
        <p:txBody>
          <a:bodyPr/>
          <a:lstStyle/>
          <a:p>
            <a:fld id="{563034C1-AA80-4CB9-B06C-F8D133A65D3D}"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32</a:t>
            </a:fld>
            <a:endParaRPr lang="en-US"/>
          </a:p>
        </p:txBody>
      </p:sp>
    </p:spTree>
    <p:extLst>
      <p:ext uri="{BB962C8B-B14F-4D97-AF65-F5344CB8AC3E}">
        <p14:creationId xmlns:p14="http://schemas.microsoft.com/office/powerpoint/2010/main" val="35731757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Associative Array</a:t>
            </a:r>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sz="4000" dirty="0"/>
              <a:t>have their </a:t>
            </a:r>
            <a:r>
              <a:rPr lang="en-US" sz="4000" b="1" dirty="0"/>
              <a:t>index as string </a:t>
            </a:r>
          </a:p>
          <a:p>
            <a:pPr>
              <a:buFont typeface="Wingdings" pitchFamily="2" charset="2"/>
              <a:buChar char="Ø"/>
            </a:pPr>
            <a:r>
              <a:rPr lang="en-US" sz="4000" b="1" dirty="0"/>
              <a:t>key and values</a:t>
            </a:r>
          </a:p>
          <a:p>
            <a:pPr>
              <a:buFont typeface="Wingdings" pitchFamily="2" charset="2"/>
              <a:buChar char="Ø"/>
            </a:pPr>
            <a:r>
              <a:rPr lang="en-US" sz="4000" dirty="0"/>
              <a:t>Use </a:t>
            </a:r>
            <a:r>
              <a:rPr lang="en-US" sz="4000" b="1" dirty="0"/>
              <a:t>single quotes </a:t>
            </a:r>
            <a:r>
              <a:rPr lang="en-US" sz="4000" dirty="0"/>
              <a:t>while printing Associative Arrays</a:t>
            </a:r>
          </a:p>
        </p:txBody>
      </p:sp>
      <p:sp>
        <p:nvSpPr>
          <p:cNvPr id="4" name="Date Placeholder 3"/>
          <p:cNvSpPr>
            <a:spLocks noGrp="1"/>
          </p:cNvSpPr>
          <p:nvPr>
            <p:ph type="dt" sz="half" idx="10"/>
          </p:nvPr>
        </p:nvSpPr>
        <p:spPr/>
        <p:txBody>
          <a:bodyPr/>
          <a:lstStyle/>
          <a:p>
            <a:fld id="{187D7DE1-6EA7-457E-9FAF-3BD12D1C3BEE}"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33</a:t>
            </a:fld>
            <a:endParaRPr lang="en-US"/>
          </a:p>
        </p:txBody>
      </p:sp>
    </p:spTree>
    <p:extLst>
      <p:ext uri="{BB962C8B-B14F-4D97-AF65-F5344CB8AC3E}">
        <p14:creationId xmlns:p14="http://schemas.microsoft.com/office/powerpoint/2010/main" val="1754990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a:t>
            </a:r>
            <a:r>
              <a:rPr lang="en-US" dirty="0"/>
              <a:t>…</a:t>
            </a:r>
          </a:p>
        </p:txBody>
      </p:sp>
      <p:sp>
        <p:nvSpPr>
          <p:cNvPr id="3" name="Content Placeholder 2"/>
          <p:cNvSpPr>
            <a:spLocks noGrp="1"/>
          </p:cNvSpPr>
          <p:nvPr>
            <p:ph idx="1"/>
          </p:nvPr>
        </p:nvSpPr>
        <p:spPr>
          <a:xfrm>
            <a:off x="304800" y="1447800"/>
            <a:ext cx="8534400" cy="3951337"/>
          </a:xfrm>
        </p:spPr>
        <p:txBody>
          <a:bodyPr>
            <a:normAutofit lnSpcReduction="10000"/>
          </a:bodyPr>
          <a:lstStyle/>
          <a:p>
            <a:pPr marL="0" indent="0">
              <a:buNone/>
            </a:pPr>
            <a:r>
              <a:rPr lang="en-US" sz="3200" b="1" dirty="0"/>
              <a:t>$salaries = array( </a:t>
            </a:r>
          </a:p>
          <a:p>
            <a:pPr marL="0" indent="0">
              <a:buNone/>
            </a:pPr>
            <a:r>
              <a:rPr lang="en-US" sz="3200" b="1" dirty="0"/>
              <a:t>“</a:t>
            </a:r>
            <a:r>
              <a:rPr lang="en-US" sz="3200" b="1" dirty="0" err="1"/>
              <a:t>kebede</a:t>
            </a:r>
            <a:r>
              <a:rPr lang="en-US" sz="3200" b="1" dirty="0"/>
              <a:t>" =&gt; 2000,  “</a:t>
            </a:r>
            <a:r>
              <a:rPr lang="en-US" sz="3200" b="1" dirty="0" err="1"/>
              <a:t>chala</a:t>
            </a:r>
            <a:r>
              <a:rPr lang="en-US" sz="3200" b="1" dirty="0"/>
              <a:t>" =&gt; 1000, </a:t>
            </a:r>
          </a:p>
          <a:p>
            <a:pPr marL="0" indent="0">
              <a:buNone/>
            </a:pPr>
            <a:r>
              <a:rPr lang="en-US" sz="3200" b="1" dirty="0"/>
              <a:t>		  );</a:t>
            </a:r>
          </a:p>
          <a:p>
            <a:pPr marL="0" indent="0">
              <a:buNone/>
            </a:pPr>
            <a:r>
              <a:rPr lang="en-US" sz="3200" b="1" dirty="0"/>
              <a:t>echo "Salary of </a:t>
            </a:r>
            <a:r>
              <a:rPr lang="en-US" sz="3200" b="1" dirty="0" err="1"/>
              <a:t>kebede</a:t>
            </a:r>
            <a:r>
              <a:rPr lang="en-US" sz="3200" b="1" dirty="0"/>
              <a:t> is ". $salaries[‘</a:t>
            </a:r>
            <a:r>
              <a:rPr lang="en-US" sz="3200" b="1" dirty="0" err="1"/>
              <a:t>kebede</a:t>
            </a:r>
            <a:r>
              <a:rPr lang="en-US" sz="3200" b="1" dirty="0"/>
              <a:t>'] . "&lt;</a:t>
            </a:r>
            <a:r>
              <a:rPr lang="en-US" sz="3200" b="1" dirty="0" err="1"/>
              <a:t>br</a:t>
            </a:r>
            <a:r>
              <a:rPr lang="en-US" sz="3200" b="1" dirty="0"/>
              <a:t>&gt;";</a:t>
            </a:r>
          </a:p>
          <a:p>
            <a:pPr marL="0" indent="0">
              <a:buNone/>
            </a:pPr>
            <a:r>
              <a:rPr lang="en-US" sz="3200" b="1" dirty="0"/>
              <a:t>echo "Salary of </a:t>
            </a:r>
            <a:r>
              <a:rPr lang="en-US" sz="3200" b="1" dirty="0" err="1"/>
              <a:t>chala</a:t>
            </a:r>
            <a:r>
              <a:rPr lang="en-US" sz="3200" b="1" dirty="0"/>
              <a:t> is ".  $salaries[‘</a:t>
            </a:r>
            <a:r>
              <a:rPr lang="en-US" sz="3200" b="1" dirty="0" err="1"/>
              <a:t>chala</a:t>
            </a:r>
            <a:r>
              <a:rPr lang="en-US" sz="3200" b="1" dirty="0"/>
              <a:t>'];</a:t>
            </a:r>
          </a:p>
          <a:p>
            <a:pPr marL="0" indent="0">
              <a:buNone/>
            </a:pPr>
            <a:endParaRPr lang="en-US" sz="3200" b="1" dirty="0"/>
          </a:p>
          <a:p>
            <a:pPr>
              <a:buFont typeface="Wingdings" pitchFamily="2" charset="2"/>
              <a:buChar char="Ø"/>
            </a:pPr>
            <a:endParaRPr lang="en-US" sz="4000" b="1" dirty="0"/>
          </a:p>
        </p:txBody>
      </p:sp>
      <p:sp>
        <p:nvSpPr>
          <p:cNvPr id="4" name="Date Placeholder 3"/>
          <p:cNvSpPr>
            <a:spLocks noGrp="1"/>
          </p:cNvSpPr>
          <p:nvPr>
            <p:ph type="dt" sz="half" idx="10"/>
          </p:nvPr>
        </p:nvSpPr>
        <p:spPr/>
        <p:txBody>
          <a:bodyPr/>
          <a:lstStyle/>
          <a:p>
            <a:fld id="{FDE7FF1F-F213-4AC6-B04A-ED7683F844D7}"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34</a:t>
            </a:fld>
            <a:endParaRPr lang="en-US"/>
          </a:p>
        </p:txBody>
      </p:sp>
    </p:spTree>
    <p:extLst>
      <p:ext uri="{BB962C8B-B14F-4D97-AF65-F5344CB8AC3E}">
        <p14:creationId xmlns:p14="http://schemas.microsoft.com/office/powerpoint/2010/main" val="1624852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1" y="352740"/>
            <a:ext cx="6705600" cy="1552260"/>
          </a:xfrm>
        </p:spPr>
        <p:txBody>
          <a:bodyPr/>
          <a:lstStyle/>
          <a:p>
            <a:r>
              <a:rPr lang="en-US" b="1" dirty="0">
                <a:solidFill>
                  <a:srgbClr val="00B0F0"/>
                </a:solidFill>
              </a:rPr>
              <a:t>Multidimensional Array</a:t>
            </a:r>
          </a:p>
        </p:txBody>
      </p:sp>
      <p:sp>
        <p:nvSpPr>
          <p:cNvPr id="3" name="Content Placeholder 2"/>
          <p:cNvSpPr>
            <a:spLocks noGrp="1"/>
          </p:cNvSpPr>
          <p:nvPr>
            <p:ph idx="1"/>
          </p:nvPr>
        </p:nvSpPr>
        <p:spPr>
          <a:xfrm>
            <a:off x="838200" y="1600200"/>
            <a:ext cx="7848600" cy="4389525"/>
          </a:xfrm>
        </p:spPr>
        <p:txBody>
          <a:bodyPr>
            <a:normAutofit/>
          </a:bodyPr>
          <a:lstStyle/>
          <a:p>
            <a:pPr>
              <a:buFont typeface="Wingdings" pitchFamily="2" charset="2"/>
              <a:buChar char="Ø"/>
            </a:pPr>
            <a:r>
              <a:rPr lang="en-US" sz="4000" b="1" dirty="0"/>
              <a:t>each element </a:t>
            </a:r>
            <a:r>
              <a:rPr lang="en-US" sz="4000" dirty="0"/>
              <a:t>in the </a:t>
            </a:r>
            <a:r>
              <a:rPr lang="en-US" sz="4000" b="1" dirty="0"/>
              <a:t>main array </a:t>
            </a:r>
            <a:r>
              <a:rPr lang="en-US" sz="4000" dirty="0"/>
              <a:t>can also be an </a:t>
            </a:r>
            <a:r>
              <a:rPr lang="en-US" sz="4000" b="1" dirty="0"/>
              <a:t>array</a:t>
            </a:r>
          </a:p>
          <a:p>
            <a:pPr>
              <a:buFont typeface="Wingdings" pitchFamily="2" charset="2"/>
              <a:buChar char="Ø"/>
            </a:pPr>
            <a:r>
              <a:rPr lang="en-US" sz="4000" dirty="0"/>
              <a:t>Values accessed using </a:t>
            </a:r>
            <a:r>
              <a:rPr lang="en-US" sz="4000" b="1" dirty="0"/>
              <a:t>multiple index.</a:t>
            </a:r>
          </a:p>
          <a:p>
            <a:pPr>
              <a:buFont typeface="Wingdings" pitchFamily="2" charset="2"/>
              <a:buChar char="Ø"/>
            </a:pPr>
            <a:endParaRPr lang="en-US" sz="4000" b="1" dirty="0"/>
          </a:p>
        </p:txBody>
      </p:sp>
      <p:sp>
        <p:nvSpPr>
          <p:cNvPr id="4" name="Date Placeholder 3"/>
          <p:cNvSpPr>
            <a:spLocks noGrp="1"/>
          </p:cNvSpPr>
          <p:nvPr>
            <p:ph type="dt" sz="half" idx="10"/>
          </p:nvPr>
        </p:nvSpPr>
        <p:spPr/>
        <p:txBody>
          <a:bodyPr/>
          <a:lstStyle/>
          <a:p>
            <a:fld id="{1112F123-5931-4CBB-9105-D59585010A73}" type="datetime1">
              <a:rPr lang="en-US" smtClean="0"/>
              <a:t>2/28/2024</a:t>
            </a:fld>
            <a:endParaRPr lang="en-US"/>
          </a:p>
        </p:txBody>
      </p:sp>
      <p:sp>
        <p:nvSpPr>
          <p:cNvPr id="6" name="Footer Placeholder 5"/>
          <p:cNvSpPr>
            <a:spLocks noGrp="1"/>
          </p:cNvSpPr>
          <p:nvPr>
            <p:ph type="ftr" sz="quarter" idx="11"/>
          </p:nvPr>
        </p:nvSpPr>
        <p:spPr/>
        <p:txBody>
          <a:bodyPr/>
          <a:lstStyle/>
          <a:p>
            <a:r>
              <a:rPr lang="en-US"/>
              <a:t>compiled by: IT dep't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35</a:t>
            </a:fld>
            <a:endParaRPr lang="en-US"/>
          </a:p>
        </p:txBody>
      </p:sp>
    </p:spTree>
    <p:extLst>
      <p:ext uri="{BB962C8B-B14F-4D97-AF65-F5344CB8AC3E}">
        <p14:creationId xmlns:p14="http://schemas.microsoft.com/office/powerpoint/2010/main" val="1455057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1" y="352740"/>
            <a:ext cx="6781799" cy="800168"/>
          </a:xfrm>
        </p:spPr>
        <p:txBody>
          <a:bodyPr/>
          <a:lstStyle/>
          <a:p>
            <a:r>
              <a:rPr lang="en-US" dirty="0" err="1"/>
              <a:t>Cont</a:t>
            </a:r>
            <a:r>
              <a:rPr lang="en-US" dirty="0"/>
              <a:t>…</a:t>
            </a:r>
          </a:p>
        </p:txBody>
      </p:sp>
      <p:sp>
        <p:nvSpPr>
          <p:cNvPr id="3" name="Content Placeholder 2"/>
          <p:cNvSpPr>
            <a:spLocks noGrp="1"/>
          </p:cNvSpPr>
          <p:nvPr>
            <p:ph idx="1"/>
          </p:nvPr>
        </p:nvSpPr>
        <p:spPr>
          <a:xfrm>
            <a:off x="1752601" y="1295400"/>
            <a:ext cx="6781800" cy="4615822"/>
          </a:xfrm>
        </p:spPr>
        <p:txBody>
          <a:bodyPr>
            <a:noAutofit/>
          </a:bodyPr>
          <a:lstStyle/>
          <a:p>
            <a:pPr marL="0" indent="0">
              <a:buNone/>
            </a:pPr>
            <a:r>
              <a:rPr lang="en-US" sz="2800" b="1" dirty="0"/>
              <a:t> $marks = array( </a:t>
            </a:r>
          </a:p>
          <a:p>
            <a:pPr marL="0" indent="0">
              <a:buNone/>
            </a:pPr>
            <a:r>
              <a:rPr lang="en-US" sz="2800" b="1" dirty="0"/>
              <a:t>		“</a:t>
            </a:r>
            <a:r>
              <a:rPr lang="en-US" sz="2800" b="1" dirty="0" err="1"/>
              <a:t>kebede</a:t>
            </a:r>
            <a:r>
              <a:rPr lang="en-US" sz="2800" b="1" dirty="0"/>
              <a:t>" =&gt; array</a:t>
            </a:r>
          </a:p>
          <a:p>
            <a:pPr marL="0" indent="0">
              <a:buNone/>
            </a:pPr>
            <a:r>
              <a:rPr lang="en-US" sz="2800" b="1" dirty="0"/>
              <a:t>		(</a:t>
            </a:r>
          </a:p>
          <a:p>
            <a:pPr marL="0" indent="0">
              <a:buNone/>
            </a:pPr>
            <a:r>
              <a:rPr lang="en-US" sz="2800" b="1" dirty="0"/>
              <a:t>		"physics" =&gt; 35,	    </a:t>
            </a:r>
          </a:p>
          <a:p>
            <a:pPr marL="0" indent="0">
              <a:buNone/>
            </a:pPr>
            <a:r>
              <a:rPr lang="en-US" sz="2800" b="1" dirty="0"/>
              <a:t>		"</a:t>
            </a:r>
            <a:r>
              <a:rPr lang="en-US" sz="2800" b="1" dirty="0" err="1"/>
              <a:t>maths</a:t>
            </a:r>
            <a:r>
              <a:rPr lang="en-US" sz="2800" b="1" dirty="0"/>
              <a:t>" =&gt; 30	    </a:t>
            </a:r>
          </a:p>
          <a:p>
            <a:pPr marL="0" indent="0">
              <a:buNone/>
            </a:pPr>
            <a:r>
              <a:rPr lang="en-US" sz="2800" b="1" dirty="0"/>
              <a:t>		)</a:t>
            </a:r>
          </a:p>
          <a:p>
            <a:pPr marL="0" indent="0">
              <a:buNone/>
            </a:pPr>
            <a:r>
              <a:rPr lang="en-US" sz="2800" b="1" dirty="0"/>
              <a:t>);</a:t>
            </a:r>
          </a:p>
          <a:p>
            <a:pPr marL="0" indent="0">
              <a:buNone/>
            </a:pPr>
            <a:r>
              <a:rPr lang="en-US" sz="2800" b="1" dirty="0"/>
              <a:t>echo "Marks for </a:t>
            </a:r>
            <a:r>
              <a:rPr lang="en-US" sz="2800" b="1" dirty="0" err="1"/>
              <a:t>kebede</a:t>
            </a:r>
            <a:r>
              <a:rPr lang="en-US" sz="2800" b="1" dirty="0"/>
              <a:t> in physics : " ;</a:t>
            </a:r>
          </a:p>
          <a:p>
            <a:pPr marL="0" indent="0">
              <a:buNone/>
            </a:pPr>
            <a:r>
              <a:rPr lang="en-US" sz="2800" b="1" dirty="0"/>
              <a:t>   echo $marks[‘</a:t>
            </a:r>
            <a:r>
              <a:rPr lang="en-US" sz="2800" b="1" dirty="0" err="1"/>
              <a:t>kebede</a:t>
            </a:r>
            <a:r>
              <a:rPr lang="en-US" sz="2800" b="1" dirty="0"/>
              <a:t>']['physics'] . "&lt;</a:t>
            </a:r>
            <a:r>
              <a:rPr lang="en-US" sz="2800" b="1" dirty="0" err="1"/>
              <a:t>br</a:t>
            </a:r>
            <a:r>
              <a:rPr lang="en-US" sz="2800" b="1" dirty="0"/>
              <a:t> /&gt;"; </a:t>
            </a:r>
          </a:p>
          <a:p>
            <a:pPr marL="0" indent="0">
              <a:buNone/>
            </a:pPr>
            <a:endParaRPr lang="en-US" sz="2800" b="1" dirty="0"/>
          </a:p>
          <a:p>
            <a:pPr marL="0" indent="0">
              <a:buNone/>
            </a:pPr>
            <a:endParaRPr lang="en-US" sz="2800" b="1" dirty="0"/>
          </a:p>
        </p:txBody>
      </p:sp>
      <p:sp>
        <p:nvSpPr>
          <p:cNvPr id="4" name="Date Placeholder 3"/>
          <p:cNvSpPr>
            <a:spLocks noGrp="1"/>
          </p:cNvSpPr>
          <p:nvPr>
            <p:ph type="dt" sz="half" idx="10"/>
          </p:nvPr>
        </p:nvSpPr>
        <p:spPr/>
        <p:txBody>
          <a:bodyPr/>
          <a:lstStyle/>
          <a:p>
            <a:fld id="{739690C6-5AFE-47CC-ABED-517DC466E61D}" type="datetime1">
              <a:rPr lang="en-US" smtClean="0"/>
              <a:t>2/28/2024</a:t>
            </a:fld>
            <a:endParaRPr lang="en-US"/>
          </a:p>
        </p:txBody>
      </p:sp>
      <p:sp>
        <p:nvSpPr>
          <p:cNvPr id="6" name="Footer Placeholder 5"/>
          <p:cNvSpPr>
            <a:spLocks noGrp="1"/>
          </p:cNvSpPr>
          <p:nvPr>
            <p:ph type="ftr" sz="quarter" idx="11"/>
          </p:nvPr>
        </p:nvSpPr>
        <p:spPr/>
        <p:txBody>
          <a:bodyPr/>
          <a:lstStyle/>
          <a:p>
            <a:r>
              <a:rPr lang="en-US" dirty="0"/>
              <a:t>compiled by: IT </a:t>
            </a:r>
            <a:r>
              <a:rPr lang="en-US" dirty="0" err="1"/>
              <a:t>dep't</a:t>
            </a:r>
            <a:r>
              <a:rPr lang="en-US" dirty="0"/>
              <a:t> staffs</a:t>
            </a:r>
          </a:p>
        </p:txBody>
      </p:sp>
      <p:sp>
        <p:nvSpPr>
          <p:cNvPr id="5" name="Slide Number Placeholder 4"/>
          <p:cNvSpPr>
            <a:spLocks noGrp="1"/>
          </p:cNvSpPr>
          <p:nvPr>
            <p:ph type="sldNum" sz="quarter" idx="12"/>
          </p:nvPr>
        </p:nvSpPr>
        <p:spPr/>
        <p:txBody>
          <a:bodyPr/>
          <a:lstStyle/>
          <a:p>
            <a:fld id="{0164FE31-0E14-4B83-80DC-64DA42BE9651}" type="slidenum">
              <a:rPr lang="en-US" smtClean="0"/>
              <a:pPr/>
              <a:t>36</a:t>
            </a:fld>
            <a:endParaRPr lang="en-US"/>
          </a:p>
        </p:txBody>
      </p:sp>
    </p:spTree>
    <p:extLst>
      <p:ext uri="{BB962C8B-B14F-4D97-AF65-F5344CB8AC3E}">
        <p14:creationId xmlns:p14="http://schemas.microsoft.com/office/powerpoint/2010/main" val="2194319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52401"/>
            <a:ext cx="6992520" cy="838200"/>
          </a:xfrm>
        </p:spPr>
        <p:txBody>
          <a:bodyPr>
            <a:normAutofit/>
          </a:bodyPr>
          <a:lstStyle/>
          <a:p>
            <a:r>
              <a:rPr lang="en-US" b="1" dirty="0">
                <a:solidFill>
                  <a:srgbClr val="00B0F0"/>
                </a:solidFill>
              </a:rPr>
              <a:t>Functions in PHP</a:t>
            </a:r>
            <a:endParaRPr lang="en-US" dirty="0">
              <a:solidFill>
                <a:srgbClr val="00B0F0"/>
              </a:solidFill>
            </a:endParaRPr>
          </a:p>
        </p:txBody>
      </p:sp>
      <p:sp>
        <p:nvSpPr>
          <p:cNvPr id="3" name="Content Placeholder 2"/>
          <p:cNvSpPr>
            <a:spLocks noGrp="1"/>
          </p:cNvSpPr>
          <p:nvPr>
            <p:ph idx="1"/>
          </p:nvPr>
        </p:nvSpPr>
        <p:spPr>
          <a:xfrm>
            <a:off x="533400" y="1066800"/>
            <a:ext cx="8153400" cy="5410200"/>
          </a:xfrm>
        </p:spPr>
        <p:txBody>
          <a:bodyPr>
            <a:normAutofit fontScale="92500" lnSpcReduction="10000"/>
          </a:bodyPr>
          <a:lstStyle/>
          <a:p>
            <a:r>
              <a:rPr lang="en-US" dirty="0"/>
              <a:t>A function is a group of PHP statements that perform a specific task. </a:t>
            </a:r>
          </a:p>
          <a:p>
            <a:r>
              <a:rPr lang="en-US" dirty="0"/>
              <a:t>You can use the function wherever you need to perform the task.</a:t>
            </a:r>
          </a:p>
          <a:p>
            <a:pPr>
              <a:buNone/>
            </a:pPr>
            <a:r>
              <a:rPr lang="en-US" sz="2300" dirty="0"/>
              <a:t> </a:t>
            </a:r>
          </a:p>
          <a:p>
            <a:pPr>
              <a:buNone/>
            </a:pPr>
            <a:r>
              <a:rPr lang="en-US" b="1" dirty="0"/>
              <a:t>Defining Functions</a:t>
            </a:r>
            <a:endParaRPr lang="en-US" dirty="0"/>
          </a:p>
          <a:p>
            <a:r>
              <a:rPr lang="en-US" dirty="0"/>
              <a:t>You can create a function by putting the code into a function block. </a:t>
            </a:r>
          </a:p>
          <a:p>
            <a:r>
              <a:rPr lang="en-US" dirty="0"/>
              <a:t>The general format is as follows:</a:t>
            </a:r>
          </a:p>
          <a:p>
            <a:pPr lvl="1">
              <a:buNone/>
            </a:pPr>
            <a:r>
              <a:rPr lang="en-US" sz="2900" dirty="0">
                <a:solidFill>
                  <a:srgbClr val="FF0000"/>
                </a:solidFill>
              </a:rPr>
              <a:t>function </a:t>
            </a:r>
            <a:r>
              <a:rPr lang="en-US" sz="2900" i="1" dirty="0" err="1">
                <a:solidFill>
                  <a:srgbClr val="FF0000"/>
                </a:solidFill>
              </a:rPr>
              <a:t>functionname</a:t>
            </a:r>
            <a:r>
              <a:rPr lang="en-US" sz="2900" dirty="0">
                <a:solidFill>
                  <a:srgbClr val="FF0000"/>
                </a:solidFill>
              </a:rPr>
              <a:t>($argument1, $argument2, ….)</a:t>
            </a:r>
          </a:p>
          <a:p>
            <a:pPr lvl="1">
              <a:buNone/>
            </a:pPr>
            <a:r>
              <a:rPr lang="en-US" sz="2900" dirty="0">
                <a:solidFill>
                  <a:srgbClr val="FF0000"/>
                </a:solidFill>
              </a:rPr>
              <a:t>{</a:t>
            </a:r>
          </a:p>
          <a:p>
            <a:pPr lvl="1">
              <a:buNone/>
            </a:pPr>
            <a:r>
              <a:rPr lang="en-US" sz="2900" i="1" dirty="0">
                <a:solidFill>
                  <a:srgbClr val="FF0000"/>
                </a:solidFill>
              </a:rPr>
              <a:t>	block of statements;</a:t>
            </a:r>
            <a:endParaRPr lang="en-US" sz="2900" dirty="0">
              <a:solidFill>
                <a:srgbClr val="FF0000"/>
              </a:solidFill>
            </a:endParaRPr>
          </a:p>
          <a:p>
            <a:pPr lvl="1">
              <a:buNone/>
            </a:pPr>
            <a:r>
              <a:rPr lang="en-US" sz="2900" dirty="0">
                <a:solidFill>
                  <a:srgbClr val="FF0000"/>
                </a:solidFill>
              </a:rPr>
              <a:t>	return</a:t>
            </a:r>
            <a:r>
              <a:rPr lang="en-US" sz="2900" i="1" dirty="0">
                <a:solidFill>
                  <a:srgbClr val="FF0000"/>
                </a:solidFill>
              </a:rPr>
              <a:t> value</a:t>
            </a:r>
            <a:r>
              <a:rPr lang="en-US" sz="2900" dirty="0">
                <a:solidFill>
                  <a:srgbClr val="FF0000"/>
                </a:solidFill>
              </a:rPr>
              <a:t>;</a:t>
            </a:r>
          </a:p>
          <a:p>
            <a:pPr lvl="1">
              <a:buNone/>
            </a:pPr>
            <a:r>
              <a:rPr lang="en-US" sz="2900" dirty="0">
                <a:solidFill>
                  <a:srgbClr val="FF0000"/>
                </a:solidFill>
              </a:rPr>
              <a:t>}</a:t>
            </a:r>
          </a:p>
          <a:p>
            <a:endParaRPr lang="en-US" dirty="0"/>
          </a:p>
        </p:txBody>
      </p:sp>
      <p:sp>
        <p:nvSpPr>
          <p:cNvPr id="4" name="Date Placeholder 3"/>
          <p:cNvSpPr>
            <a:spLocks noGrp="1"/>
          </p:cNvSpPr>
          <p:nvPr>
            <p:ph type="dt" sz="half" idx="10"/>
          </p:nvPr>
        </p:nvSpPr>
        <p:spPr/>
        <p:txBody>
          <a:bodyPr/>
          <a:lstStyle/>
          <a:p>
            <a:fld id="{0CC05673-2CCC-47C4-9FF4-B36855F86B2E}"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6" name="Slide Number Placeholder 5"/>
          <p:cNvSpPr>
            <a:spLocks noGrp="1"/>
          </p:cNvSpPr>
          <p:nvPr>
            <p:ph type="sldNum" sz="quarter" idx="12"/>
          </p:nvPr>
        </p:nvSpPr>
        <p:spPr/>
        <p:txBody>
          <a:bodyPr/>
          <a:lstStyle/>
          <a:p>
            <a:fld id="{0164FE31-0E14-4B83-80DC-64DA42BE9651}" type="slidenum">
              <a:rPr lang="en-US" smtClean="0"/>
              <a:pPr/>
              <a:t>37</a:t>
            </a:fld>
            <a:endParaRPr lang="en-US"/>
          </a:p>
        </p:txBody>
      </p:sp>
    </p:spTree>
    <p:extLst>
      <p:ext uri="{BB962C8B-B14F-4D97-AF65-F5344CB8AC3E}">
        <p14:creationId xmlns:p14="http://schemas.microsoft.com/office/powerpoint/2010/main" val="17178325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436563"/>
            <a:ext cx="8041440" cy="325437"/>
          </a:xfrm>
        </p:spPr>
        <p:txBody>
          <a:bodyPr>
            <a:normAutofit fontScale="90000"/>
          </a:bodyPr>
          <a:lstStyle/>
          <a:p>
            <a:r>
              <a:rPr lang="en-US" b="1" dirty="0"/>
              <a:t>      </a:t>
            </a:r>
            <a:r>
              <a:rPr lang="en-US" b="1" dirty="0">
                <a:solidFill>
                  <a:srgbClr val="00B0F0"/>
                </a:solidFill>
              </a:rPr>
              <a:t>Functions in PHP…</a:t>
            </a:r>
            <a:endParaRPr lang="en-US" dirty="0">
              <a:solidFill>
                <a:srgbClr val="00B0F0"/>
              </a:solidFill>
            </a:endParaRPr>
          </a:p>
        </p:txBody>
      </p:sp>
      <p:sp>
        <p:nvSpPr>
          <p:cNvPr id="3" name="Content Placeholder 2"/>
          <p:cNvSpPr>
            <a:spLocks noGrp="1"/>
          </p:cNvSpPr>
          <p:nvPr>
            <p:ph idx="1"/>
          </p:nvPr>
        </p:nvSpPr>
        <p:spPr>
          <a:xfrm>
            <a:off x="612648" y="1066800"/>
            <a:ext cx="8153400" cy="5334000"/>
          </a:xfrm>
        </p:spPr>
        <p:txBody>
          <a:bodyPr>
            <a:normAutofit/>
          </a:bodyPr>
          <a:lstStyle/>
          <a:p>
            <a:r>
              <a:rPr lang="en-US" dirty="0"/>
              <a:t>Example:</a:t>
            </a:r>
          </a:p>
          <a:p>
            <a:pPr>
              <a:buNone/>
            </a:pPr>
            <a:r>
              <a:rPr lang="en-US" dirty="0">
                <a:solidFill>
                  <a:srgbClr val="FF0000"/>
                </a:solidFill>
              </a:rPr>
              <a:t>	function </a:t>
            </a:r>
            <a:r>
              <a:rPr lang="en-US" dirty="0" err="1">
                <a:solidFill>
                  <a:srgbClr val="FF0000"/>
                </a:solidFill>
              </a:rPr>
              <a:t>addNumbers</a:t>
            </a:r>
            <a:r>
              <a:rPr lang="en-US" dirty="0">
                <a:solidFill>
                  <a:srgbClr val="FF0000"/>
                </a:solidFill>
              </a:rPr>
              <a:t>($a, $b)</a:t>
            </a:r>
          </a:p>
          <a:p>
            <a:pPr>
              <a:buNone/>
            </a:pPr>
            <a:r>
              <a:rPr lang="en-US" dirty="0">
                <a:solidFill>
                  <a:srgbClr val="FF0000"/>
                </a:solidFill>
              </a:rPr>
              <a:t>	{</a:t>
            </a:r>
          </a:p>
          <a:p>
            <a:pPr>
              <a:buNone/>
            </a:pPr>
            <a:r>
              <a:rPr lang="en-US" dirty="0">
                <a:solidFill>
                  <a:srgbClr val="FF0000"/>
                </a:solidFill>
              </a:rPr>
              <a:t>		$sum = $a +$b;</a:t>
            </a:r>
          </a:p>
          <a:p>
            <a:pPr>
              <a:buNone/>
            </a:pPr>
            <a:r>
              <a:rPr lang="en-US" dirty="0">
                <a:solidFill>
                  <a:srgbClr val="FF0000"/>
                </a:solidFill>
              </a:rPr>
              <a:t>		return $sum </a:t>
            </a:r>
            <a:br>
              <a:rPr lang="en-US" dirty="0">
                <a:solidFill>
                  <a:srgbClr val="FF0000"/>
                </a:solidFill>
              </a:rPr>
            </a:br>
            <a:r>
              <a:rPr lang="en-US" dirty="0">
                <a:solidFill>
                  <a:srgbClr val="FF0000"/>
                </a:solidFill>
              </a:rPr>
              <a:t>}</a:t>
            </a:r>
          </a:p>
          <a:p>
            <a:pPr>
              <a:buNone/>
            </a:pPr>
            <a:r>
              <a:rPr lang="en-US" sz="2100" dirty="0"/>
              <a:t> </a:t>
            </a:r>
          </a:p>
          <a:p>
            <a:pPr>
              <a:buNone/>
            </a:pPr>
            <a:r>
              <a:rPr lang="en-US" b="1" dirty="0"/>
              <a:t>Calling a function</a:t>
            </a:r>
            <a:endParaRPr lang="en-US" dirty="0"/>
          </a:p>
          <a:p>
            <a:r>
              <a:rPr lang="en-US" dirty="0"/>
              <a:t>The following line is the simplest possible call to a function:</a:t>
            </a:r>
          </a:p>
          <a:p>
            <a:pPr>
              <a:buNone/>
            </a:pPr>
            <a:r>
              <a:rPr lang="en-US" dirty="0"/>
              <a:t>	</a:t>
            </a:r>
            <a:r>
              <a:rPr lang="en-US" dirty="0" err="1">
                <a:solidFill>
                  <a:srgbClr val="FF0000"/>
                </a:solidFill>
              </a:rPr>
              <a:t>functionName</a:t>
            </a:r>
            <a:r>
              <a:rPr lang="en-US" dirty="0">
                <a:solidFill>
                  <a:srgbClr val="FF0000"/>
                </a:solidFill>
              </a:rPr>
              <a:t>();</a:t>
            </a:r>
          </a:p>
          <a:p>
            <a:r>
              <a:rPr lang="en-US" dirty="0"/>
              <a:t>This calls a function called </a:t>
            </a:r>
            <a:r>
              <a:rPr lang="en-US" dirty="0" err="1"/>
              <a:t>functionName</a:t>
            </a:r>
            <a:r>
              <a:rPr lang="en-US" dirty="0"/>
              <a:t> that does not require parameters. </a:t>
            </a:r>
          </a:p>
          <a:p>
            <a:r>
              <a:rPr lang="en-US" dirty="0"/>
              <a:t>This line of code ignores any value that might be returned by this function.</a:t>
            </a:r>
          </a:p>
        </p:txBody>
      </p:sp>
      <p:sp>
        <p:nvSpPr>
          <p:cNvPr id="4" name="Date Placeholder 3"/>
          <p:cNvSpPr>
            <a:spLocks noGrp="1"/>
          </p:cNvSpPr>
          <p:nvPr>
            <p:ph type="dt" sz="half" idx="10"/>
          </p:nvPr>
        </p:nvSpPr>
        <p:spPr/>
        <p:txBody>
          <a:bodyPr/>
          <a:lstStyle/>
          <a:p>
            <a:fld id="{698D5C02-3731-4A3B-B24D-B4BFE12C6506}"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endParaRPr lang="en-US" dirty="0"/>
          </a:p>
        </p:txBody>
      </p:sp>
      <p:sp>
        <p:nvSpPr>
          <p:cNvPr id="6" name="Slide Number Placeholder 5"/>
          <p:cNvSpPr>
            <a:spLocks noGrp="1"/>
          </p:cNvSpPr>
          <p:nvPr>
            <p:ph type="sldNum" sz="quarter" idx="12"/>
          </p:nvPr>
        </p:nvSpPr>
        <p:spPr/>
        <p:txBody>
          <a:bodyPr/>
          <a:lstStyle/>
          <a:p>
            <a:fld id="{0164FE31-0E14-4B83-80DC-64DA42BE9651}" type="slidenum">
              <a:rPr lang="en-US" smtClean="0"/>
              <a:pPr/>
              <a:t>38</a:t>
            </a:fld>
            <a:endParaRPr lang="en-US"/>
          </a:p>
        </p:txBody>
      </p:sp>
    </p:spTree>
    <p:extLst>
      <p:ext uri="{BB962C8B-B14F-4D97-AF65-F5344CB8AC3E}">
        <p14:creationId xmlns:p14="http://schemas.microsoft.com/office/powerpoint/2010/main" val="772828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041440" cy="249237"/>
          </a:xfrm>
        </p:spPr>
        <p:txBody>
          <a:bodyPr>
            <a:normAutofit fontScale="90000"/>
          </a:bodyPr>
          <a:lstStyle/>
          <a:p>
            <a:r>
              <a:rPr lang="en-US" b="1" dirty="0"/>
              <a:t>    </a:t>
            </a:r>
            <a:r>
              <a:rPr lang="en-US" b="1" dirty="0">
                <a:solidFill>
                  <a:srgbClr val="00B0F0"/>
                </a:solidFill>
              </a:rPr>
              <a:t>Functions in PHP…</a:t>
            </a:r>
            <a:endParaRPr lang="en-US" dirty="0">
              <a:solidFill>
                <a:srgbClr val="00B0F0"/>
              </a:solidFill>
            </a:endParaRPr>
          </a:p>
        </p:txBody>
      </p:sp>
      <p:sp>
        <p:nvSpPr>
          <p:cNvPr id="3" name="Content Placeholder 2"/>
          <p:cNvSpPr>
            <a:spLocks noGrp="1"/>
          </p:cNvSpPr>
          <p:nvPr>
            <p:ph idx="1"/>
          </p:nvPr>
        </p:nvSpPr>
        <p:spPr>
          <a:xfrm>
            <a:off x="612648" y="762000"/>
            <a:ext cx="8153400" cy="5867400"/>
          </a:xfrm>
        </p:spPr>
        <p:txBody>
          <a:bodyPr>
            <a:normAutofit/>
          </a:bodyPr>
          <a:lstStyle/>
          <a:p>
            <a:r>
              <a:rPr lang="en-US" dirty="0"/>
              <a:t>     Most functions do require one or more parameters.</a:t>
            </a:r>
          </a:p>
          <a:p>
            <a:r>
              <a:rPr lang="en-US" dirty="0"/>
              <a:t>We pass parameters by placing the data or the name of a variable holding the data inside parentheses after the function name. </a:t>
            </a:r>
          </a:p>
          <a:p>
            <a:r>
              <a:rPr lang="en-US" dirty="0"/>
              <a:t>A call to a function with a parameter resembles the following:</a:t>
            </a:r>
          </a:p>
          <a:p>
            <a:pPr>
              <a:buNone/>
            </a:pPr>
            <a:r>
              <a:rPr lang="en-US" dirty="0">
                <a:solidFill>
                  <a:srgbClr val="FF0000"/>
                </a:solidFill>
              </a:rPr>
              <a:t>	</a:t>
            </a:r>
            <a:r>
              <a:rPr lang="en-US" dirty="0" err="1">
                <a:solidFill>
                  <a:srgbClr val="FF0000"/>
                </a:solidFill>
              </a:rPr>
              <a:t>function_name</a:t>
            </a:r>
            <a:r>
              <a:rPr lang="en-US" dirty="0">
                <a:solidFill>
                  <a:srgbClr val="FF0000"/>
                </a:solidFill>
              </a:rPr>
              <a:t>(parameter);</a:t>
            </a:r>
          </a:p>
          <a:p>
            <a:pPr>
              <a:buNone/>
            </a:pPr>
            <a:r>
              <a:rPr lang="en-US" sz="1500" dirty="0"/>
              <a:t> </a:t>
            </a:r>
          </a:p>
          <a:p>
            <a:r>
              <a:rPr lang="en-US" dirty="0"/>
              <a:t>Example: other possible calls</a:t>
            </a:r>
          </a:p>
          <a:p>
            <a:pPr>
              <a:buNone/>
            </a:pPr>
            <a:r>
              <a:rPr lang="en-US" dirty="0">
                <a:solidFill>
                  <a:srgbClr val="FF0000"/>
                </a:solidFill>
              </a:rPr>
              <a:t>	</a:t>
            </a:r>
            <a:r>
              <a:rPr lang="en-US" dirty="0" err="1">
                <a:solidFill>
                  <a:srgbClr val="FF0000"/>
                </a:solidFill>
              </a:rPr>
              <a:t>function_name</a:t>
            </a:r>
            <a:r>
              <a:rPr lang="en-US" dirty="0">
                <a:solidFill>
                  <a:srgbClr val="FF0000"/>
                </a:solidFill>
              </a:rPr>
              <a:t>(2);</a:t>
            </a:r>
          </a:p>
          <a:p>
            <a:pPr>
              <a:buNone/>
            </a:pPr>
            <a:r>
              <a:rPr lang="en-US" dirty="0">
                <a:solidFill>
                  <a:srgbClr val="FF0000"/>
                </a:solidFill>
              </a:rPr>
              <a:t>	</a:t>
            </a:r>
            <a:r>
              <a:rPr lang="en-US" dirty="0" err="1">
                <a:solidFill>
                  <a:srgbClr val="FF0000"/>
                </a:solidFill>
              </a:rPr>
              <a:t>function_name</a:t>
            </a:r>
            <a:r>
              <a:rPr lang="en-US" dirty="0">
                <a:solidFill>
                  <a:srgbClr val="FF0000"/>
                </a:solidFill>
              </a:rPr>
              <a:t>(7.993);</a:t>
            </a:r>
          </a:p>
          <a:p>
            <a:pPr>
              <a:buNone/>
            </a:pPr>
            <a:r>
              <a:rPr lang="en-US" dirty="0">
                <a:solidFill>
                  <a:srgbClr val="FF0000"/>
                </a:solidFill>
              </a:rPr>
              <a:t>	</a:t>
            </a:r>
            <a:r>
              <a:rPr lang="en-US" dirty="0" err="1">
                <a:solidFill>
                  <a:srgbClr val="FF0000"/>
                </a:solidFill>
              </a:rPr>
              <a:t>function_name</a:t>
            </a:r>
            <a:r>
              <a:rPr lang="en-US" dirty="0">
                <a:solidFill>
                  <a:srgbClr val="FF0000"/>
                </a:solidFill>
              </a:rPr>
              <a:t>($variable);</a:t>
            </a:r>
          </a:p>
          <a:p>
            <a:r>
              <a:rPr lang="en-US" dirty="0"/>
              <a:t>In the last line, $variable might be any type of PHP variable, including an array. </a:t>
            </a:r>
          </a:p>
          <a:p>
            <a:r>
              <a:rPr lang="en-US" dirty="0"/>
              <a:t>A parameter can be any type of data</a:t>
            </a:r>
          </a:p>
        </p:txBody>
      </p:sp>
      <p:sp>
        <p:nvSpPr>
          <p:cNvPr id="4" name="Date Placeholder 3"/>
          <p:cNvSpPr>
            <a:spLocks noGrp="1"/>
          </p:cNvSpPr>
          <p:nvPr>
            <p:ph type="dt" sz="half" idx="10"/>
          </p:nvPr>
        </p:nvSpPr>
        <p:spPr/>
        <p:txBody>
          <a:bodyPr/>
          <a:lstStyle/>
          <a:p>
            <a:fld id="{470B9616-8972-4186-813A-327265D22722}"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6" name="Slide Number Placeholder 5"/>
          <p:cNvSpPr>
            <a:spLocks noGrp="1"/>
          </p:cNvSpPr>
          <p:nvPr>
            <p:ph type="sldNum" sz="quarter" idx="12"/>
          </p:nvPr>
        </p:nvSpPr>
        <p:spPr/>
        <p:txBody>
          <a:bodyPr/>
          <a:lstStyle/>
          <a:p>
            <a:fld id="{0164FE31-0E14-4B83-80DC-64DA42BE9651}" type="slidenum">
              <a:rPr lang="en-US" smtClean="0"/>
              <a:pPr/>
              <a:t>39</a:t>
            </a:fld>
            <a:endParaRPr lang="en-US"/>
          </a:p>
        </p:txBody>
      </p:sp>
    </p:spTree>
    <p:extLst>
      <p:ext uri="{BB962C8B-B14F-4D97-AF65-F5344CB8AC3E}">
        <p14:creationId xmlns:p14="http://schemas.microsoft.com/office/powerpoint/2010/main" val="17825732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041440" cy="639675"/>
          </a:xfrm>
        </p:spPr>
        <p:txBody>
          <a:bodyPr>
            <a:normAutofit fontScale="90000"/>
          </a:bodyPr>
          <a:lstStyle/>
          <a:p>
            <a:r>
              <a:rPr lang="en-US" b="1" dirty="0"/>
              <a:t>         </a:t>
            </a:r>
            <a:r>
              <a:rPr lang="en-US" b="1" dirty="0">
                <a:solidFill>
                  <a:srgbClr val="00B0F0"/>
                </a:solidFill>
              </a:rPr>
              <a:t>Functions in PHP…</a:t>
            </a:r>
            <a:endParaRPr lang="en-US" dirty="0">
              <a:solidFill>
                <a:srgbClr val="00B0F0"/>
              </a:solidFill>
            </a:endParaRPr>
          </a:p>
        </p:txBody>
      </p:sp>
      <p:sp>
        <p:nvSpPr>
          <p:cNvPr id="3" name="Content Placeholder 2"/>
          <p:cNvSpPr>
            <a:spLocks noGrp="1"/>
          </p:cNvSpPr>
          <p:nvPr>
            <p:ph idx="1"/>
          </p:nvPr>
        </p:nvSpPr>
        <p:spPr>
          <a:xfrm>
            <a:off x="838200" y="914400"/>
            <a:ext cx="7467600" cy="5075325"/>
          </a:xfrm>
        </p:spPr>
        <p:txBody>
          <a:bodyPr>
            <a:normAutofit/>
          </a:bodyPr>
          <a:lstStyle/>
          <a:p>
            <a:r>
              <a:rPr lang="en-US" dirty="0"/>
              <a:t>You can call functions by passing multiple values to the function by putting the values between the parentheses as follows:</a:t>
            </a:r>
          </a:p>
          <a:p>
            <a:pPr>
              <a:buNone/>
            </a:pPr>
            <a:r>
              <a:rPr lang="en-US" dirty="0">
                <a:solidFill>
                  <a:srgbClr val="FF0000"/>
                </a:solidFill>
              </a:rPr>
              <a:t>	</a:t>
            </a:r>
            <a:r>
              <a:rPr lang="en-US" dirty="0" err="1">
                <a:solidFill>
                  <a:srgbClr val="FF0000"/>
                </a:solidFill>
              </a:rPr>
              <a:t>functionname</a:t>
            </a:r>
            <a:r>
              <a:rPr lang="en-US" dirty="0">
                <a:solidFill>
                  <a:srgbClr val="FF0000"/>
                </a:solidFill>
              </a:rPr>
              <a:t>(value1,value2,...);</a:t>
            </a:r>
          </a:p>
          <a:p>
            <a:pPr>
              <a:buNone/>
            </a:pPr>
            <a:r>
              <a:rPr lang="en-US" sz="1700" dirty="0">
                <a:solidFill>
                  <a:srgbClr val="FF0000"/>
                </a:solidFill>
              </a:rPr>
              <a:t> </a:t>
            </a:r>
          </a:p>
          <a:p>
            <a:r>
              <a:rPr lang="en-US" dirty="0"/>
              <a:t>Example: to call the above </a:t>
            </a:r>
            <a:r>
              <a:rPr lang="en-US" dirty="0" err="1"/>
              <a:t>addNumbers</a:t>
            </a:r>
            <a:r>
              <a:rPr lang="en-US" dirty="0"/>
              <a:t> function:</a:t>
            </a:r>
          </a:p>
          <a:p>
            <a:pPr>
              <a:buNone/>
            </a:pPr>
            <a:r>
              <a:rPr lang="en-US" dirty="0">
                <a:solidFill>
                  <a:srgbClr val="FF0000"/>
                </a:solidFill>
              </a:rPr>
              <a:t>	$result = </a:t>
            </a:r>
            <a:r>
              <a:rPr lang="en-US" dirty="0" err="1">
                <a:solidFill>
                  <a:srgbClr val="FF0000"/>
                </a:solidFill>
              </a:rPr>
              <a:t>addNumbers</a:t>
            </a:r>
            <a:r>
              <a:rPr lang="en-US" dirty="0">
                <a:solidFill>
                  <a:srgbClr val="FF0000"/>
                </a:solidFill>
              </a:rPr>
              <a:t>(30,20);</a:t>
            </a:r>
          </a:p>
          <a:p>
            <a:endParaRPr lang="en-US" sz="1700" dirty="0"/>
          </a:p>
          <a:p>
            <a:pPr>
              <a:buNone/>
            </a:pPr>
            <a:endParaRPr lang="en-US" dirty="0">
              <a:solidFill>
                <a:srgbClr val="FF0000"/>
              </a:solidFill>
            </a:endParaRPr>
          </a:p>
          <a:p>
            <a:pPr>
              <a:buNone/>
            </a:pPr>
            <a:endParaRPr lang="en-US" dirty="0"/>
          </a:p>
          <a:p>
            <a:pPr>
              <a:buNone/>
            </a:pPr>
            <a:endParaRPr lang="en-US" dirty="0"/>
          </a:p>
        </p:txBody>
      </p:sp>
      <p:sp>
        <p:nvSpPr>
          <p:cNvPr id="4" name="Date Placeholder 3"/>
          <p:cNvSpPr>
            <a:spLocks noGrp="1"/>
          </p:cNvSpPr>
          <p:nvPr>
            <p:ph type="dt" sz="half" idx="10"/>
          </p:nvPr>
        </p:nvSpPr>
        <p:spPr/>
        <p:txBody>
          <a:bodyPr/>
          <a:lstStyle/>
          <a:p>
            <a:fld id="{69876CB1-6D6C-40DD-B4DE-489BD0100429}" type="datetime1">
              <a:rPr lang="en-US" smtClean="0"/>
              <a:t>2/28/2024</a:t>
            </a:fld>
            <a:endParaRPr lang="en-US"/>
          </a:p>
        </p:txBody>
      </p:sp>
      <p:sp>
        <p:nvSpPr>
          <p:cNvPr id="5" name="Footer Placeholder 4"/>
          <p:cNvSpPr>
            <a:spLocks noGrp="1"/>
          </p:cNvSpPr>
          <p:nvPr>
            <p:ph type="ftr" sz="quarter" idx="11"/>
          </p:nvPr>
        </p:nvSpPr>
        <p:spPr/>
        <p:txBody>
          <a:bodyPr/>
          <a:lstStyle/>
          <a:p>
            <a:r>
              <a:rPr lang="en-US"/>
              <a:t>compiled by: IT dep't staffs</a:t>
            </a:r>
          </a:p>
        </p:txBody>
      </p:sp>
      <p:sp>
        <p:nvSpPr>
          <p:cNvPr id="6" name="Slide Number Placeholder 5"/>
          <p:cNvSpPr>
            <a:spLocks noGrp="1"/>
          </p:cNvSpPr>
          <p:nvPr>
            <p:ph type="sldNum" sz="quarter" idx="12"/>
          </p:nvPr>
        </p:nvSpPr>
        <p:spPr/>
        <p:txBody>
          <a:bodyPr/>
          <a:lstStyle/>
          <a:p>
            <a:fld id="{0164FE31-0E14-4B83-80DC-64DA42BE9651}" type="slidenum">
              <a:rPr lang="en-US" smtClean="0"/>
              <a:pPr/>
              <a:t>40</a:t>
            </a:fld>
            <a:endParaRPr lang="en-US"/>
          </a:p>
        </p:txBody>
      </p:sp>
    </p:spTree>
    <p:extLst>
      <p:ext uri="{BB962C8B-B14F-4D97-AF65-F5344CB8AC3E}">
        <p14:creationId xmlns:p14="http://schemas.microsoft.com/office/powerpoint/2010/main" val="20810778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41C95-5F3E-BF85-CDD0-821984F029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049D97F-4433-C6D9-5E1D-259028B62269}"/>
              </a:ext>
            </a:extLst>
          </p:cNvPr>
          <p:cNvSpPr>
            <a:spLocks noGrp="1"/>
          </p:cNvSpPr>
          <p:nvPr>
            <p:ph type="title"/>
          </p:nvPr>
        </p:nvSpPr>
        <p:spPr>
          <a:xfrm>
            <a:off x="1219201" y="1447800"/>
            <a:ext cx="7543800" cy="1371600"/>
          </a:xfrm>
        </p:spPr>
        <p:txBody>
          <a:bodyPr>
            <a:normAutofit fontScale="90000"/>
          </a:bodyPr>
          <a:lstStyle/>
          <a:p>
            <a:r>
              <a:rPr lang="en-US" sz="6600" b="1" dirty="0">
                <a:solidFill>
                  <a:srgbClr val="00B0F0"/>
                </a:solidFill>
                <a:effectLst>
                  <a:outerShdw blurRad="38100" dist="38100" dir="2700000" algn="tl">
                    <a:srgbClr val="000000">
                      <a:alpha val="43137"/>
                    </a:srgbClr>
                  </a:outerShdw>
                </a:effectLst>
              </a:rPr>
              <a:t>PHP Form Handling</a:t>
            </a:r>
          </a:p>
        </p:txBody>
      </p:sp>
      <p:sp>
        <p:nvSpPr>
          <p:cNvPr id="4" name="Footer Placeholder 3">
            <a:extLst>
              <a:ext uri="{FF2B5EF4-FFF2-40B4-BE49-F238E27FC236}">
                <a16:creationId xmlns:a16="http://schemas.microsoft.com/office/drawing/2014/main" id="{86C938D5-AFDE-BBD2-51C0-B97EC83E1DAE}"/>
              </a:ext>
            </a:extLst>
          </p:cNvPr>
          <p:cNvSpPr>
            <a:spLocks noGrp="1"/>
          </p:cNvSpPr>
          <p:nvPr>
            <p:ph type="ftr" sz="quarter" idx="11"/>
          </p:nvPr>
        </p:nvSpPr>
        <p:spPr/>
        <p:txBody>
          <a:bodyPr/>
          <a:lstStyle/>
          <a:p>
            <a:r>
              <a:rPr lang="en-US"/>
              <a:t>compiled by: IT dep't staffs</a:t>
            </a:r>
            <a:endParaRPr lang="en-US" dirty="0"/>
          </a:p>
        </p:txBody>
      </p:sp>
      <p:sp>
        <p:nvSpPr>
          <p:cNvPr id="5" name="Slide Number Placeholder 4">
            <a:extLst>
              <a:ext uri="{FF2B5EF4-FFF2-40B4-BE49-F238E27FC236}">
                <a16:creationId xmlns:a16="http://schemas.microsoft.com/office/drawing/2014/main" id="{EE48B612-7A25-9EBF-9AFC-C7AB57A101DA}"/>
              </a:ext>
            </a:extLst>
          </p:cNvPr>
          <p:cNvSpPr>
            <a:spLocks noGrp="1"/>
          </p:cNvSpPr>
          <p:nvPr>
            <p:ph type="sldNum" sz="quarter" idx="12"/>
          </p:nvPr>
        </p:nvSpPr>
        <p:spPr/>
        <p:txBody>
          <a:bodyPr/>
          <a:lstStyle/>
          <a:p>
            <a:fld id="{0164FE31-0E14-4B83-80DC-64DA42BE9651}" type="slidenum">
              <a:rPr lang="en-US" smtClean="0"/>
              <a:pPr/>
              <a:t>41</a:t>
            </a:fld>
            <a:endParaRPr lang="en-US"/>
          </a:p>
        </p:txBody>
      </p:sp>
      <p:sp>
        <p:nvSpPr>
          <p:cNvPr id="2" name="Date Placeholder 1">
            <a:extLst>
              <a:ext uri="{FF2B5EF4-FFF2-40B4-BE49-F238E27FC236}">
                <a16:creationId xmlns:a16="http://schemas.microsoft.com/office/drawing/2014/main" id="{760CC92C-AA88-DB70-78A4-3ED711C0C156}"/>
              </a:ext>
            </a:extLst>
          </p:cNvPr>
          <p:cNvSpPr>
            <a:spLocks noGrp="1"/>
          </p:cNvSpPr>
          <p:nvPr>
            <p:ph type="dt" sz="half" idx="10"/>
          </p:nvPr>
        </p:nvSpPr>
        <p:spPr/>
        <p:txBody>
          <a:bodyPr/>
          <a:lstStyle/>
          <a:p>
            <a:fld id="{504AA0B7-C032-4C4B-88F2-2E712D6A96E2}" type="datetime1">
              <a:rPr lang="en-US" smtClean="0"/>
              <a:t>2/28/2024</a:t>
            </a:fld>
            <a:endParaRPr lang="en-US"/>
          </a:p>
        </p:txBody>
      </p:sp>
    </p:spTree>
    <p:extLst>
      <p:ext uri="{BB962C8B-B14F-4D97-AF65-F5344CB8AC3E}">
        <p14:creationId xmlns:p14="http://schemas.microsoft.com/office/powerpoint/2010/main" val="35751447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C8E2B-C4F2-1EA1-6504-CCA14246B4B0}"/>
              </a:ext>
            </a:extLst>
          </p:cNvPr>
          <p:cNvSpPr>
            <a:spLocks noGrp="1"/>
          </p:cNvSpPr>
          <p:nvPr>
            <p:ph type="title"/>
          </p:nvPr>
        </p:nvSpPr>
        <p:spPr>
          <a:xfrm>
            <a:off x="2057400" y="685800"/>
            <a:ext cx="6477000" cy="152400"/>
          </a:xfrm>
        </p:spPr>
        <p:txBody>
          <a:bodyPr>
            <a:noAutofit/>
          </a:bodyPr>
          <a:lstStyle/>
          <a:p>
            <a:br>
              <a:rPr lang="en-US" sz="5400" b="1" dirty="0">
                <a:solidFill>
                  <a:srgbClr val="00B0F0"/>
                </a:solidFill>
              </a:rPr>
            </a:br>
            <a:r>
              <a:rPr lang="en-US" sz="5400" b="1" dirty="0">
                <a:solidFill>
                  <a:srgbClr val="00B0F0"/>
                </a:solidFill>
              </a:rPr>
              <a:t>    Forms</a:t>
            </a:r>
          </a:p>
        </p:txBody>
      </p:sp>
      <p:sp>
        <p:nvSpPr>
          <p:cNvPr id="3" name="Text Placeholder 2">
            <a:extLst>
              <a:ext uri="{FF2B5EF4-FFF2-40B4-BE49-F238E27FC236}">
                <a16:creationId xmlns:a16="http://schemas.microsoft.com/office/drawing/2014/main" id="{1A1785A2-4635-2D40-7D49-61B5AC8178FF}"/>
              </a:ext>
            </a:extLst>
          </p:cNvPr>
          <p:cNvSpPr>
            <a:spLocks noGrp="1"/>
          </p:cNvSpPr>
          <p:nvPr>
            <p:ph type="body" idx="1"/>
          </p:nvPr>
        </p:nvSpPr>
        <p:spPr>
          <a:xfrm>
            <a:off x="1219200" y="1143000"/>
            <a:ext cx="7696200" cy="4267200"/>
          </a:xfrm>
        </p:spPr>
        <p:txBody>
          <a:bodyPr>
            <a:normAutofit/>
          </a:bodyPr>
          <a:lstStyle/>
          <a:p>
            <a:pPr marL="571500" indent="-571500">
              <a:buFont typeface="Wingdings" panose="05000000000000000000" pitchFamily="2" charset="2"/>
              <a:buChar char="Ø"/>
            </a:pPr>
            <a:r>
              <a:rPr lang="en-US" sz="3600" i="0" dirty="0">
                <a:solidFill>
                  <a:schemeClr val="tx1"/>
                </a:solidFill>
                <a:effectLst/>
                <a:latin typeface="+mj-lt"/>
              </a:rPr>
              <a:t>Forms are used to </a:t>
            </a:r>
            <a:r>
              <a:rPr lang="en-US" sz="3600" i="0" dirty="0">
                <a:solidFill>
                  <a:srgbClr val="FF0000"/>
                </a:solidFill>
                <a:effectLst/>
                <a:latin typeface="+mj-lt"/>
              </a:rPr>
              <a:t>get input </a:t>
            </a:r>
            <a:r>
              <a:rPr lang="en-US" sz="3600" i="0" dirty="0">
                <a:solidFill>
                  <a:schemeClr val="tx1"/>
                </a:solidFill>
                <a:effectLst/>
                <a:latin typeface="+mj-lt"/>
              </a:rPr>
              <a:t>from the user and </a:t>
            </a:r>
            <a:r>
              <a:rPr lang="en-US" sz="3600" i="0" dirty="0">
                <a:solidFill>
                  <a:srgbClr val="FF0000"/>
                </a:solidFill>
                <a:effectLst/>
                <a:latin typeface="+mj-lt"/>
              </a:rPr>
              <a:t>submit it </a:t>
            </a:r>
            <a:r>
              <a:rPr lang="en-US" sz="3600" i="0" dirty="0">
                <a:solidFill>
                  <a:schemeClr val="tx1"/>
                </a:solidFill>
                <a:effectLst/>
                <a:latin typeface="+mj-lt"/>
              </a:rPr>
              <a:t>to the web server for processing.</a:t>
            </a:r>
          </a:p>
          <a:p>
            <a:pPr marL="571500" indent="-571500">
              <a:buFont typeface="Wingdings" panose="05000000000000000000" pitchFamily="2" charset="2"/>
              <a:buChar char="Ø"/>
            </a:pPr>
            <a:r>
              <a:rPr lang="en-US" sz="3200" b="0" i="0" dirty="0">
                <a:solidFill>
                  <a:srgbClr val="000000"/>
                </a:solidFill>
                <a:effectLst/>
                <a:latin typeface="Verdana" panose="020B0604030504040204" pitchFamily="34" charset="0"/>
              </a:rPr>
              <a:t>The PHP </a:t>
            </a:r>
            <a:r>
              <a:rPr lang="en-US" sz="3200" b="0" i="0" dirty="0" err="1">
                <a:solidFill>
                  <a:srgbClr val="000000"/>
                </a:solidFill>
                <a:effectLst/>
                <a:latin typeface="Verdana" panose="020B0604030504040204" pitchFamily="34" charset="0"/>
              </a:rPr>
              <a:t>superglobals</a:t>
            </a:r>
            <a:r>
              <a:rPr lang="en-US" sz="3200" b="0" i="0" dirty="0">
                <a:solidFill>
                  <a:srgbClr val="000000"/>
                </a:solidFill>
                <a:effectLst/>
                <a:latin typeface="Verdana" panose="020B0604030504040204" pitchFamily="34" charset="0"/>
              </a:rPr>
              <a:t> </a:t>
            </a:r>
            <a:r>
              <a:rPr lang="en-US" sz="3200" b="0" i="0" dirty="0">
                <a:solidFill>
                  <a:srgbClr val="FF0000"/>
                </a:solidFill>
                <a:effectLst/>
                <a:latin typeface="Verdana" panose="020B0604030504040204" pitchFamily="34" charset="0"/>
              </a:rPr>
              <a:t>$_GET </a:t>
            </a:r>
            <a:r>
              <a:rPr lang="en-US" sz="3200" b="0" i="0" dirty="0">
                <a:solidFill>
                  <a:srgbClr val="000000"/>
                </a:solidFill>
                <a:effectLst/>
                <a:latin typeface="Verdana" panose="020B0604030504040204" pitchFamily="34" charset="0"/>
              </a:rPr>
              <a:t>and </a:t>
            </a:r>
            <a:r>
              <a:rPr lang="en-US" sz="3200" b="0" i="0" dirty="0">
                <a:solidFill>
                  <a:srgbClr val="FF0000"/>
                </a:solidFill>
                <a:effectLst/>
                <a:latin typeface="Verdana" panose="020B0604030504040204" pitchFamily="34" charset="0"/>
              </a:rPr>
              <a:t>$_POST </a:t>
            </a:r>
            <a:r>
              <a:rPr lang="en-US" sz="3200" b="0" i="0" dirty="0">
                <a:solidFill>
                  <a:srgbClr val="000000"/>
                </a:solidFill>
                <a:effectLst/>
                <a:latin typeface="Verdana" panose="020B0604030504040204" pitchFamily="34" charset="0"/>
              </a:rPr>
              <a:t>are used to collect form-data.</a:t>
            </a:r>
            <a:endParaRPr lang="en-US" sz="3600" dirty="0">
              <a:solidFill>
                <a:schemeClr val="tx1"/>
              </a:solidFill>
              <a:latin typeface="+mj-lt"/>
            </a:endParaRPr>
          </a:p>
        </p:txBody>
      </p:sp>
      <p:sp>
        <p:nvSpPr>
          <p:cNvPr id="4" name="Date Placeholder 3">
            <a:extLst>
              <a:ext uri="{FF2B5EF4-FFF2-40B4-BE49-F238E27FC236}">
                <a16:creationId xmlns:a16="http://schemas.microsoft.com/office/drawing/2014/main" id="{D825B622-C4A6-7F5F-A99E-B0764E3BEEB6}"/>
              </a:ext>
            </a:extLst>
          </p:cNvPr>
          <p:cNvSpPr>
            <a:spLocks noGrp="1"/>
          </p:cNvSpPr>
          <p:nvPr>
            <p:ph type="dt" sz="half" idx="10"/>
          </p:nvPr>
        </p:nvSpPr>
        <p:spPr/>
        <p:txBody>
          <a:bodyPr/>
          <a:lstStyle/>
          <a:p>
            <a:fld id="{9D6BBC6D-9EAC-495A-B0FF-DAABB8B77F44}" type="datetime1">
              <a:rPr lang="en-US" smtClean="0"/>
              <a:t>2/28/2024</a:t>
            </a:fld>
            <a:endParaRPr lang="en-US"/>
          </a:p>
        </p:txBody>
      </p:sp>
      <p:sp>
        <p:nvSpPr>
          <p:cNvPr id="5" name="Footer Placeholder 4">
            <a:extLst>
              <a:ext uri="{FF2B5EF4-FFF2-40B4-BE49-F238E27FC236}">
                <a16:creationId xmlns:a16="http://schemas.microsoft.com/office/drawing/2014/main" id="{3306F78A-91F9-0418-B09A-9CF9DE43AC7A}"/>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DE764403-3D56-99C9-9778-4B1AAB5F5BAF}"/>
              </a:ext>
            </a:extLst>
          </p:cNvPr>
          <p:cNvSpPr>
            <a:spLocks noGrp="1"/>
          </p:cNvSpPr>
          <p:nvPr>
            <p:ph type="sldNum" sz="quarter" idx="12"/>
          </p:nvPr>
        </p:nvSpPr>
        <p:spPr/>
        <p:txBody>
          <a:bodyPr/>
          <a:lstStyle/>
          <a:p>
            <a:fld id="{DD4953B1-23D1-427D-BAAF-F6F31382E945}" type="slidenum">
              <a:rPr lang="en-US" smtClean="0"/>
              <a:t>42</a:t>
            </a:fld>
            <a:endParaRPr lang="en-US"/>
          </a:p>
        </p:txBody>
      </p:sp>
    </p:spTree>
    <p:extLst>
      <p:ext uri="{BB962C8B-B14F-4D97-AF65-F5344CB8AC3E}">
        <p14:creationId xmlns:p14="http://schemas.microsoft.com/office/powerpoint/2010/main" val="29937942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2127B-5482-8BF6-D349-C508379B314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60278F-C9E8-AA6E-3AE1-CF3741468092}"/>
              </a:ext>
            </a:extLst>
          </p:cNvPr>
          <p:cNvSpPr>
            <a:spLocks noGrp="1"/>
          </p:cNvSpPr>
          <p:nvPr>
            <p:ph type="title"/>
          </p:nvPr>
        </p:nvSpPr>
        <p:spPr>
          <a:xfrm>
            <a:off x="1371600" y="304800"/>
            <a:ext cx="7391399" cy="1143000"/>
          </a:xfrm>
        </p:spPr>
        <p:txBody>
          <a:bodyPr/>
          <a:lstStyle/>
          <a:p>
            <a:r>
              <a:rPr lang="en-US" b="1" dirty="0">
                <a:solidFill>
                  <a:srgbClr val="FF0000"/>
                </a:solidFill>
              </a:rPr>
              <a:t>GET</a:t>
            </a:r>
            <a:r>
              <a:rPr lang="en-US" b="1" dirty="0">
                <a:solidFill>
                  <a:srgbClr val="00B0F0"/>
                </a:solidFill>
              </a:rPr>
              <a:t> method </a:t>
            </a:r>
            <a:r>
              <a:rPr lang="en-US" dirty="0">
                <a:solidFill>
                  <a:srgbClr val="00B0F0"/>
                </a:solidFill>
              </a:rPr>
              <a:t>and </a:t>
            </a:r>
            <a:r>
              <a:rPr lang="en-US" b="1" dirty="0">
                <a:solidFill>
                  <a:srgbClr val="FF0000"/>
                </a:solidFill>
              </a:rPr>
              <a:t>$_GET </a:t>
            </a:r>
            <a:r>
              <a:rPr lang="en-US" b="1" dirty="0">
                <a:solidFill>
                  <a:srgbClr val="00B0F0"/>
                </a:solidFill>
              </a:rPr>
              <a:t>variable</a:t>
            </a:r>
          </a:p>
        </p:txBody>
      </p:sp>
      <p:sp>
        <p:nvSpPr>
          <p:cNvPr id="7" name="Content Placeholder 6">
            <a:extLst>
              <a:ext uri="{FF2B5EF4-FFF2-40B4-BE49-F238E27FC236}">
                <a16:creationId xmlns:a16="http://schemas.microsoft.com/office/drawing/2014/main" id="{07FAB3F7-506A-E5DE-B4DA-94EE7E6D411D}"/>
              </a:ext>
            </a:extLst>
          </p:cNvPr>
          <p:cNvSpPr>
            <a:spLocks noGrp="1"/>
          </p:cNvSpPr>
          <p:nvPr>
            <p:ph idx="1"/>
          </p:nvPr>
        </p:nvSpPr>
        <p:spPr>
          <a:xfrm>
            <a:off x="762000" y="1447800"/>
            <a:ext cx="8229600" cy="4687289"/>
          </a:xfrm>
        </p:spPr>
        <p:txBody>
          <a:bodyPr>
            <a:normAutofit fontScale="92500" lnSpcReduction="20000"/>
          </a:bodyPr>
          <a:lstStyle/>
          <a:p>
            <a:pPr>
              <a:buFont typeface="Wingdings" pitchFamily="2" charset="2"/>
              <a:buChar char="Ø"/>
            </a:pPr>
            <a:r>
              <a:rPr lang="en-US" sz="3600" dirty="0"/>
              <a:t>The </a:t>
            </a:r>
            <a:r>
              <a:rPr lang="en-US" sz="3600" b="1" dirty="0">
                <a:solidFill>
                  <a:srgbClr val="FF0000"/>
                </a:solidFill>
              </a:rPr>
              <a:t>GET</a:t>
            </a:r>
            <a:r>
              <a:rPr lang="en-US" sz="3600" b="1" dirty="0"/>
              <a:t> method </a:t>
            </a:r>
            <a:r>
              <a:rPr lang="en-US" sz="3600" dirty="0"/>
              <a:t>sends the encoded user information appended to the page request.</a:t>
            </a:r>
          </a:p>
          <a:p>
            <a:pPr>
              <a:buFont typeface="Wingdings" pitchFamily="2" charset="2"/>
              <a:buChar char="Ø"/>
            </a:pPr>
            <a:r>
              <a:rPr lang="en-US" sz="3600" b="1" dirty="0">
                <a:solidFill>
                  <a:srgbClr val="FF0000"/>
                </a:solidFill>
              </a:rPr>
              <a:t>$_GET </a:t>
            </a:r>
            <a:r>
              <a:rPr lang="en-US" sz="3600" dirty="0">
                <a:solidFill>
                  <a:schemeClr val="tx1"/>
                </a:solidFill>
              </a:rPr>
              <a:t>variable accepts/holds the sent data/content</a:t>
            </a:r>
            <a:r>
              <a:rPr lang="en-US" sz="3600" b="1" dirty="0">
                <a:solidFill>
                  <a:srgbClr val="FF0000"/>
                </a:solidFill>
              </a:rPr>
              <a:t>.</a:t>
            </a:r>
            <a:endParaRPr lang="en-US" sz="3600" dirty="0"/>
          </a:p>
          <a:p>
            <a:pPr>
              <a:buFont typeface="Wingdings" pitchFamily="2" charset="2"/>
              <a:buChar char="Ø"/>
            </a:pPr>
            <a:r>
              <a:rPr lang="en-US" sz="3600" dirty="0"/>
              <a:t>The page and the encoded information are separated by the </a:t>
            </a:r>
            <a:r>
              <a:rPr lang="en-US" sz="3600" b="1" dirty="0">
                <a:solidFill>
                  <a:srgbClr val="FF0000"/>
                </a:solidFill>
              </a:rPr>
              <a:t>?</a:t>
            </a:r>
            <a:r>
              <a:rPr lang="en-US" sz="3600" dirty="0"/>
              <a:t> character.</a:t>
            </a:r>
          </a:p>
          <a:p>
            <a:pPr marL="0" indent="0">
              <a:buNone/>
            </a:pPr>
            <a:r>
              <a:rPr lang="en-US" sz="3600" u="sng" dirty="0">
                <a:hlinkClick r:id="rId3"/>
              </a:rPr>
              <a:t>http://www.test.com/index.htm?name1=value1&amp;name2=value2</a:t>
            </a:r>
            <a:endParaRPr lang="en-US" sz="3600" dirty="0"/>
          </a:p>
          <a:p>
            <a:pPr marL="0" indent="0">
              <a:buNone/>
            </a:pPr>
            <a:endParaRPr lang="en-US" sz="3600" dirty="0"/>
          </a:p>
          <a:p>
            <a:pPr>
              <a:buFont typeface="Wingdings" pitchFamily="2" charset="2"/>
              <a:buChar char="Ø"/>
            </a:pPr>
            <a:endParaRPr lang="en-US" sz="3600" dirty="0"/>
          </a:p>
        </p:txBody>
      </p:sp>
      <p:sp>
        <p:nvSpPr>
          <p:cNvPr id="4" name="Footer Placeholder 3">
            <a:extLst>
              <a:ext uri="{FF2B5EF4-FFF2-40B4-BE49-F238E27FC236}">
                <a16:creationId xmlns:a16="http://schemas.microsoft.com/office/drawing/2014/main" id="{41BD19E6-FEA5-E5F1-2940-39F53104969A}"/>
              </a:ext>
            </a:extLst>
          </p:cNvPr>
          <p:cNvSpPr>
            <a:spLocks noGrp="1"/>
          </p:cNvSpPr>
          <p:nvPr>
            <p:ph type="ftr" sz="quarter" idx="11"/>
          </p:nvPr>
        </p:nvSpPr>
        <p:spPr/>
        <p:txBody>
          <a:bodyPr/>
          <a:lstStyle/>
          <a:p>
            <a:r>
              <a:rPr lang="en-US"/>
              <a:t>compiled by: IT dep't staffs</a:t>
            </a:r>
            <a:endParaRPr lang="en-US" dirty="0"/>
          </a:p>
        </p:txBody>
      </p:sp>
      <p:sp>
        <p:nvSpPr>
          <p:cNvPr id="5" name="Slide Number Placeholder 4">
            <a:extLst>
              <a:ext uri="{FF2B5EF4-FFF2-40B4-BE49-F238E27FC236}">
                <a16:creationId xmlns:a16="http://schemas.microsoft.com/office/drawing/2014/main" id="{ED7ED04C-058D-F8D6-607B-E16D411542F9}"/>
              </a:ext>
            </a:extLst>
          </p:cNvPr>
          <p:cNvSpPr>
            <a:spLocks noGrp="1"/>
          </p:cNvSpPr>
          <p:nvPr>
            <p:ph type="sldNum" sz="quarter" idx="12"/>
          </p:nvPr>
        </p:nvSpPr>
        <p:spPr/>
        <p:txBody>
          <a:bodyPr/>
          <a:lstStyle/>
          <a:p>
            <a:fld id="{0164FE31-0E14-4B83-80DC-64DA42BE9651}" type="slidenum">
              <a:rPr lang="en-US" smtClean="0"/>
              <a:pPr/>
              <a:t>43</a:t>
            </a:fld>
            <a:endParaRPr lang="en-US"/>
          </a:p>
        </p:txBody>
      </p:sp>
      <p:sp>
        <p:nvSpPr>
          <p:cNvPr id="2" name="Date Placeholder 1">
            <a:extLst>
              <a:ext uri="{FF2B5EF4-FFF2-40B4-BE49-F238E27FC236}">
                <a16:creationId xmlns:a16="http://schemas.microsoft.com/office/drawing/2014/main" id="{F4371BC9-C488-087C-097F-FDDBCE4B4493}"/>
              </a:ext>
            </a:extLst>
          </p:cNvPr>
          <p:cNvSpPr>
            <a:spLocks noGrp="1"/>
          </p:cNvSpPr>
          <p:nvPr>
            <p:ph type="dt" sz="half" idx="10"/>
          </p:nvPr>
        </p:nvSpPr>
        <p:spPr/>
        <p:txBody>
          <a:bodyPr/>
          <a:lstStyle/>
          <a:p>
            <a:fld id="{61A6ECCC-D5D5-4A93-B344-3C8A836FF3D7}" type="datetime1">
              <a:rPr lang="en-US" smtClean="0"/>
              <a:t>2/28/2024</a:t>
            </a:fld>
            <a:endParaRPr lang="en-US"/>
          </a:p>
        </p:txBody>
      </p:sp>
    </p:spTree>
    <p:extLst>
      <p:ext uri="{BB962C8B-B14F-4D97-AF65-F5344CB8AC3E}">
        <p14:creationId xmlns:p14="http://schemas.microsoft.com/office/powerpoint/2010/main" val="2599821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4FE69-2A6C-353C-0ECB-739BB5B8D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B80DE-7E74-C797-A11A-FAA4BB2D9CBA}"/>
              </a:ext>
            </a:extLst>
          </p:cNvPr>
          <p:cNvSpPr>
            <a:spLocks noGrp="1"/>
          </p:cNvSpPr>
          <p:nvPr>
            <p:ph type="title"/>
          </p:nvPr>
        </p:nvSpPr>
        <p:spPr>
          <a:xfrm>
            <a:off x="551280" y="436563"/>
            <a:ext cx="8041440" cy="935037"/>
          </a:xfrm>
        </p:spPr>
        <p:txBody>
          <a:bodyPr/>
          <a:lstStyle/>
          <a:p>
            <a:r>
              <a:rPr lang="en-US" dirty="0">
                <a:solidFill>
                  <a:srgbClr val="00B0F0"/>
                </a:solidFill>
              </a:rPr>
              <a:t>      </a:t>
            </a:r>
            <a:r>
              <a:rPr lang="en-US" b="1" dirty="0">
                <a:solidFill>
                  <a:srgbClr val="00B0F0"/>
                </a:solidFill>
              </a:rPr>
              <a:t>GET cont.…</a:t>
            </a:r>
          </a:p>
        </p:txBody>
      </p:sp>
      <p:sp>
        <p:nvSpPr>
          <p:cNvPr id="3" name="Content Placeholder 2">
            <a:extLst>
              <a:ext uri="{FF2B5EF4-FFF2-40B4-BE49-F238E27FC236}">
                <a16:creationId xmlns:a16="http://schemas.microsoft.com/office/drawing/2014/main" id="{7F2824AC-656D-62C9-AB1E-4707FB67AB3C}"/>
              </a:ext>
            </a:extLst>
          </p:cNvPr>
          <p:cNvSpPr>
            <a:spLocks noGrp="1"/>
          </p:cNvSpPr>
          <p:nvPr>
            <p:ph idx="1"/>
          </p:nvPr>
        </p:nvSpPr>
        <p:spPr>
          <a:xfrm>
            <a:off x="685800" y="1371600"/>
            <a:ext cx="8041440" cy="5029200"/>
          </a:xfrm>
        </p:spPr>
        <p:txBody>
          <a:bodyPr>
            <a:normAutofit lnSpcReduction="10000"/>
          </a:bodyPr>
          <a:lstStyle/>
          <a:p>
            <a:pPr lvl="0">
              <a:buFont typeface="Wingdings" pitchFamily="2" charset="2"/>
              <a:buChar char="Ø"/>
            </a:pPr>
            <a:r>
              <a:rPr lang="en-US" sz="3600" dirty="0"/>
              <a:t>is restricted to send up to </a:t>
            </a:r>
            <a:r>
              <a:rPr lang="en-US" sz="3600" b="1" dirty="0"/>
              <a:t>1024 characters only.</a:t>
            </a:r>
          </a:p>
          <a:p>
            <a:pPr>
              <a:buFont typeface="Wingdings" pitchFamily="2" charset="2"/>
              <a:buChar char="Ø"/>
            </a:pPr>
            <a:r>
              <a:rPr lang="en-US" sz="3600" b="1" dirty="0"/>
              <a:t>Never use GET </a:t>
            </a:r>
            <a:r>
              <a:rPr lang="en-US" sz="3600" dirty="0"/>
              <a:t>method if you have </a:t>
            </a:r>
            <a:r>
              <a:rPr lang="en-US" sz="3600" b="1" dirty="0"/>
              <a:t>password</a:t>
            </a:r>
            <a:r>
              <a:rPr lang="en-US" sz="3600" dirty="0"/>
              <a:t> or other </a:t>
            </a:r>
            <a:r>
              <a:rPr lang="en-US" sz="3600" b="1" dirty="0"/>
              <a:t>sensitive information</a:t>
            </a:r>
            <a:r>
              <a:rPr lang="en-US" sz="3600" dirty="0"/>
              <a:t> to be sent to the server.</a:t>
            </a:r>
          </a:p>
          <a:p>
            <a:pPr lvl="0">
              <a:buFont typeface="Wingdings" pitchFamily="2" charset="2"/>
              <a:buChar char="Ø"/>
            </a:pPr>
            <a:r>
              <a:rPr lang="en-US" sz="3600" b="1" dirty="0"/>
              <a:t>Can't be used </a:t>
            </a:r>
            <a:r>
              <a:rPr lang="en-US" sz="3600" dirty="0"/>
              <a:t>to send </a:t>
            </a:r>
            <a:r>
              <a:rPr lang="en-US" sz="3600" b="1" dirty="0"/>
              <a:t>binary data</a:t>
            </a:r>
            <a:r>
              <a:rPr lang="en-US" sz="3600" dirty="0"/>
              <a:t>, like </a:t>
            </a:r>
            <a:r>
              <a:rPr lang="en-US" sz="3600" b="1" dirty="0"/>
              <a:t>images</a:t>
            </a:r>
            <a:r>
              <a:rPr lang="en-US" sz="3600" dirty="0"/>
              <a:t> or </a:t>
            </a:r>
            <a:r>
              <a:rPr lang="en-US" sz="3600" b="1" dirty="0"/>
              <a:t>word documents</a:t>
            </a:r>
          </a:p>
          <a:p>
            <a:pPr>
              <a:buFont typeface="Wingdings" pitchFamily="2" charset="2"/>
              <a:buChar char="Ø"/>
            </a:pPr>
            <a:endParaRPr lang="en-US" sz="3600" dirty="0"/>
          </a:p>
        </p:txBody>
      </p:sp>
      <p:sp>
        <p:nvSpPr>
          <p:cNvPr id="4" name="Footer Placeholder 3">
            <a:extLst>
              <a:ext uri="{FF2B5EF4-FFF2-40B4-BE49-F238E27FC236}">
                <a16:creationId xmlns:a16="http://schemas.microsoft.com/office/drawing/2014/main" id="{13B6662F-3371-E0FC-4449-5393A988E871}"/>
              </a:ext>
            </a:extLst>
          </p:cNvPr>
          <p:cNvSpPr>
            <a:spLocks noGrp="1"/>
          </p:cNvSpPr>
          <p:nvPr>
            <p:ph type="ftr" sz="quarter" idx="11"/>
          </p:nvPr>
        </p:nvSpPr>
        <p:spPr/>
        <p:txBody>
          <a:bodyPr/>
          <a:lstStyle/>
          <a:p>
            <a:r>
              <a:rPr lang="en-US"/>
              <a:t>compiled by: IT dep't staffs</a:t>
            </a:r>
            <a:endParaRPr lang="en-US" dirty="0"/>
          </a:p>
        </p:txBody>
      </p:sp>
      <p:sp>
        <p:nvSpPr>
          <p:cNvPr id="5" name="Slide Number Placeholder 4">
            <a:extLst>
              <a:ext uri="{FF2B5EF4-FFF2-40B4-BE49-F238E27FC236}">
                <a16:creationId xmlns:a16="http://schemas.microsoft.com/office/drawing/2014/main" id="{08299AE1-AA58-4342-5AD3-2E84D4982EB5}"/>
              </a:ext>
            </a:extLst>
          </p:cNvPr>
          <p:cNvSpPr>
            <a:spLocks noGrp="1"/>
          </p:cNvSpPr>
          <p:nvPr>
            <p:ph type="sldNum" sz="quarter" idx="12"/>
          </p:nvPr>
        </p:nvSpPr>
        <p:spPr/>
        <p:txBody>
          <a:bodyPr/>
          <a:lstStyle/>
          <a:p>
            <a:fld id="{0164FE31-0E14-4B83-80DC-64DA42BE9651}" type="slidenum">
              <a:rPr lang="en-US" smtClean="0"/>
              <a:pPr/>
              <a:t>44</a:t>
            </a:fld>
            <a:endParaRPr lang="en-US"/>
          </a:p>
        </p:txBody>
      </p:sp>
      <p:sp>
        <p:nvSpPr>
          <p:cNvPr id="6" name="Date Placeholder 5">
            <a:extLst>
              <a:ext uri="{FF2B5EF4-FFF2-40B4-BE49-F238E27FC236}">
                <a16:creationId xmlns:a16="http://schemas.microsoft.com/office/drawing/2014/main" id="{550ACEC2-4301-03B5-A100-F71DE5BD8250}"/>
              </a:ext>
            </a:extLst>
          </p:cNvPr>
          <p:cNvSpPr>
            <a:spLocks noGrp="1"/>
          </p:cNvSpPr>
          <p:nvPr>
            <p:ph type="dt" sz="half" idx="10"/>
          </p:nvPr>
        </p:nvSpPr>
        <p:spPr/>
        <p:txBody>
          <a:bodyPr/>
          <a:lstStyle/>
          <a:p>
            <a:fld id="{FF8938DB-F630-4EA3-B285-1B8F05AF62E7}" type="datetime1">
              <a:rPr lang="en-US" smtClean="0"/>
              <a:t>2/28/2024</a:t>
            </a:fld>
            <a:endParaRPr lang="en-US"/>
          </a:p>
        </p:txBody>
      </p:sp>
    </p:spTree>
    <p:extLst>
      <p:ext uri="{BB962C8B-B14F-4D97-AF65-F5344CB8AC3E}">
        <p14:creationId xmlns:p14="http://schemas.microsoft.com/office/powerpoint/2010/main" val="42288451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C9FA0-8DB7-2C34-2959-C33AEC165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40EA9-22DD-2CBE-3CA0-379A4D083DC9}"/>
              </a:ext>
            </a:extLst>
          </p:cNvPr>
          <p:cNvSpPr>
            <a:spLocks noGrp="1"/>
          </p:cNvSpPr>
          <p:nvPr>
            <p:ph type="title"/>
          </p:nvPr>
        </p:nvSpPr>
        <p:spPr>
          <a:xfrm>
            <a:off x="1945201" y="228600"/>
            <a:ext cx="6589199" cy="990600"/>
          </a:xfrm>
        </p:spPr>
        <p:txBody>
          <a:bodyPr/>
          <a:lstStyle/>
          <a:p>
            <a:r>
              <a:rPr lang="en-US" b="1" dirty="0">
                <a:solidFill>
                  <a:srgbClr val="00B0F0"/>
                </a:solidFill>
              </a:rPr>
              <a:t>How it works</a:t>
            </a:r>
          </a:p>
        </p:txBody>
      </p:sp>
      <p:sp>
        <p:nvSpPr>
          <p:cNvPr id="3" name="Content Placeholder 2">
            <a:extLst>
              <a:ext uri="{FF2B5EF4-FFF2-40B4-BE49-F238E27FC236}">
                <a16:creationId xmlns:a16="http://schemas.microsoft.com/office/drawing/2014/main" id="{E56162AA-6866-79A0-FF49-8FF55C2F4FF1}"/>
              </a:ext>
            </a:extLst>
          </p:cNvPr>
          <p:cNvSpPr>
            <a:spLocks noGrp="1"/>
          </p:cNvSpPr>
          <p:nvPr>
            <p:ph idx="1"/>
          </p:nvPr>
        </p:nvSpPr>
        <p:spPr>
          <a:xfrm>
            <a:off x="1524000" y="1152908"/>
            <a:ext cx="6781800" cy="4790693"/>
          </a:xfrm>
        </p:spPr>
        <p:txBody>
          <a:bodyPr>
            <a:normAutofit fontScale="62500" lnSpcReduction="20000"/>
          </a:bodyPr>
          <a:lstStyle/>
          <a:p>
            <a:pPr>
              <a:buFont typeface="Wingdings" pitchFamily="2" charset="2"/>
              <a:buChar char="Ø"/>
            </a:pPr>
            <a:r>
              <a:rPr lang="en-US" sz="4000" b="1" dirty="0">
                <a:solidFill>
                  <a:srgbClr val="FF0000"/>
                </a:solidFill>
              </a:rPr>
              <a:t>First create a form like:</a:t>
            </a:r>
          </a:p>
          <a:p>
            <a:pPr marL="0" indent="0">
              <a:buNone/>
            </a:pPr>
            <a:r>
              <a:rPr lang="en-US" sz="4000" dirty="0"/>
              <a:t>&lt;html&gt;</a:t>
            </a:r>
          </a:p>
          <a:p>
            <a:pPr marL="0" indent="0">
              <a:buNone/>
            </a:pPr>
            <a:r>
              <a:rPr lang="en-US" sz="4000" dirty="0"/>
              <a:t>&lt;head&gt;&lt;/head&gt;</a:t>
            </a:r>
          </a:p>
          <a:p>
            <a:pPr marL="0" indent="0">
              <a:buNone/>
            </a:pPr>
            <a:r>
              <a:rPr lang="en-US" sz="4000" dirty="0"/>
              <a:t>&lt;body&gt;</a:t>
            </a:r>
          </a:p>
          <a:p>
            <a:pPr marL="0" indent="0">
              <a:buNone/>
            </a:pPr>
            <a:r>
              <a:rPr lang="en-US" sz="3200" b="1" i="1" dirty="0"/>
              <a:t>&lt;form </a:t>
            </a:r>
            <a:r>
              <a:rPr lang="en-US" sz="3200" b="1" i="1" dirty="0">
                <a:effectLst>
                  <a:outerShdw blurRad="38100" dist="38100" dir="2700000" algn="tl">
                    <a:srgbClr val="000000">
                      <a:alpha val="43137"/>
                    </a:srgbClr>
                  </a:outerShdw>
                </a:effectLst>
              </a:rPr>
              <a:t>action=“</a:t>
            </a:r>
            <a:r>
              <a:rPr lang="en-US" sz="3200" b="1" i="1" dirty="0" err="1">
                <a:effectLst>
                  <a:outerShdw blurRad="38100" dist="38100" dir="2700000" algn="tl">
                    <a:srgbClr val="000000">
                      <a:alpha val="43137"/>
                    </a:srgbClr>
                  </a:outerShdw>
                </a:effectLst>
              </a:rPr>
              <a:t>test.php</a:t>
            </a:r>
            <a:r>
              <a:rPr lang="en-US" sz="3200" b="1" i="1" dirty="0">
                <a:effectLst>
                  <a:outerShdw blurRad="38100" dist="38100" dir="2700000" algn="tl">
                    <a:srgbClr val="000000">
                      <a:alpha val="43137"/>
                    </a:srgbClr>
                  </a:outerShdw>
                </a:effectLst>
              </a:rPr>
              <a:t>" method="</a:t>
            </a:r>
            <a:r>
              <a:rPr lang="en-US" sz="3200" b="1" i="1" dirty="0">
                <a:solidFill>
                  <a:srgbClr val="FF0000"/>
                </a:solidFill>
                <a:effectLst>
                  <a:outerShdw blurRad="38100" dist="38100" dir="2700000" algn="tl">
                    <a:srgbClr val="000000">
                      <a:alpha val="43137"/>
                    </a:srgbClr>
                  </a:outerShdw>
                </a:effectLst>
              </a:rPr>
              <a:t>GET</a:t>
            </a:r>
            <a:r>
              <a:rPr lang="en-US" sz="3200" b="1" i="1" dirty="0">
                <a:effectLst>
                  <a:outerShdw blurRad="38100" dist="38100" dir="2700000" algn="tl">
                    <a:srgbClr val="000000">
                      <a:alpha val="43137"/>
                    </a:srgbClr>
                  </a:outerShdw>
                </a:effectLst>
              </a:rPr>
              <a:t>"&gt;</a:t>
            </a:r>
          </a:p>
          <a:p>
            <a:pPr marL="0" indent="0">
              <a:buNone/>
            </a:pPr>
            <a:r>
              <a:rPr lang="en-US" sz="3200" b="1" i="1" dirty="0"/>
              <a:t>  Name: &lt;input type="text" name="name"&gt;</a:t>
            </a:r>
          </a:p>
          <a:p>
            <a:pPr marL="0" indent="0">
              <a:buNone/>
            </a:pPr>
            <a:r>
              <a:rPr lang="en-US" sz="3200" b="1" i="1" dirty="0"/>
              <a:t>  Password: &lt;input type=“password" name=“pw"&gt;</a:t>
            </a:r>
          </a:p>
          <a:p>
            <a:pPr marL="0" indent="0">
              <a:buNone/>
            </a:pPr>
            <a:r>
              <a:rPr lang="en-US" sz="3200" b="1" i="1" dirty="0"/>
              <a:t>  &lt;input type="submit"&gt;</a:t>
            </a:r>
          </a:p>
          <a:p>
            <a:pPr marL="0" indent="0">
              <a:buNone/>
            </a:pPr>
            <a:r>
              <a:rPr lang="en-US" sz="3200" b="1" i="1" dirty="0"/>
              <a:t>  &lt;/form&gt;</a:t>
            </a:r>
          </a:p>
          <a:p>
            <a:pPr marL="0" indent="0">
              <a:buNone/>
            </a:pPr>
            <a:r>
              <a:rPr lang="en-US" sz="3200" dirty="0"/>
              <a:t>&lt;/body&gt;</a:t>
            </a:r>
          </a:p>
          <a:p>
            <a:pPr marL="0" indent="0">
              <a:buNone/>
            </a:pPr>
            <a:r>
              <a:rPr lang="en-US" sz="3200" dirty="0"/>
              <a:t>&lt;/html&gt;</a:t>
            </a:r>
          </a:p>
          <a:p>
            <a:pPr marL="0" indent="0">
              <a:buNone/>
            </a:pPr>
            <a:endParaRPr lang="en-US" dirty="0"/>
          </a:p>
        </p:txBody>
      </p:sp>
      <p:sp>
        <p:nvSpPr>
          <p:cNvPr id="4" name="Footer Placeholder 3">
            <a:extLst>
              <a:ext uri="{FF2B5EF4-FFF2-40B4-BE49-F238E27FC236}">
                <a16:creationId xmlns:a16="http://schemas.microsoft.com/office/drawing/2014/main" id="{C13E4022-F295-EB2A-2199-372FF9DAFECB}"/>
              </a:ext>
            </a:extLst>
          </p:cNvPr>
          <p:cNvSpPr>
            <a:spLocks noGrp="1"/>
          </p:cNvSpPr>
          <p:nvPr>
            <p:ph type="ftr" sz="quarter" idx="11"/>
          </p:nvPr>
        </p:nvSpPr>
        <p:spPr/>
        <p:txBody>
          <a:bodyPr/>
          <a:lstStyle/>
          <a:p>
            <a:r>
              <a:rPr lang="en-US"/>
              <a:t>compiled by: IT dep't staffs</a:t>
            </a:r>
            <a:endParaRPr lang="en-US" dirty="0"/>
          </a:p>
        </p:txBody>
      </p:sp>
      <p:sp>
        <p:nvSpPr>
          <p:cNvPr id="5" name="Slide Number Placeholder 4">
            <a:extLst>
              <a:ext uri="{FF2B5EF4-FFF2-40B4-BE49-F238E27FC236}">
                <a16:creationId xmlns:a16="http://schemas.microsoft.com/office/drawing/2014/main" id="{7043F381-430F-2874-0A9D-E97C75EB654B}"/>
              </a:ext>
            </a:extLst>
          </p:cNvPr>
          <p:cNvSpPr>
            <a:spLocks noGrp="1"/>
          </p:cNvSpPr>
          <p:nvPr>
            <p:ph type="sldNum" sz="quarter" idx="12"/>
          </p:nvPr>
        </p:nvSpPr>
        <p:spPr/>
        <p:txBody>
          <a:bodyPr/>
          <a:lstStyle/>
          <a:p>
            <a:fld id="{0164FE31-0E14-4B83-80DC-64DA42BE9651}" type="slidenum">
              <a:rPr lang="en-US" smtClean="0"/>
              <a:pPr/>
              <a:t>45</a:t>
            </a:fld>
            <a:endParaRPr lang="en-US"/>
          </a:p>
        </p:txBody>
      </p:sp>
      <p:sp>
        <p:nvSpPr>
          <p:cNvPr id="6" name="Date Placeholder 5">
            <a:extLst>
              <a:ext uri="{FF2B5EF4-FFF2-40B4-BE49-F238E27FC236}">
                <a16:creationId xmlns:a16="http://schemas.microsoft.com/office/drawing/2014/main" id="{143353D4-198D-5B20-2CD1-C91EE203619B}"/>
              </a:ext>
            </a:extLst>
          </p:cNvPr>
          <p:cNvSpPr>
            <a:spLocks noGrp="1"/>
          </p:cNvSpPr>
          <p:nvPr>
            <p:ph type="dt" sz="half" idx="10"/>
          </p:nvPr>
        </p:nvSpPr>
        <p:spPr/>
        <p:txBody>
          <a:bodyPr/>
          <a:lstStyle/>
          <a:p>
            <a:fld id="{5B6B9825-71F5-46A0-AB7D-38A6D1355B98}" type="datetime1">
              <a:rPr lang="en-US" smtClean="0"/>
              <a:t>2/28/2024</a:t>
            </a:fld>
            <a:endParaRPr lang="en-US"/>
          </a:p>
        </p:txBody>
      </p:sp>
    </p:spTree>
    <p:extLst>
      <p:ext uri="{BB962C8B-B14F-4D97-AF65-F5344CB8AC3E}">
        <p14:creationId xmlns:p14="http://schemas.microsoft.com/office/powerpoint/2010/main" val="40326966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37686-7846-0C9A-C9B6-24A371922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E6159-D02D-E9E1-E6C5-3A15B6078271}"/>
              </a:ext>
            </a:extLst>
          </p:cNvPr>
          <p:cNvSpPr>
            <a:spLocks noGrp="1"/>
          </p:cNvSpPr>
          <p:nvPr>
            <p:ph type="title"/>
          </p:nvPr>
        </p:nvSpPr>
        <p:spPr>
          <a:xfrm>
            <a:off x="551280" y="436563"/>
            <a:ext cx="8041440" cy="706437"/>
          </a:xfrm>
        </p:spPr>
        <p:txBody>
          <a:bodyPr/>
          <a:lstStyle/>
          <a:p>
            <a:r>
              <a:rPr lang="en-US" dirty="0"/>
              <a:t>      </a:t>
            </a:r>
            <a:r>
              <a:rPr lang="en-US" dirty="0">
                <a:solidFill>
                  <a:srgbClr val="00B0F0"/>
                </a:solidFill>
              </a:rPr>
              <a:t>Cont.…</a:t>
            </a:r>
          </a:p>
        </p:txBody>
      </p:sp>
      <p:sp>
        <p:nvSpPr>
          <p:cNvPr id="3" name="Content Placeholder 2">
            <a:extLst>
              <a:ext uri="{FF2B5EF4-FFF2-40B4-BE49-F238E27FC236}">
                <a16:creationId xmlns:a16="http://schemas.microsoft.com/office/drawing/2014/main" id="{74E423E6-54B2-6368-53FA-FB86E215B26D}"/>
              </a:ext>
            </a:extLst>
          </p:cNvPr>
          <p:cNvSpPr>
            <a:spLocks noGrp="1"/>
          </p:cNvSpPr>
          <p:nvPr>
            <p:ph idx="1"/>
          </p:nvPr>
        </p:nvSpPr>
        <p:spPr>
          <a:xfrm>
            <a:off x="762000" y="1295400"/>
            <a:ext cx="8077200" cy="5334000"/>
          </a:xfrm>
        </p:spPr>
        <p:txBody>
          <a:bodyPr>
            <a:normAutofit fontScale="70000" lnSpcReduction="20000"/>
          </a:bodyPr>
          <a:lstStyle/>
          <a:p>
            <a:pPr>
              <a:buFont typeface="Wingdings" pitchFamily="2" charset="2"/>
              <a:buChar char="Ø"/>
            </a:pPr>
            <a:r>
              <a:rPr lang="en-US" sz="5700" dirty="0"/>
              <a:t>Create another file </a:t>
            </a:r>
            <a:r>
              <a:rPr lang="en-US" sz="5700" b="1" dirty="0" err="1"/>
              <a:t>test.php</a:t>
            </a:r>
            <a:endParaRPr lang="en-US" sz="5700" b="1" dirty="0"/>
          </a:p>
          <a:p>
            <a:pPr marL="0" indent="0">
              <a:buNone/>
            </a:pPr>
            <a:r>
              <a:rPr lang="en-US" sz="4100" b="1" dirty="0"/>
              <a:t>&lt;?</a:t>
            </a:r>
            <a:r>
              <a:rPr lang="en-US" sz="4100" b="1" dirty="0" err="1"/>
              <a:t>php</a:t>
            </a:r>
            <a:endParaRPr lang="en-US" sz="4100" b="1" dirty="0"/>
          </a:p>
          <a:p>
            <a:pPr marL="0" indent="0">
              <a:buNone/>
            </a:pPr>
            <a:r>
              <a:rPr lang="en-US" sz="4100" b="1" dirty="0"/>
              <a:t>  if( $_GET["name"] || $_GET[“pw"] )</a:t>
            </a:r>
          </a:p>
          <a:p>
            <a:pPr marL="0" indent="0">
              <a:buNone/>
            </a:pPr>
            <a:r>
              <a:rPr lang="en-US" sz="4100" b="1" dirty="0"/>
              <a:t>  {</a:t>
            </a:r>
          </a:p>
          <a:p>
            <a:pPr marL="0" indent="0">
              <a:buNone/>
            </a:pPr>
            <a:r>
              <a:rPr lang="en-US" sz="4100" b="1" dirty="0"/>
              <a:t>     echo "Welcome ". $_GET['name']. "&lt;</a:t>
            </a:r>
            <a:r>
              <a:rPr lang="en-US" sz="4100" b="1" dirty="0" err="1"/>
              <a:t>br</a:t>
            </a:r>
            <a:r>
              <a:rPr lang="en-US" sz="4100" b="1" dirty="0"/>
              <a:t>&gt;";</a:t>
            </a:r>
          </a:p>
          <a:p>
            <a:pPr marL="0" indent="0">
              <a:buNone/>
            </a:pPr>
            <a:r>
              <a:rPr lang="en-US" sz="4100" b="1" dirty="0"/>
              <a:t>     echo "You are ". $_GET[‘pw']. "years old.";</a:t>
            </a:r>
          </a:p>
          <a:p>
            <a:pPr marL="0" indent="0">
              <a:buNone/>
            </a:pPr>
            <a:r>
              <a:rPr lang="en-US" sz="4100" b="1" dirty="0"/>
              <a:t>     exit();</a:t>
            </a:r>
          </a:p>
          <a:p>
            <a:pPr marL="0" indent="0">
              <a:buNone/>
            </a:pPr>
            <a:r>
              <a:rPr lang="en-US" sz="4100" b="1" dirty="0"/>
              <a:t>  }</a:t>
            </a:r>
          </a:p>
          <a:p>
            <a:pPr marL="0" indent="0">
              <a:buNone/>
            </a:pPr>
            <a:r>
              <a:rPr lang="en-US" sz="4100" b="1" dirty="0"/>
              <a:t>?&gt;</a:t>
            </a:r>
          </a:p>
          <a:p>
            <a:pPr marL="0" indent="0">
              <a:buNone/>
            </a:pPr>
            <a:endParaRPr lang="en-US" sz="3600" b="1" dirty="0"/>
          </a:p>
        </p:txBody>
      </p:sp>
      <p:sp>
        <p:nvSpPr>
          <p:cNvPr id="4" name="Footer Placeholder 3">
            <a:extLst>
              <a:ext uri="{FF2B5EF4-FFF2-40B4-BE49-F238E27FC236}">
                <a16:creationId xmlns:a16="http://schemas.microsoft.com/office/drawing/2014/main" id="{4F0CEC05-A619-A411-AC6F-7468B7D34138}"/>
              </a:ext>
            </a:extLst>
          </p:cNvPr>
          <p:cNvSpPr>
            <a:spLocks noGrp="1"/>
          </p:cNvSpPr>
          <p:nvPr>
            <p:ph type="ftr" sz="quarter" idx="11"/>
          </p:nvPr>
        </p:nvSpPr>
        <p:spPr/>
        <p:txBody>
          <a:bodyPr/>
          <a:lstStyle/>
          <a:p>
            <a:r>
              <a:rPr lang="en-US"/>
              <a:t>compiled by: IT dep't staffs</a:t>
            </a:r>
            <a:endParaRPr lang="en-US" dirty="0"/>
          </a:p>
        </p:txBody>
      </p:sp>
      <p:sp>
        <p:nvSpPr>
          <p:cNvPr id="5" name="Slide Number Placeholder 4">
            <a:extLst>
              <a:ext uri="{FF2B5EF4-FFF2-40B4-BE49-F238E27FC236}">
                <a16:creationId xmlns:a16="http://schemas.microsoft.com/office/drawing/2014/main" id="{3DA28EB9-005B-616B-98AA-509FFBB4FF5A}"/>
              </a:ext>
            </a:extLst>
          </p:cNvPr>
          <p:cNvSpPr>
            <a:spLocks noGrp="1"/>
          </p:cNvSpPr>
          <p:nvPr>
            <p:ph type="sldNum" sz="quarter" idx="12"/>
          </p:nvPr>
        </p:nvSpPr>
        <p:spPr/>
        <p:txBody>
          <a:bodyPr/>
          <a:lstStyle/>
          <a:p>
            <a:r>
              <a:rPr lang="en-US" dirty="0"/>
              <a:t> </a:t>
            </a:r>
            <a:fld id="{0164FE31-0E14-4B83-80DC-64DA42BE9651}" type="slidenum">
              <a:rPr lang="en-US" smtClean="0"/>
              <a:pPr/>
              <a:t>46</a:t>
            </a:fld>
            <a:endParaRPr lang="en-US" dirty="0"/>
          </a:p>
        </p:txBody>
      </p:sp>
      <p:sp>
        <p:nvSpPr>
          <p:cNvPr id="6" name="Date Placeholder 5">
            <a:extLst>
              <a:ext uri="{FF2B5EF4-FFF2-40B4-BE49-F238E27FC236}">
                <a16:creationId xmlns:a16="http://schemas.microsoft.com/office/drawing/2014/main" id="{DA6F2418-29EC-70BD-9006-11C5F54E1329}"/>
              </a:ext>
            </a:extLst>
          </p:cNvPr>
          <p:cNvSpPr>
            <a:spLocks noGrp="1"/>
          </p:cNvSpPr>
          <p:nvPr>
            <p:ph type="dt" sz="half" idx="10"/>
          </p:nvPr>
        </p:nvSpPr>
        <p:spPr/>
        <p:txBody>
          <a:bodyPr/>
          <a:lstStyle/>
          <a:p>
            <a:fld id="{08834CEE-E95D-420D-9ECC-D30570336A0B}" type="datetime1">
              <a:rPr lang="en-US" smtClean="0"/>
              <a:t>2/28/2024</a:t>
            </a:fld>
            <a:endParaRPr lang="en-US"/>
          </a:p>
        </p:txBody>
      </p:sp>
    </p:spTree>
    <p:extLst>
      <p:ext uri="{BB962C8B-B14F-4D97-AF65-F5344CB8AC3E}">
        <p14:creationId xmlns:p14="http://schemas.microsoft.com/office/powerpoint/2010/main" val="3460493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63D85-028F-E095-4CB1-BD1F6AB79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8BA5D-4998-26D7-A3E3-E1E665F622C6}"/>
              </a:ext>
            </a:extLst>
          </p:cNvPr>
          <p:cNvSpPr>
            <a:spLocks noGrp="1"/>
          </p:cNvSpPr>
          <p:nvPr>
            <p:ph type="title"/>
          </p:nvPr>
        </p:nvSpPr>
        <p:spPr/>
        <p:txBody>
          <a:bodyPr/>
          <a:lstStyle/>
          <a:p>
            <a:r>
              <a:rPr lang="en-US" b="1" dirty="0">
                <a:solidFill>
                  <a:srgbClr val="FF0000"/>
                </a:solidFill>
              </a:rPr>
              <a:t>POST</a:t>
            </a:r>
            <a:r>
              <a:rPr lang="en-US" b="1" dirty="0">
                <a:solidFill>
                  <a:srgbClr val="00B0F0"/>
                </a:solidFill>
              </a:rPr>
              <a:t> method </a:t>
            </a:r>
            <a:r>
              <a:rPr lang="en-US" dirty="0">
                <a:solidFill>
                  <a:srgbClr val="00B0F0"/>
                </a:solidFill>
              </a:rPr>
              <a:t>and </a:t>
            </a:r>
            <a:r>
              <a:rPr lang="en-US" b="1" dirty="0">
                <a:solidFill>
                  <a:srgbClr val="FF0000"/>
                </a:solidFill>
              </a:rPr>
              <a:t>$_POST </a:t>
            </a:r>
            <a:r>
              <a:rPr lang="en-US" b="1" dirty="0">
                <a:solidFill>
                  <a:srgbClr val="00B0F0"/>
                </a:solidFill>
              </a:rPr>
              <a:t>variable</a:t>
            </a:r>
            <a:endParaRPr lang="en-US" dirty="0">
              <a:solidFill>
                <a:srgbClr val="00B0F0"/>
              </a:solidFill>
            </a:endParaRPr>
          </a:p>
        </p:txBody>
      </p:sp>
      <p:sp>
        <p:nvSpPr>
          <p:cNvPr id="3" name="Content Placeholder 2">
            <a:extLst>
              <a:ext uri="{FF2B5EF4-FFF2-40B4-BE49-F238E27FC236}">
                <a16:creationId xmlns:a16="http://schemas.microsoft.com/office/drawing/2014/main" id="{E9066DAC-B3C0-394B-2AFD-D586A74FE4E3}"/>
              </a:ext>
            </a:extLst>
          </p:cNvPr>
          <p:cNvSpPr>
            <a:spLocks noGrp="1"/>
          </p:cNvSpPr>
          <p:nvPr>
            <p:ph idx="1"/>
          </p:nvPr>
        </p:nvSpPr>
        <p:spPr>
          <a:xfrm>
            <a:off x="1600201" y="2133600"/>
            <a:ext cx="6934200" cy="3777622"/>
          </a:xfrm>
        </p:spPr>
        <p:txBody>
          <a:bodyPr>
            <a:normAutofit fontScale="92500"/>
          </a:bodyPr>
          <a:lstStyle/>
          <a:p>
            <a:pPr>
              <a:buFont typeface="Wingdings" pitchFamily="2" charset="2"/>
              <a:buChar char="Ø"/>
            </a:pPr>
            <a:r>
              <a:rPr lang="en-US" sz="3600" b="1" dirty="0"/>
              <a:t>Does not have any restriction </a:t>
            </a:r>
            <a:r>
              <a:rPr lang="en-US" sz="3600" dirty="0"/>
              <a:t>on data size to be sent</a:t>
            </a:r>
          </a:p>
          <a:p>
            <a:pPr>
              <a:buFont typeface="Wingdings" pitchFamily="2" charset="2"/>
              <a:buChar char="Ø"/>
            </a:pPr>
            <a:r>
              <a:rPr lang="en-US" sz="3600" dirty="0"/>
              <a:t>Can be used to send </a:t>
            </a:r>
            <a:r>
              <a:rPr lang="en-US" sz="3600" b="1" dirty="0"/>
              <a:t>ASCII</a:t>
            </a:r>
            <a:r>
              <a:rPr lang="en-US" sz="3600" dirty="0"/>
              <a:t> as well as </a:t>
            </a:r>
            <a:r>
              <a:rPr lang="en-US" sz="3600" b="1" dirty="0"/>
              <a:t>binary data</a:t>
            </a:r>
          </a:p>
          <a:p>
            <a:pPr>
              <a:buFont typeface="Wingdings" pitchFamily="2" charset="2"/>
              <a:buChar char="Ø"/>
            </a:pPr>
            <a:r>
              <a:rPr lang="en-US" sz="3600" b="1" dirty="0">
                <a:solidFill>
                  <a:srgbClr val="FF0000"/>
                </a:solidFill>
              </a:rPr>
              <a:t>$_POST </a:t>
            </a:r>
            <a:r>
              <a:rPr lang="en-US" sz="3600" b="1" dirty="0"/>
              <a:t>accepts/holds the sent data</a:t>
            </a:r>
          </a:p>
        </p:txBody>
      </p:sp>
      <p:sp>
        <p:nvSpPr>
          <p:cNvPr id="4" name="Footer Placeholder 3">
            <a:extLst>
              <a:ext uri="{FF2B5EF4-FFF2-40B4-BE49-F238E27FC236}">
                <a16:creationId xmlns:a16="http://schemas.microsoft.com/office/drawing/2014/main" id="{BEF930E9-F1C0-3695-9F6E-6D64B50FCD95}"/>
              </a:ext>
            </a:extLst>
          </p:cNvPr>
          <p:cNvSpPr>
            <a:spLocks noGrp="1"/>
          </p:cNvSpPr>
          <p:nvPr>
            <p:ph type="ftr" sz="quarter" idx="11"/>
          </p:nvPr>
        </p:nvSpPr>
        <p:spPr/>
        <p:txBody>
          <a:bodyPr/>
          <a:lstStyle/>
          <a:p>
            <a:r>
              <a:rPr lang="en-US"/>
              <a:t>compiled by: IT dep't staffs</a:t>
            </a:r>
            <a:endParaRPr lang="en-US" dirty="0"/>
          </a:p>
        </p:txBody>
      </p:sp>
      <p:sp>
        <p:nvSpPr>
          <p:cNvPr id="5" name="Slide Number Placeholder 4">
            <a:extLst>
              <a:ext uri="{FF2B5EF4-FFF2-40B4-BE49-F238E27FC236}">
                <a16:creationId xmlns:a16="http://schemas.microsoft.com/office/drawing/2014/main" id="{8895C6A5-CCE2-C123-57F4-4D243E0B1F26}"/>
              </a:ext>
            </a:extLst>
          </p:cNvPr>
          <p:cNvSpPr>
            <a:spLocks noGrp="1"/>
          </p:cNvSpPr>
          <p:nvPr>
            <p:ph type="sldNum" sz="quarter" idx="12"/>
          </p:nvPr>
        </p:nvSpPr>
        <p:spPr/>
        <p:txBody>
          <a:bodyPr/>
          <a:lstStyle/>
          <a:p>
            <a:fld id="{0164FE31-0E14-4B83-80DC-64DA42BE9651}" type="slidenum">
              <a:rPr lang="en-US" smtClean="0"/>
              <a:pPr/>
              <a:t>47</a:t>
            </a:fld>
            <a:endParaRPr lang="en-US"/>
          </a:p>
        </p:txBody>
      </p:sp>
      <p:sp>
        <p:nvSpPr>
          <p:cNvPr id="6" name="Date Placeholder 5">
            <a:extLst>
              <a:ext uri="{FF2B5EF4-FFF2-40B4-BE49-F238E27FC236}">
                <a16:creationId xmlns:a16="http://schemas.microsoft.com/office/drawing/2014/main" id="{7EED942A-AA8F-ACA4-85A1-09F03B745E8E}"/>
              </a:ext>
            </a:extLst>
          </p:cNvPr>
          <p:cNvSpPr>
            <a:spLocks noGrp="1"/>
          </p:cNvSpPr>
          <p:nvPr>
            <p:ph type="dt" sz="half" idx="10"/>
          </p:nvPr>
        </p:nvSpPr>
        <p:spPr/>
        <p:txBody>
          <a:bodyPr/>
          <a:lstStyle/>
          <a:p>
            <a:fld id="{EC1C6D06-3581-45BF-B5D8-DC4FA0264799}" type="datetime1">
              <a:rPr lang="en-US" smtClean="0"/>
              <a:t>2/28/2024</a:t>
            </a:fld>
            <a:endParaRPr lang="en-US"/>
          </a:p>
        </p:txBody>
      </p:sp>
    </p:spTree>
    <p:extLst>
      <p:ext uri="{BB962C8B-B14F-4D97-AF65-F5344CB8AC3E}">
        <p14:creationId xmlns:p14="http://schemas.microsoft.com/office/powerpoint/2010/main" val="37129960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0950A-8C81-E44E-9EB1-96D9E5D16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5650D-8EFD-15B4-7F6E-1D3CAE7684D9}"/>
              </a:ext>
            </a:extLst>
          </p:cNvPr>
          <p:cNvSpPr>
            <a:spLocks noGrp="1"/>
          </p:cNvSpPr>
          <p:nvPr>
            <p:ph type="title"/>
          </p:nvPr>
        </p:nvSpPr>
        <p:spPr>
          <a:xfrm>
            <a:off x="1943937" y="405418"/>
            <a:ext cx="6589199" cy="747490"/>
          </a:xfrm>
        </p:spPr>
        <p:txBody>
          <a:bodyPr/>
          <a:lstStyle/>
          <a:p>
            <a:r>
              <a:rPr lang="en-US" b="1" dirty="0">
                <a:solidFill>
                  <a:srgbClr val="FF0000"/>
                </a:solidFill>
              </a:rPr>
              <a:t>How it works</a:t>
            </a:r>
          </a:p>
        </p:txBody>
      </p:sp>
      <p:sp>
        <p:nvSpPr>
          <p:cNvPr id="3" name="Content Placeholder 2">
            <a:extLst>
              <a:ext uri="{FF2B5EF4-FFF2-40B4-BE49-F238E27FC236}">
                <a16:creationId xmlns:a16="http://schemas.microsoft.com/office/drawing/2014/main" id="{513EE9C7-5DB0-FA2A-DD2E-205702F6A6DB}"/>
              </a:ext>
            </a:extLst>
          </p:cNvPr>
          <p:cNvSpPr>
            <a:spLocks noGrp="1"/>
          </p:cNvSpPr>
          <p:nvPr>
            <p:ph idx="1"/>
          </p:nvPr>
        </p:nvSpPr>
        <p:spPr>
          <a:xfrm>
            <a:off x="381000" y="1447800"/>
            <a:ext cx="8534400" cy="4286212"/>
          </a:xfrm>
        </p:spPr>
        <p:txBody>
          <a:bodyPr>
            <a:normAutofit/>
          </a:bodyPr>
          <a:lstStyle/>
          <a:p>
            <a:pPr marL="0" indent="0">
              <a:buNone/>
            </a:pPr>
            <a:r>
              <a:rPr lang="en-US" sz="2800" dirty="0"/>
              <a:t>&lt;form </a:t>
            </a:r>
            <a:r>
              <a:rPr lang="en-US" sz="2800" b="1" dirty="0">
                <a:effectLst>
                  <a:outerShdw blurRad="38100" dist="38100" dir="2700000" algn="tl">
                    <a:srgbClr val="000000">
                      <a:alpha val="43137"/>
                    </a:srgbClr>
                  </a:outerShdw>
                </a:effectLst>
              </a:rPr>
              <a:t>action</a:t>
            </a:r>
            <a:r>
              <a:rPr lang="en-US" sz="2800" dirty="0">
                <a:effectLst>
                  <a:outerShdw blurRad="38100" dist="38100" dir="2700000" algn="tl">
                    <a:srgbClr val="000000">
                      <a:alpha val="43137"/>
                    </a:srgbClr>
                  </a:outerShdw>
                </a:effectLst>
              </a:rPr>
              <a:t>=“</a:t>
            </a:r>
            <a:r>
              <a:rPr lang="en-US" sz="2800" dirty="0" err="1">
                <a:solidFill>
                  <a:srgbClr val="FF0000"/>
                </a:solidFill>
              </a:rPr>
              <a:t>PostTest.php</a:t>
            </a:r>
            <a:r>
              <a:rPr lang="en-US" sz="2800" dirty="0">
                <a:solidFill>
                  <a:srgbClr val="FF0000"/>
                </a:solidFill>
              </a:rPr>
              <a:t> </a:t>
            </a:r>
            <a:r>
              <a:rPr lang="en-US" sz="2800" dirty="0">
                <a:effectLst>
                  <a:outerShdw blurRad="38100" dist="38100" dir="2700000" algn="tl">
                    <a:srgbClr val="000000">
                      <a:alpha val="43137"/>
                    </a:srgbClr>
                  </a:outerShdw>
                </a:effectLst>
              </a:rPr>
              <a:t>" </a:t>
            </a:r>
            <a:r>
              <a:rPr lang="en-US" sz="2800" b="1" dirty="0">
                <a:effectLst>
                  <a:outerShdw blurRad="38100" dist="38100" dir="2700000" algn="tl">
                    <a:srgbClr val="000000">
                      <a:alpha val="43137"/>
                    </a:srgbClr>
                  </a:outerShdw>
                </a:effectLst>
              </a:rPr>
              <a:t>method</a:t>
            </a:r>
            <a:r>
              <a:rPr lang="en-US" sz="2800" dirty="0">
                <a:effectLst>
                  <a:outerShdw blurRad="38100" dist="38100" dir="2700000" algn="tl">
                    <a:srgbClr val="000000">
                      <a:alpha val="43137"/>
                    </a:srgbClr>
                  </a:outerShdw>
                </a:effectLst>
              </a:rPr>
              <a:t>="</a:t>
            </a:r>
            <a:r>
              <a:rPr lang="en-US" sz="2800" dirty="0"/>
              <a:t> </a:t>
            </a:r>
            <a:r>
              <a:rPr lang="en-US" sz="2800" b="1" dirty="0">
                <a:solidFill>
                  <a:srgbClr val="FF0000"/>
                </a:solidFill>
              </a:rPr>
              <a:t>POST</a:t>
            </a:r>
            <a:r>
              <a:rPr lang="en-US" sz="2800" b="1" dirty="0"/>
              <a:t> </a:t>
            </a:r>
            <a:r>
              <a:rPr lang="en-US" sz="2800" dirty="0">
                <a:effectLst>
                  <a:outerShdw blurRad="38100" dist="38100" dir="2700000" algn="tl">
                    <a:srgbClr val="000000">
                      <a:alpha val="43137"/>
                    </a:srgbClr>
                  </a:outerShdw>
                </a:effectLst>
              </a:rPr>
              <a:t>"&gt;</a:t>
            </a:r>
          </a:p>
          <a:p>
            <a:pPr marL="0" indent="0">
              <a:buNone/>
            </a:pPr>
            <a:r>
              <a:rPr lang="en-US" sz="3200" dirty="0"/>
              <a:t>  Name: &lt;input type="text" name="name"&gt;</a:t>
            </a:r>
          </a:p>
          <a:p>
            <a:pPr marL="0" indent="0">
              <a:buNone/>
            </a:pPr>
            <a:r>
              <a:rPr lang="en-US" sz="3200" dirty="0"/>
              <a:t>  Age: &lt;input type="text" name="age"&gt;</a:t>
            </a:r>
          </a:p>
          <a:p>
            <a:pPr marL="0" indent="0">
              <a:buNone/>
            </a:pPr>
            <a:r>
              <a:rPr lang="en-US" sz="3200" dirty="0"/>
              <a:t>  &lt;input type="submit"&gt;</a:t>
            </a:r>
          </a:p>
          <a:p>
            <a:pPr marL="0" indent="0">
              <a:buNone/>
            </a:pPr>
            <a:r>
              <a:rPr lang="en-US" sz="3200" dirty="0"/>
              <a:t>  &lt;/form&gt;</a:t>
            </a:r>
          </a:p>
          <a:p>
            <a:pPr marL="0" indent="0">
              <a:buNone/>
            </a:pPr>
            <a:endParaRPr lang="en-US" sz="3600" dirty="0"/>
          </a:p>
        </p:txBody>
      </p:sp>
      <p:sp>
        <p:nvSpPr>
          <p:cNvPr id="4" name="Footer Placeholder 3">
            <a:extLst>
              <a:ext uri="{FF2B5EF4-FFF2-40B4-BE49-F238E27FC236}">
                <a16:creationId xmlns:a16="http://schemas.microsoft.com/office/drawing/2014/main" id="{617D25EE-6C76-400E-80B8-11DD87A95395}"/>
              </a:ext>
            </a:extLst>
          </p:cNvPr>
          <p:cNvSpPr>
            <a:spLocks noGrp="1"/>
          </p:cNvSpPr>
          <p:nvPr>
            <p:ph type="ftr" sz="quarter" idx="11"/>
          </p:nvPr>
        </p:nvSpPr>
        <p:spPr/>
        <p:txBody>
          <a:bodyPr/>
          <a:lstStyle/>
          <a:p>
            <a:r>
              <a:rPr lang="en-US"/>
              <a:t>compiled by: IT dep't staffs</a:t>
            </a:r>
            <a:endParaRPr lang="en-US" dirty="0"/>
          </a:p>
        </p:txBody>
      </p:sp>
      <p:sp>
        <p:nvSpPr>
          <p:cNvPr id="5" name="Slide Number Placeholder 4">
            <a:extLst>
              <a:ext uri="{FF2B5EF4-FFF2-40B4-BE49-F238E27FC236}">
                <a16:creationId xmlns:a16="http://schemas.microsoft.com/office/drawing/2014/main" id="{3178F3EB-7E8B-DC98-8C25-527D99889677}"/>
              </a:ext>
            </a:extLst>
          </p:cNvPr>
          <p:cNvSpPr>
            <a:spLocks noGrp="1"/>
          </p:cNvSpPr>
          <p:nvPr>
            <p:ph type="sldNum" sz="quarter" idx="12"/>
          </p:nvPr>
        </p:nvSpPr>
        <p:spPr/>
        <p:txBody>
          <a:bodyPr/>
          <a:lstStyle/>
          <a:p>
            <a:fld id="{0164FE31-0E14-4B83-80DC-64DA42BE9651}" type="slidenum">
              <a:rPr lang="en-US" smtClean="0"/>
              <a:pPr/>
              <a:t>48</a:t>
            </a:fld>
            <a:endParaRPr lang="en-US"/>
          </a:p>
        </p:txBody>
      </p:sp>
      <p:sp>
        <p:nvSpPr>
          <p:cNvPr id="6" name="Date Placeholder 5">
            <a:extLst>
              <a:ext uri="{FF2B5EF4-FFF2-40B4-BE49-F238E27FC236}">
                <a16:creationId xmlns:a16="http://schemas.microsoft.com/office/drawing/2014/main" id="{6D5A44B8-2198-466C-830F-C7FE23391D34}"/>
              </a:ext>
            </a:extLst>
          </p:cNvPr>
          <p:cNvSpPr>
            <a:spLocks noGrp="1"/>
          </p:cNvSpPr>
          <p:nvPr>
            <p:ph type="dt" sz="half" idx="10"/>
          </p:nvPr>
        </p:nvSpPr>
        <p:spPr/>
        <p:txBody>
          <a:bodyPr/>
          <a:lstStyle/>
          <a:p>
            <a:fld id="{9FF79CD3-929E-48C3-986E-44F0F237AB22}" type="datetime1">
              <a:rPr lang="en-US" smtClean="0"/>
              <a:t>2/28/2024</a:t>
            </a:fld>
            <a:endParaRPr lang="en-US"/>
          </a:p>
        </p:txBody>
      </p:sp>
    </p:spTree>
    <p:extLst>
      <p:ext uri="{BB962C8B-B14F-4D97-AF65-F5344CB8AC3E}">
        <p14:creationId xmlns:p14="http://schemas.microsoft.com/office/powerpoint/2010/main" val="38017671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31119-E87C-3361-9462-2AF6C8178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0EFC0-4AC7-1A67-90E2-95FB77E5E9D6}"/>
              </a:ext>
            </a:extLst>
          </p:cNvPr>
          <p:cNvSpPr>
            <a:spLocks noGrp="1"/>
          </p:cNvSpPr>
          <p:nvPr>
            <p:ph type="title"/>
          </p:nvPr>
        </p:nvSpPr>
        <p:spPr>
          <a:xfrm>
            <a:off x="1942415" y="228600"/>
            <a:ext cx="6591985" cy="1676400"/>
          </a:xfrm>
        </p:spPr>
        <p:txBody>
          <a:bodyPr/>
          <a:lstStyle/>
          <a:p>
            <a:r>
              <a:rPr lang="en-US" dirty="0">
                <a:solidFill>
                  <a:srgbClr val="00B0F0"/>
                </a:solidFill>
              </a:rPr>
              <a:t>Cont.…</a:t>
            </a:r>
          </a:p>
        </p:txBody>
      </p:sp>
      <p:sp>
        <p:nvSpPr>
          <p:cNvPr id="3" name="Content Placeholder 2">
            <a:extLst>
              <a:ext uri="{FF2B5EF4-FFF2-40B4-BE49-F238E27FC236}">
                <a16:creationId xmlns:a16="http://schemas.microsoft.com/office/drawing/2014/main" id="{2379EA47-C2F9-AE24-EEFD-2E65F1C21030}"/>
              </a:ext>
            </a:extLst>
          </p:cNvPr>
          <p:cNvSpPr>
            <a:spLocks noGrp="1"/>
          </p:cNvSpPr>
          <p:nvPr>
            <p:ph idx="1"/>
          </p:nvPr>
        </p:nvSpPr>
        <p:spPr>
          <a:xfrm>
            <a:off x="1447800" y="787783"/>
            <a:ext cx="7086601" cy="5079617"/>
          </a:xfrm>
        </p:spPr>
        <p:txBody>
          <a:bodyPr>
            <a:noAutofit/>
          </a:bodyPr>
          <a:lstStyle/>
          <a:p>
            <a:pPr marL="0" indent="0">
              <a:buNone/>
            </a:pPr>
            <a:r>
              <a:rPr lang="en-US" sz="2800" dirty="0">
                <a:solidFill>
                  <a:srgbClr val="FF0000"/>
                </a:solidFill>
              </a:rPr>
              <a:t>Create another </a:t>
            </a:r>
            <a:r>
              <a:rPr lang="en-US" sz="2800" dirty="0" err="1">
                <a:solidFill>
                  <a:srgbClr val="FF0000"/>
                </a:solidFill>
              </a:rPr>
              <a:t>PostTest.php</a:t>
            </a:r>
            <a:r>
              <a:rPr lang="en-US" sz="2800" dirty="0">
                <a:solidFill>
                  <a:srgbClr val="FF0000"/>
                </a:solidFill>
              </a:rPr>
              <a:t> file</a:t>
            </a:r>
          </a:p>
          <a:p>
            <a:pPr marL="0" indent="0">
              <a:buNone/>
            </a:pPr>
            <a:r>
              <a:rPr lang="en-US" sz="2400" dirty="0"/>
              <a:t>&lt;?</a:t>
            </a:r>
            <a:r>
              <a:rPr lang="en-US" sz="2400" dirty="0" err="1"/>
              <a:t>php</a:t>
            </a:r>
            <a:endParaRPr lang="en-US" sz="2400" dirty="0"/>
          </a:p>
          <a:p>
            <a:pPr marL="0" indent="0">
              <a:buNone/>
            </a:pPr>
            <a:r>
              <a:rPr lang="en-US" sz="2400" dirty="0"/>
              <a:t>  if( $_ POST["name"] || $_ POST["age"] )</a:t>
            </a:r>
          </a:p>
          <a:p>
            <a:pPr marL="0" indent="0">
              <a:buNone/>
            </a:pPr>
            <a:r>
              <a:rPr lang="en-US" sz="2400" dirty="0"/>
              <a:t>  {</a:t>
            </a:r>
          </a:p>
          <a:p>
            <a:pPr marL="0" indent="0">
              <a:buNone/>
            </a:pPr>
            <a:r>
              <a:rPr lang="en-US" sz="2400" dirty="0"/>
              <a:t>     echo "Welcome ". $_ POST['name']. "&lt;</a:t>
            </a:r>
            <a:r>
              <a:rPr lang="en-US" sz="2400" dirty="0" err="1"/>
              <a:t>br</a:t>
            </a:r>
            <a:r>
              <a:rPr lang="en-US" sz="2400" dirty="0"/>
              <a:t>&gt;";</a:t>
            </a:r>
          </a:p>
          <a:p>
            <a:pPr marL="0" indent="0">
              <a:buNone/>
            </a:pPr>
            <a:r>
              <a:rPr lang="en-US" sz="2400" dirty="0"/>
              <a:t>     echo "You are ". $_POST['age']. "years old.";</a:t>
            </a:r>
          </a:p>
          <a:p>
            <a:pPr marL="0" indent="0">
              <a:buNone/>
            </a:pPr>
            <a:r>
              <a:rPr lang="en-US" sz="2400" dirty="0"/>
              <a:t>     exit();</a:t>
            </a:r>
          </a:p>
          <a:p>
            <a:pPr marL="0" indent="0">
              <a:buNone/>
            </a:pPr>
            <a:r>
              <a:rPr lang="en-US" sz="2400" dirty="0"/>
              <a:t>  }</a:t>
            </a:r>
          </a:p>
          <a:p>
            <a:pPr marL="0" indent="0">
              <a:buNone/>
            </a:pPr>
            <a:r>
              <a:rPr lang="en-US" sz="2400" dirty="0"/>
              <a:t>?&gt;</a:t>
            </a:r>
          </a:p>
          <a:p>
            <a:endParaRPr lang="en-US" sz="2800" dirty="0"/>
          </a:p>
        </p:txBody>
      </p:sp>
      <p:sp>
        <p:nvSpPr>
          <p:cNvPr id="4" name="Footer Placeholder 3">
            <a:extLst>
              <a:ext uri="{FF2B5EF4-FFF2-40B4-BE49-F238E27FC236}">
                <a16:creationId xmlns:a16="http://schemas.microsoft.com/office/drawing/2014/main" id="{79C6C892-1E90-1D3D-8B66-847E1ED5E15E}"/>
              </a:ext>
            </a:extLst>
          </p:cNvPr>
          <p:cNvSpPr>
            <a:spLocks noGrp="1"/>
          </p:cNvSpPr>
          <p:nvPr>
            <p:ph type="ftr" sz="quarter" idx="11"/>
          </p:nvPr>
        </p:nvSpPr>
        <p:spPr/>
        <p:txBody>
          <a:bodyPr/>
          <a:lstStyle/>
          <a:p>
            <a:r>
              <a:rPr lang="en-US"/>
              <a:t>compiled by: IT dep't staffs</a:t>
            </a:r>
            <a:endParaRPr lang="en-US" dirty="0"/>
          </a:p>
        </p:txBody>
      </p:sp>
      <p:sp>
        <p:nvSpPr>
          <p:cNvPr id="5" name="Slide Number Placeholder 4">
            <a:extLst>
              <a:ext uri="{FF2B5EF4-FFF2-40B4-BE49-F238E27FC236}">
                <a16:creationId xmlns:a16="http://schemas.microsoft.com/office/drawing/2014/main" id="{6A7502E0-4E1E-5146-0B5A-03712FCDECC8}"/>
              </a:ext>
            </a:extLst>
          </p:cNvPr>
          <p:cNvSpPr>
            <a:spLocks noGrp="1"/>
          </p:cNvSpPr>
          <p:nvPr>
            <p:ph type="sldNum" sz="quarter" idx="12"/>
          </p:nvPr>
        </p:nvSpPr>
        <p:spPr/>
        <p:txBody>
          <a:bodyPr/>
          <a:lstStyle/>
          <a:p>
            <a:fld id="{0164FE31-0E14-4B83-80DC-64DA42BE9651}" type="slidenum">
              <a:rPr lang="en-US" smtClean="0"/>
              <a:pPr/>
              <a:t>49</a:t>
            </a:fld>
            <a:endParaRPr lang="en-US"/>
          </a:p>
        </p:txBody>
      </p:sp>
      <p:sp>
        <p:nvSpPr>
          <p:cNvPr id="6" name="Date Placeholder 5">
            <a:extLst>
              <a:ext uri="{FF2B5EF4-FFF2-40B4-BE49-F238E27FC236}">
                <a16:creationId xmlns:a16="http://schemas.microsoft.com/office/drawing/2014/main" id="{3D814BEF-ADF3-2A16-10A0-A7DD52F59F3A}"/>
              </a:ext>
            </a:extLst>
          </p:cNvPr>
          <p:cNvSpPr>
            <a:spLocks noGrp="1"/>
          </p:cNvSpPr>
          <p:nvPr>
            <p:ph type="dt" sz="half" idx="10"/>
          </p:nvPr>
        </p:nvSpPr>
        <p:spPr/>
        <p:txBody>
          <a:bodyPr/>
          <a:lstStyle/>
          <a:p>
            <a:fld id="{4B76655B-1094-453B-BC2E-CBE038860851}" type="datetime1">
              <a:rPr lang="en-US" smtClean="0"/>
              <a:t>2/28/2024</a:t>
            </a:fld>
            <a:endParaRPr lang="en-US"/>
          </a:p>
        </p:txBody>
      </p:sp>
    </p:spTree>
    <p:extLst>
      <p:ext uri="{BB962C8B-B14F-4D97-AF65-F5344CB8AC3E}">
        <p14:creationId xmlns:p14="http://schemas.microsoft.com/office/powerpoint/2010/main" val="25232165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F2A55-864D-BAB4-98EA-64D50B747022}"/>
              </a:ext>
            </a:extLst>
          </p:cNvPr>
          <p:cNvSpPr>
            <a:spLocks noGrp="1"/>
          </p:cNvSpPr>
          <p:nvPr>
            <p:ph type="title"/>
          </p:nvPr>
        </p:nvSpPr>
        <p:spPr>
          <a:xfrm>
            <a:off x="1945201" y="352740"/>
            <a:ext cx="6589199" cy="942660"/>
          </a:xfrm>
        </p:spPr>
        <p:txBody>
          <a:bodyPr/>
          <a:lstStyle/>
          <a:p>
            <a:r>
              <a:rPr lang="en-US" b="1" dirty="0">
                <a:solidFill>
                  <a:srgbClr val="00B0F0"/>
                </a:solidFill>
              </a:rPr>
              <a:t>Regular expressions(Regex)</a:t>
            </a:r>
          </a:p>
        </p:txBody>
      </p:sp>
      <p:sp>
        <p:nvSpPr>
          <p:cNvPr id="3" name="Content Placeholder 2">
            <a:extLst>
              <a:ext uri="{FF2B5EF4-FFF2-40B4-BE49-F238E27FC236}">
                <a16:creationId xmlns:a16="http://schemas.microsoft.com/office/drawing/2014/main" id="{AF98AEA6-830B-7EF8-15D5-6D1D4A0D31E2}"/>
              </a:ext>
            </a:extLst>
          </p:cNvPr>
          <p:cNvSpPr>
            <a:spLocks noGrp="1"/>
          </p:cNvSpPr>
          <p:nvPr>
            <p:ph idx="1"/>
          </p:nvPr>
        </p:nvSpPr>
        <p:spPr>
          <a:xfrm>
            <a:off x="990600" y="1152907"/>
            <a:ext cx="7543801" cy="4917309"/>
          </a:xfrm>
        </p:spPr>
        <p:txBody>
          <a:bodyPr/>
          <a:lstStyle/>
          <a:p>
            <a:r>
              <a:rPr lang="en-US" b="0" i="0" dirty="0">
                <a:solidFill>
                  <a:srgbClr val="333333"/>
                </a:solidFill>
                <a:effectLst/>
                <a:latin typeface="+mj-lt"/>
              </a:rPr>
              <a:t>Regular expressions are commonly known as </a:t>
            </a:r>
            <a:r>
              <a:rPr lang="en-US" b="1" i="0" dirty="0">
                <a:solidFill>
                  <a:srgbClr val="333333"/>
                </a:solidFill>
                <a:effectLst/>
                <a:latin typeface="+mj-lt"/>
              </a:rPr>
              <a:t>regex</a:t>
            </a:r>
            <a:r>
              <a:rPr lang="en-US" b="0" i="0" dirty="0">
                <a:solidFill>
                  <a:srgbClr val="333333"/>
                </a:solidFill>
                <a:effectLst/>
                <a:latin typeface="+mj-lt"/>
              </a:rPr>
              <a:t>. </a:t>
            </a:r>
            <a:endParaRPr lang="en-US" dirty="0">
              <a:latin typeface="+mj-lt"/>
            </a:endParaRPr>
          </a:p>
          <a:p>
            <a:pPr algn="just"/>
            <a:r>
              <a:rPr lang="en-US" b="0" i="0" dirty="0">
                <a:solidFill>
                  <a:srgbClr val="333333"/>
                </a:solidFill>
                <a:effectLst/>
                <a:latin typeface="+mj-lt"/>
              </a:rPr>
              <a:t>Regular expression allows you to search a specific string inside another string. Even we can replace one string by another string and also split a string into multiple chunks. </a:t>
            </a:r>
          </a:p>
          <a:p>
            <a:pPr algn="just"/>
            <a:r>
              <a:rPr lang="en-US" b="0" i="0" dirty="0">
                <a:solidFill>
                  <a:srgbClr val="333333"/>
                </a:solidFill>
                <a:effectLst/>
                <a:latin typeface="+mj-lt"/>
              </a:rPr>
              <a:t>They use arithmetic operators (+, -, ^(caret)) to create complex expressions.</a:t>
            </a:r>
          </a:p>
          <a:p>
            <a:pPr algn="just"/>
            <a:r>
              <a:rPr lang="en-US" b="0" i="0" dirty="0">
                <a:solidFill>
                  <a:srgbClr val="333333"/>
                </a:solidFill>
                <a:effectLst/>
                <a:latin typeface="+mj-lt"/>
              </a:rPr>
              <a:t>By default, regular expressions are </a:t>
            </a:r>
            <a:r>
              <a:rPr lang="en-US" b="1" i="0" dirty="0">
                <a:solidFill>
                  <a:srgbClr val="333333"/>
                </a:solidFill>
                <a:effectLst/>
                <a:latin typeface="+mj-lt"/>
              </a:rPr>
              <a:t>case sensitive</a:t>
            </a:r>
            <a:r>
              <a:rPr lang="en-US" b="0" i="0" dirty="0">
                <a:solidFill>
                  <a:srgbClr val="333333"/>
                </a:solidFill>
                <a:effectLst/>
                <a:latin typeface="+mj-lt"/>
              </a:rPr>
              <a:t>.</a:t>
            </a:r>
          </a:p>
          <a:p>
            <a:pPr algn="just"/>
            <a:r>
              <a:rPr lang="en-US" b="0" i="0" dirty="0">
                <a:solidFill>
                  <a:srgbClr val="333333"/>
                </a:solidFill>
                <a:effectLst/>
                <a:latin typeface="+mj-lt"/>
              </a:rPr>
              <a:t>Regular expression is used almost everywhere in current application programming.</a:t>
            </a:r>
            <a:endParaRPr lang="en-US" dirty="0">
              <a:solidFill>
                <a:srgbClr val="333333"/>
              </a:solidFill>
              <a:latin typeface="+mj-lt"/>
            </a:endParaRPr>
          </a:p>
          <a:p>
            <a:pPr algn="just"/>
            <a:r>
              <a:rPr lang="en-US" b="0" i="0" dirty="0">
                <a:solidFill>
                  <a:srgbClr val="000000"/>
                </a:solidFill>
                <a:effectLst/>
                <a:latin typeface="+mj-lt"/>
              </a:rPr>
              <a:t>Regular expression helps the programmers to validate text string.</a:t>
            </a:r>
          </a:p>
          <a:p>
            <a:pPr algn="just"/>
            <a:r>
              <a:rPr lang="en-US" b="0" i="0" dirty="0">
                <a:solidFill>
                  <a:srgbClr val="000000"/>
                </a:solidFill>
                <a:effectLst/>
                <a:latin typeface="+mj-lt"/>
              </a:rPr>
              <a:t>It is helpful in user input validation testing like email address, mobile number, and IP address.</a:t>
            </a:r>
            <a:endParaRPr lang="en-US" b="0" i="0" dirty="0">
              <a:solidFill>
                <a:srgbClr val="333333"/>
              </a:solidFill>
              <a:effectLst/>
              <a:latin typeface="+mj-lt"/>
            </a:endParaRPr>
          </a:p>
          <a:p>
            <a:endParaRPr lang="en-US" dirty="0"/>
          </a:p>
          <a:p>
            <a:endParaRPr lang="en-US" dirty="0"/>
          </a:p>
        </p:txBody>
      </p:sp>
      <p:sp>
        <p:nvSpPr>
          <p:cNvPr id="4" name="Date Placeholder 3">
            <a:extLst>
              <a:ext uri="{FF2B5EF4-FFF2-40B4-BE49-F238E27FC236}">
                <a16:creationId xmlns:a16="http://schemas.microsoft.com/office/drawing/2014/main" id="{12C9639D-C557-1A26-0EC3-B6F72148D831}"/>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4A4B9436-0729-C13C-D55B-243ACB8AF552}"/>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993DC274-6D60-F71A-3745-3DB2BB34B7AC}"/>
              </a:ext>
            </a:extLst>
          </p:cNvPr>
          <p:cNvSpPr>
            <a:spLocks noGrp="1"/>
          </p:cNvSpPr>
          <p:nvPr>
            <p:ph type="sldNum" sz="quarter" idx="12"/>
          </p:nvPr>
        </p:nvSpPr>
        <p:spPr/>
        <p:txBody>
          <a:bodyPr/>
          <a:lstStyle/>
          <a:p>
            <a:fld id="{DD4953B1-23D1-427D-BAAF-F6F31382E945}" type="slidenum">
              <a:rPr lang="en-US" smtClean="0"/>
              <a:t>50</a:t>
            </a:fld>
            <a:endParaRPr lang="en-US"/>
          </a:p>
        </p:txBody>
      </p:sp>
    </p:spTree>
    <p:extLst>
      <p:ext uri="{BB962C8B-B14F-4D97-AF65-F5344CB8AC3E}">
        <p14:creationId xmlns:p14="http://schemas.microsoft.com/office/powerpoint/2010/main" val="15759357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FF10-0400-3F95-E45D-D3E4D2EE1238}"/>
              </a:ext>
            </a:extLst>
          </p:cNvPr>
          <p:cNvSpPr>
            <a:spLocks noGrp="1"/>
          </p:cNvSpPr>
          <p:nvPr>
            <p:ph type="title"/>
          </p:nvPr>
        </p:nvSpPr>
        <p:spPr>
          <a:xfrm>
            <a:off x="1752601" y="0"/>
            <a:ext cx="6781800" cy="1600200"/>
          </a:xfrm>
        </p:spPr>
        <p:txBody>
          <a:bodyPr/>
          <a:lstStyle/>
          <a:p>
            <a:r>
              <a:rPr lang="en-US" b="1" dirty="0">
                <a:solidFill>
                  <a:srgbClr val="00B0F0"/>
                </a:solidFill>
              </a:rPr>
              <a:t>Regex cont.…</a:t>
            </a:r>
          </a:p>
        </p:txBody>
      </p:sp>
      <p:sp>
        <p:nvSpPr>
          <p:cNvPr id="3" name="Content Placeholder 2">
            <a:extLst>
              <a:ext uri="{FF2B5EF4-FFF2-40B4-BE49-F238E27FC236}">
                <a16:creationId xmlns:a16="http://schemas.microsoft.com/office/drawing/2014/main" id="{08B12766-6856-9953-C74E-3CE9C1FF4FAA}"/>
              </a:ext>
            </a:extLst>
          </p:cNvPr>
          <p:cNvSpPr>
            <a:spLocks noGrp="1"/>
          </p:cNvSpPr>
          <p:nvPr>
            <p:ph idx="1"/>
          </p:nvPr>
        </p:nvSpPr>
        <p:spPr>
          <a:xfrm>
            <a:off x="1096206" y="609600"/>
            <a:ext cx="7536566" cy="5638800"/>
          </a:xfrm>
        </p:spPr>
        <p:txBody>
          <a:bodyPr>
            <a:normAutofit/>
          </a:bodyPr>
          <a:lstStyle/>
          <a:p>
            <a:pPr algn="just"/>
            <a:r>
              <a:rPr lang="en-US" b="0" i="0" dirty="0">
                <a:solidFill>
                  <a:srgbClr val="333333"/>
                </a:solidFill>
                <a:effectLst/>
                <a:latin typeface="inter-regular"/>
              </a:rPr>
              <a:t>PHP offers two sets of regular expression functions:</a:t>
            </a:r>
          </a:p>
          <a:p>
            <a:pPr algn="just">
              <a:buFont typeface="+mj-lt"/>
              <a:buAutoNum type="arabicPeriod"/>
            </a:pPr>
            <a:r>
              <a:rPr lang="en-US" b="0" i="0" dirty="0">
                <a:solidFill>
                  <a:srgbClr val="000000"/>
                </a:solidFill>
                <a:effectLst/>
                <a:latin typeface="inter-regular"/>
              </a:rPr>
              <a:t>POSIX Regular Expression</a:t>
            </a:r>
          </a:p>
          <a:p>
            <a:pPr algn="just">
              <a:buFont typeface="+mj-lt"/>
              <a:buAutoNum type="arabicPeriod"/>
            </a:pPr>
            <a:r>
              <a:rPr lang="en-US" b="0" i="0" dirty="0">
                <a:solidFill>
                  <a:srgbClr val="000000"/>
                </a:solidFill>
                <a:effectLst/>
                <a:latin typeface="inter-regular"/>
              </a:rPr>
              <a:t>PERL Style Regular Expression</a:t>
            </a:r>
          </a:p>
          <a:p>
            <a:pPr algn="just">
              <a:buFont typeface="Wingdings" panose="05000000000000000000" pitchFamily="2" charset="2"/>
              <a:buChar char="Ø"/>
            </a:pPr>
            <a:r>
              <a:rPr lang="en-US" b="0" i="0" dirty="0">
                <a:solidFill>
                  <a:srgbClr val="333333"/>
                </a:solidFill>
                <a:effectLst/>
                <a:latin typeface="inter-regular"/>
              </a:rPr>
              <a:t>The structure of </a:t>
            </a:r>
            <a:r>
              <a:rPr lang="en-US" b="0" i="0" dirty="0">
                <a:solidFill>
                  <a:srgbClr val="00B0F0"/>
                </a:solidFill>
                <a:effectLst/>
                <a:latin typeface="inter-regular"/>
              </a:rPr>
              <a:t>POSIX </a:t>
            </a:r>
            <a:r>
              <a:rPr lang="en-US" b="0" i="0" dirty="0">
                <a:solidFill>
                  <a:srgbClr val="333333"/>
                </a:solidFill>
                <a:effectLst/>
                <a:latin typeface="inter-regular"/>
              </a:rPr>
              <a:t>regular expression is similar to the typical arithmetic expression.</a:t>
            </a:r>
          </a:p>
          <a:p>
            <a:pPr algn="just">
              <a:buFont typeface="Wingdings" panose="05000000000000000000" pitchFamily="2" charset="2"/>
              <a:buChar char="Ø"/>
            </a:pPr>
            <a:r>
              <a:rPr lang="en-US" b="0" i="0" dirty="0">
                <a:solidFill>
                  <a:srgbClr val="333333"/>
                </a:solidFill>
                <a:effectLst/>
                <a:latin typeface="inter-regular"/>
              </a:rPr>
              <a:t> several operators/elements are combined together to form more complex expressions.</a:t>
            </a:r>
          </a:p>
          <a:p>
            <a:pPr marL="0" indent="0" algn="just">
              <a:buNone/>
            </a:pPr>
            <a:r>
              <a:rPr lang="en-US" b="1" i="0" dirty="0">
                <a:solidFill>
                  <a:srgbClr val="610B4B"/>
                </a:solidFill>
                <a:effectLst/>
                <a:latin typeface="erdana"/>
              </a:rPr>
              <a:t>Brackets</a:t>
            </a:r>
          </a:p>
          <a:p>
            <a:pPr marL="0" indent="0" algn="just">
              <a:buNone/>
            </a:pPr>
            <a:r>
              <a:rPr lang="en-US" b="0" i="0" dirty="0">
                <a:solidFill>
                  <a:srgbClr val="333333"/>
                </a:solidFill>
                <a:effectLst/>
                <a:latin typeface="inter-regular"/>
              </a:rPr>
              <a:t>Brackets [] have a special meaning when they are used in regular expressions. These are used to find the range of characters inside it.</a:t>
            </a:r>
          </a:p>
          <a:p>
            <a:pPr marL="0" indent="0" algn="just">
              <a:buNone/>
            </a:pPr>
            <a:r>
              <a:rPr lang="en-US" i="1" dirty="0">
                <a:solidFill>
                  <a:srgbClr val="000000"/>
                </a:solidFill>
                <a:latin typeface="inter-regular"/>
              </a:rPr>
              <a:t>for example </a:t>
            </a:r>
            <a:r>
              <a:rPr lang="en-US" dirty="0">
                <a:solidFill>
                  <a:srgbClr val="FF0000"/>
                </a:solidFill>
              </a:rPr>
              <a:t>[0-9] </a:t>
            </a:r>
            <a:r>
              <a:rPr lang="en-US" b="0" i="0" dirty="0">
                <a:solidFill>
                  <a:srgbClr val="333333"/>
                </a:solidFill>
                <a:effectLst/>
                <a:latin typeface="inter-regular"/>
              </a:rPr>
              <a:t>It matches any decimal digit 0 to 9.</a:t>
            </a:r>
          </a:p>
          <a:p>
            <a:pPr marL="0" indent="0" algn="just">
              <a:buNone/>
            </a:pPr>
            <a:r>
              <a:rPr lang="en-US" b="1" i="0" dirty="0">
                <a:solidFill>
                  <a:srgbClr val="610B4B"/>
                </a:solidFill>
                <a:effectLst/>
                <a:latin typeface="erdana"/>
              </a:rPr>
              <a:t>Quantifiers</a:t>
            </a:r>
          </a:p>
          <a:p>
            <a:pPr marL="0" indent="0" algn="just">
              <a:buNone/>
            </a:pPr>
            <a:r>
              <a:rPr lang="en-US" b="0" i="0" dirty="0">
                <a:solidFill>
                  <a:srgbClr val="333333"/>
                </a:solidFill>
                <a:effectLst/>
                <a:latin typeface="inter-regular"/>
              </a:rPr>
              <a:t>A special character can represent the position of bracketed character sequences and single characters. </a:t>
            </a:r>
            <a:endParaRPr lang="en-US" dirty="0"/>
          </a:p>
          <a:p>
            <a:pPr marL="0" indent="0" algn="just">
              <a:buNone/>
            </a:pPr>
            <a:r>
              <a:rPr lang="en-US" i="1" dirty="0">
                <a:solidFill>
                  <a:srgbClr val="000000"/>
                </a:solidFill>
                <a:latin typeface="inter-regular"/>
              </a:rPr>
              <a:t>for example</a:t>
            </a:r>
            <a:r>
              <a:rPr lang="en-US" i="1" dirty="0">
                <a:solidFill>
                  <a:srgbClr val="000000"/>
                </a:solidFill>
                <a:effectLst/>
                <a:latin typeface="inter-regular"/>
              </a:rPr>
              <a:t> </a:t>
            </a:r>
            <a:r>
              <a:rPr lang="en-US" b="1" i="0" dirty="0">
                <a:solidFill>
                  <a:srgbClr val="FF0000"/>
                </a:solidFill>
                <a:effectLst/>
                <a:latin typeface="inter-regular"/>
              </a:rPr>
              <a:t>^P </a:t>
            </a:r>
            <a:r>
              <a:rPr lang="en-US" i="0" dirty="0">
                <a:solidFill>
                  <a:schemeClr val="tx1"/>
                </a:solidFill>
                <a:effectLst/>
                <a:latin typeface="inter-regular"/>
              </a:rPr>
              <a:t>matches string  that has </a:t>
            </a:r>
            <a:r>
              <a:rPr lang="en-US" b="1" i="0" dirty="0">
                <a:solidFill>
                  <a:srgbClr val="FF0000"/>
                </a:solidFill>
                <a:effectLst/>
                <a:latin typeface="inter-regular"/>
              </a:rPr>
              <a:t>P</a:t>
            </a:r>
            <a:r>
              <a:rPr lang="en-US" i="0" dirty="0">
                <a:solidFill>
                  <a:srgbClr val="FF0000"/>
                </a:solidFill>
                <a:effectLst/>
                <a:latin typeface="inter-regular"/>
              </a:rPr>
              <a:t> </a:t>
            </a:r>
            <a:r>
              <a:rPr lang="en-US" i="0" dirty="0">
                <a:solidFill>
                  <a:schemeClr val="tx1"/>
                </a:solidFill>
                <a:effectLst/>
                <a:latin typeface="inter-regular"/>
              </a:rPr>
              <a:t>at the start of it.</a:t>
            </a:r>
          </a:p>
        </p:txBody>
      </p:sp>
      <p:sp>
        <p:nvSpPr>
          <p:cNvPr id="4" name="Date Placeholder 3">
            <a:extLst>
              <a:ext uri="{FF2B5EF4-FFF2-40B4-BE49-F238E27FC236}">
                <a16:creationId xmlns:a16="http://schemas.microsoft.com/office/drawing/2014/main" id="{D0DA8383-D597-F0C1-1097-CDAC5E9D2221}"/>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66FB5028-5299-D47F-507E-0289F503781A}"/>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A7238CEF-2735-7CA1-C628-FF7E05BB2798}"/>
              </a:ext>
            </a:extLst>
          </p:cNvPr>
          <p:cNvSpPr>
            <a:spLocks noGrp="1"/>
          </p:cNvSpPr>
          <p:nvPr>
            <p:ph type="sldNum" sz="quarter" idx="12"/>
          </p:nvPr>
        </p:nvSpPr>
        <p:spPr/>
        <p:txBody>
          <a:bodyPr/>
          <a:lstStyle/>
          <a:p>
            <a:fld id="{DD4953B1-23D1-427D-BAAF-F6F31382E945}" type="slidenum">
              <a:rPr lang="en-US" smtClean="0"/>
              <a:t>51</a:t>
            </a:fld>
            <a:endParaRPr lang="en-US"/>
          </a:p>
        </p:txBody>
      </p:sp>
    </p:spTree>
    <p:extLst>
      <p:ext uri="{BB962C8B-B14F-4D97-AF65-F5344CB8AC3E}">
        <p14:creationId xmlns:p14="http://schemas.microsoft.com/office/powerpoint/2010/main" val="4862694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3C355-ADF9-7231-5D7C-DF8A3FEDB429}"/>
              </a:ext>
            </a:extLst>
          </p:cNvPr>
          <p:cNvSpPr>
            <a:spLocks noGrp="1"/>
          </p:cNvSpPr>
          <p:nvPr>
            <p:ph type="title"/>
          </p:nvPr>
        </p:nvSpPr>
        <p:spPr>
          <a:xfrm>
            <a:off x="1942415" y="228600"/>
            <a:ext cx="6591986" cy="762000"/>
          </a:xfrm>
        </p:spPr>
        <p:txBody>
          <a:bodyPr>
            <a:normAutofit fontScale="90000"/>
          </a:bodyPr>
          <a:lstStyle/>
          <a:p>
            <a:r>
              <a:rPr lang="en-US" b="0" i="0" dirty="0">
                <a:solidFill>
                  <a:srgbClr val="00B0F0"/>
                </a:solidFill>
                <a:effectLst/>
                <a:latin typeface="inter-regular"/>
              </a:rPr>
              <a:t>PERL Style Regular Expression</a:t>
            </a:r>
            <a:br>
              <a:rPr lang="en-US" b="0" i="0" dirty="0">
                <a:solidFill>
                  <a:srgbClr val="000000"/>
                </a:solidFill>
                <a:effectLst/>
                <a:latin typeface="inter-regular"/>
              </a:rPr>
            </a:br>
            <a:endParaRPr lang="en-US" dirty="0"/>
          </a:p>
        </p:txBody>
      </p:sp>
      <p:sp>
        <p:nvSpPr>
          <p:cNvPr id="3" name="Content Placeholder 2">
            <a:extLst>
              <a:ext uri="{FF2B5EF4-FFF2-40B4-BE49-F238E27FC236}">
                <a16:creationId xmlns:a16="http://schemas.microsoft.com/office/drawing/2014/main" id="{1467827D-4773-5428-A8D3-3823D5123B01}"/>
              </a:ext>
            </a:extLst>
          </p:cNvPr>
          <p:cNvSpPr>
            <a:spLocks noGrp="1"/>
          </p:cNvSpPr>
          <p:nvPr>
            <p:ph idx="1"/>
          </p:nvPr>
        </p:nvSpPr>
        <p:spPr>
          <a:xfrm>
            <a:off x="1219200" y="990600"/>
            <a:ext cx="7315201" cy="4920622"/>
          </a:xfrm>
        </p:spPr>
        <p:txBody>
          <a:bodyPr/>
          <a:lstStyle/>
          <a:p>
            <a:r>
              <a:rPr lang="en-US" b="0" i="0" dirty="0">
                <a:solidFill>
                  <a:srgbClr val="000000"/>
                </a:solidFill>
                <a:effectLst/>
                <a:latin typeface="+mj-lt"/>
              </a:rPr>
              <a:t>Perl-style regular expressions are similar to their POSIX counterparts. The POSIX syntax can be used almost interchangeably with the Perl-style regular expression functions.</a:t>
            </a:r>
          </a:p>
          <a:p>
            <a:pPr marL="0" indent="0" algn="l">
              <a:buNone/>
            </a:pPr>
            <a:r>
              <a:rPr lang="en-US" b="0" i="0" dirty="0">
                <a:solidFill>
                  <a:srgbClr val="00B0F0"/>
                </a:solidFill>
                <a:effectLst/>
                <a:latin typeface="Verdana" panose="020B0604030504040204" pitchFamily="34" charset="0"/>
              </a:rPr>
              <a:t>Meta characters</a:t>
            </a:r>
          </a:p>
          <a:p>
            <a:pPr algn="l"/>
            <a:r>
              <a:rPr lang="en-US" b="0" i="0" dirty="0">
                <a:solidFill>
                  <a:srgbClr val="000000"/>
                </a:solidFill>
                <a:effectLst/>
                <a:latin typeface="+mj-lt"/>
              </a:rPr>
              <a:t>A meta character is simply an alphabetical character preceded by a backslash that acts to give the combination a special meaning</a:t>
            </a:r>
          </a:p>
        </p:txBody>
      </p:sp>
      <p:sp>
        <p:nvSpPr>
          <p:cNvPr id="4" name="Date Placeholder 3">
            <a:extLst>
              <a:ext uri="{FF2B5EF4-FFF2-40B4-BE49-F238E27FC236}">
                <a16:creationId xmlns:a16="http://schemas.microsoft.com/office/drawing/2014/main" id="{7C659591-50C0-5332-8E53-16669DD1E1D6}"/>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A55A8493-6D53-8B45-51A8-0A4B43F5F35E}"/>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B2DD6C9D-2329-D0E4-F908-42CDC37A7434}"/>
              </a:ext>
            </a:extLst>
          </p:cNvPr>
          <p:cNvSpPr>
            <a:spLocks noGrp="1"/>
          </p:cNvSpPr>
          <p:nvPr>
            <p:ph type="sldNum" sz="quarter" idx="12"/>
          </p:nvPr>
        </p:nvSpPr>
        <p:spPr/>
        <p:txBody>
          <a:bodyPr/>
          <a:lstStyle/>
          <a:p>
            <a:fld id="{DD4953B1-23D1-427D-BAAF-F6F31382E945}" type="slidenum">
              <a:rPr lang="en-US" smtClean="0"/>
              <a:t>52</a:t>
            </a:fld>
            <a:endParaRPr lang="en-US"/>
          </a:p>
        </p:txBody>
      </p:sp>
    </p:spTree>
    <p:extLst>
      <p:ext uri="{BB962C8B-B14F-4D97-AF65-F5344CB8AC3E}">
        <p14:creationId xmlns:p14="http://schemas.microsoft.com/office/powerpoint/2010/main" val="15236376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B4A39-893C-8D3D-268A-3B03FD57D2CE}"/>
              </a:ext>
            </a:extLst>
          </p:cNvPr>
          <p:cNvSpPr>
            <a:spLocks noGrp="1"/>
          </p:cNvSpPr>
          <p:nvPr>
            <p:ph type="title"/>
          </p:nvPr>
        </p:nvSpPr>
        <p:spPr>
          <a:xfrm>
            <a:off x="1945201" y="228600"/>
            <a:ext cx="6589199" cy="760635"/>
          </a:xfrm>
        </p:spPr>
        <p:txBody>
          <a:bodyPr>
            <a:normAutofit/>
          </a:bodyPr>
          <a:lstStyle/>
          <a:p>
            <a:r>
              <a:rPr lang="en-US" dirty="0"/>
              <a:t>Perl style regex cont..</a:t>
            </a:r>
          </a:p>
        </p:txBody>
      </p:sp>
      <p:sp>
        <p:nvSpPr>
          <p:cNvPr id="3" name="Content Placeholder 2">
            <a:extLst>
              <a:ext uri="{FF2B5EF4-FFF2-40B4-BE49-F238E27FC236}">
                <a16:creationId xmlns:a16="http://schemas.microsoft.com/office/drawing/2014/main" id="{88A44710-9A3F-84AB-F33E-06AAA4478257}"/>
              </a:ext>
            </a:extLst>
          </p:cNvPr>
          <p:cNvSpPr>
            <a:spLocks noGrp="1"/>
          </p:cNvSpPr>
          <p:nvPr>
            <p:ph idx="1"/>
          </p:nvPr>
        </p:nvSpPr>
        <p:spPr>
          <a:xfrm>
            <a:off x="1295400" y="1152908"/>
            <a:ext cx="7467600" cy="4758314"/>
          </a:xfrm>
        </p:spPr>
        <p:txBody>
          <a:bodyPr>
            <a:normAutofit fontScale="77500" lnSpcReduction="20000"/>
          </a:bodyPr>
          <a:lstStyle/>
          <a:p>
            <a:pPr marL="0" indent="0">
              <a:lnSpc>
                <a:spcPct val="170000"/>
              </a:lnSpc>
              <a:buNone/>
            </a:pPr>
            <a:r>
              <a:rPr lang="en-US" sz="2400" b="0" i="0" dirty="0">
                <a:solidFill>
                  <a:srgbClr val="000000"/>
                </a:solidFill>
                <a:effectLst/>
                <a:latin typeface="+mj-lt"/>
              </a:rPr>
              <a:t>List of meta characters which can be used in PERL Style Regular Expressions.</a:t>
            </a:r>
          </a:p>
          <a:p>
            <a:pPr marL="0" indent="0">
              <a:buNone/>
            </a:pPr>
            <a:endParaRPr lang="en-US" b="1" dirty="0">
              <a:latin typeface="+mj-lt"/>
            </a:endParaRPr>
          </a:p>
          <a:p>
            <a:pPr marL="0" indent="0">
              <a:buNone/>
            </a:pPr>
            <a:r>
              <a:rPr lang="en-US" b="1" dirty="0">
                <a:latin typeface="+mj-lt"/>
              </a:rPr>
              <a:t>Character   </a:t>
            </a:r>
            <a:r>
              <a:rPr lang="en-US" dirty="0">
                <a:latin typeface="+mj-lt"/>
              </a:rPr>
              <a:t>       </a:t>
            </a:r>
            <a:r>
              <a:rPr lang="en-US" b="1" dirty="0">
                <a:latin typeface="+mj-lt"/>
              </a:rPr>
              <a:t>descriptions</a:t>
            </a:r>
          </a:p>
          <a:p>
            <a:pPr marL="0" indent="0">
              <a:lnSpc>
                <a:spcPct val="150000"/>
              </a:lnSpc>
              <a:buNone/>
            </a:pPr>
            <a:r>
              <a:rPr lang="en-US" sz="2800" b="1" dirty="0">
                <a:solidFill>
                  <a:schemeClr val="tx1"/>
                </a:solidFill>
                <a:latin typeface="+mj-lt"/>
              </a:rPr>
              <a:t> .          </a:t>
            </a:r>
            <a:r>
              <a:rPr lang="en-US" dirty="0">
                <a:solidFill>
                  <a:schemeClr val="tx1"/>
                </a:solidFill>
                <a:latin typeface="+mj-lt"/>
              </a:rPr>
              <a:t>Single character</a:t>
            </a: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\s             a whitespace character (space, tab, newline)</a:t>
            </a:r>
            <a:endParaRPr lang="en-US" sz="1800" dirty="0">
              <a:solidFill>
                <a:schemeClr val="tx1"/>
              </a:solidFill>
              <a:effectLst/>
              <a:latin typeface="+mj-lt"/>
              <a:ea typeface="Times New Roman" panose="02020603050405020304" pitchFamily="18" charset="0"/>
            </a:endParaRP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\S             non-whitespace character</a:t>
            </a:r>
            <a:endParaRPr lang="en-US" sz="1800" dirty="0">
              <a:solidFill>
                <a:schemeClr val="tx1"/>
              </a:solidFill>
              <a:effectLst/>
              <a:latin typeface="+mj-lt"/>
              <a:ea typeface="Times New Roman" panose="02020603050405020304" pitchFamily="18" charset="0"/>
            </a:endParaRP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\d             a digit (0-9)</a:t>
            </a:r>
            <a:endParaRPr lang="en-US" sz="1800" dirty="0">
              <a:solidFill>
                <a:schemeClr val="tx1"/>
              </a:solidFill>
              <a:effectLst/>
              <a:latin typeface="+mj-lt"/>
              <a:ea typeface="Times New Roman" panose="02020603050405020304" pitchFamily="18" charset="0"/>
            </a:endParaRP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\D             a non-digit</a:t>
            </a:r>
            <a:endParaRPr lang="en-US" sz="1800" dirty="0">
              <a:solidFill>
                <a:schemeClr val="tx1"/>
              </a:solidFill>
              <a:effectLst/>
              <a:latin typeface="+mj-lt"/>
              <a:ea typeface="Times New Roman" panose="02020603050405020304" pitchFamily="18" charset="0"/>
            </a:endParaRP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\w             a word character (a-z, A-Z, 0-9, _)</a:t>
            </a:r>
            <a:endParaRPr lang="en-US" sz="1800" dirty="0">
              <a:solidFill>
                <a:schemeClr val="tx1"/>
              </a:solidFill>
              <a:effectLst/>
              <a:latin typeface="+mj-lt"/>
              <a:ea typeface="Times New Roman" panose="02020603050405020304" pitchFamily="18" charset="0"/>
            </a:endParaRP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\W             a non-word character</a:t>
            </a:r>
            <a:endParaRPr lang="en-US" sz="1800" dirty="0">
              <a:solidFill>
                <a:schemeClr val="tx1"/>
              </a:solidFill>
              <a:effectLst/>
              <a:latin typeface="+mj-lt"/>
              <a:ea typeface="Times New Roman" panose="02020603050405020304" pitchFamily="18" charset="0"/>
            </a:endParaRP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a:t>
            </a:r>
            <a:r>
              <a:rPr lang="en-US" sz="1800" dirty="0" err="1">
                <a:solidFill>
                  <a:schemeClr val="tx1"/>
                </a:solidFill>
                <a:effectLst/>
                <a:latin typeface="+mj-lt"/>
                <a:ea typeface="Times New Roman" panose="02020603050405020304" pitchFamily="18" charset="0"/>
                <a:cs typeface="Courier New" panose="02070309020205020404" pitchFamily="49" charset="0"/>
              </a:rPr>
              <a:t>aeiou</a:t>
            </a:r>
            <a:r>
              <a:rPr lang="en-US" sz="1800" dirty="0">
                <a:solidFill>
                  <a:schemeClr val="tx1"/>
                </a:solidFill>
                <a:effectLst/>
                <a:latin typeface="+mj-lt"/>
                <a:ea typeface="Times New Roman" panose="02020603050405020304" pitchFamily="18" charset="0"/>
                <a:cs typeface="Courier New" panose="02070309020205020404" pitchFamily="49" charset="0"/>
              </a:rPr>
              <a:t>]        matches a single character in the given set</a:t>
            </a:r>
            <a:endParaRPr lang="en-US" sz="1800" dirty="0">
              <a:solidFill>
                <a:schemeClr val="tx1"/>
              </a:solidFill>
              <a:effectLst/>
              <a:latin typeface="+mj-lt"/>
              <a:ea typeface="Times New Roman" panose="02020603050405020304" pitchFamily="18" charset="0"/>
            </a:endParaRP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a:t>
            </a:r>
            <a:r>
              <a:rPr lang="en-US" sz="1800" dirty="0" err="1">
                <a:solidFill>
                  <a:schemeClr val="tx1"/>
                </a:solidFill>
                <a:effectLst/>
                <a:latin typeface="+mj-lt"/>
                <a:ea typeface="Times New Roman" panose="02020603050405020304" pitchFamily="18" charset="0"/>
                <a:cs typeface="Courier New" panose="02070309020205020404" pitchFamily="49" charset="0"/>
              </a:rPr>
              <a:t>aeiou</a:t>
            </a:r>
            <a:r>
              <a:rPr lang="en-US" sz="1800" dirty="0">
                <a:solidFill>
                  <a:schemeClr val="tx1"/>
                </a:solidFill>
                <a:effectLst/>
                <a:latin typeface="+mj-lt"/>
                <a:ea typeface="Times New Roman" panose="02020603050405020304" pitchFamily="18" charset="0"/>
                <a:cs typeface="Courier New" panose="02070309020205020404" pitchFamily="49" charset="0"/>
              </a:rPr>
              <a:t>]       matches a single character outside the given set</a:t>
            </a:r>
            <a:endParaRPr lang="en-US" sz="1800" dirty="0">
              <a:solidFill>
                <a:schemeClr val="tx1"/>
              </a:solidFill>
              <a:effectLst/>
              <a:latin typeface="+mj-lt"/>
              <a:ea typeface="Times New Roman" panose="02020603050405020304" pitchFamily="18" charset="0"/>
            </a:endParaRPr>
          </a:p>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mj-lt"/>
                <a:ea typeface="Times New Roman" panose="02020603050405020304" pitchFamily="18" charset="0"/>
                <a:cs typeface="Courier New" panose="02070309020205020404" pitchFamily="49" charset="0"/>
              </a:rPr>
              <a:t>(</a:t>
            </a:r>
            <a:r>
              <a:rPr lang="en-US" sz="1800" dirty="0" err="1">
                <a:solidFill>
                  <a:schemeClr val="tx1"/>
                </a:solidFill>
                <a:effectLst/>
                <a:latin typeface="+mj-lt"/>
                <a:ea typeface="Times New Roman" panose="02020603050405020304" pitchFamily="18" charset="0"/>
                <a:cs typeface="Courier New" panose="02070309020205020404" pitchFamily="49" charset="0"/>
              </a:rPr>
              <a:t>foo|bar|baz</a:t>
            </a:r>
            <a:r>
              <a:rPr lang="en-US" sz="1800" dirty="0">
                <a:solidFill>
                  <a:schemeClr val="tx1"/>
                </a:solidFill>
                <a:effectLst/>
                <a:latin typeface="+mj-lt"/>
                <a:ea typeface="Times New Roman" panose="02020603050405020304" pitchFamily="18" charset="0"/>
                <a:cs typeface="Courier New" panose="02070309020205020404" pitchFamily="49" charset="0"/>
              </a:rPr>
              <a:t>)  matches any of the alternatives specified</a:t>
            </a:r>
            <a:endParaRPr lang="en-US" sz="1800" dirty="0">
              <a:solidFill>
                <a:schemeClr val="tx1"/>
              </a:solidFill>
              <a:effectLst/>
              <a:latin typeface="+mj-lt"/>
              <a:ea typeface="Times New Roman" panose="02020603050405020304" pitchFamily="18" charset="0"/>
            </a:endParaRPr>
          </a:p>
          <a:p>
            <a:pPr marL="0" indent="0">
              <a:buNone/>
            </a:pPr>
            <a:endParaRPr lang="en-US" dirty="0"/>
          </a:p>
        </p:txBody>
      </p:sp>
      <p:sp>
        <p:nvSpPr>
          <p:cNvPr id="4" name="Date Placeholder 3">
            <a:extLst>
              <a:ext uri="{FF2B5EF4-FFF2-40B4-BE49-F238E27FC236}">
                <a16:creationId xmlns:a16="http://schemas.microsoft.com/office/drawing/2014/main" id="{E6D3C7FB-FCA7-F8C0-45CE-E19BD5F49DC6}"/>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570C933C-C894-3B8E-2DAB-6D611251FEB7}"/>
              </a:ext>
            </a:extLst>
          </p:cNvPr>
          <p:cNvSpPr>
            <a:spLocks noGrp="1"/>
          </p:cNvSpPr>
          <p:nvPr>
            <p:ph type="ftr" sz="quarter" idx="11"/>
          </p:nvPr>
        </p:nvSpPr>
        <p:spPr/>
        <p:txBody>
          <a:bodyPr/>
          <a:lstStyle/>
          <a:p>
            <a:r>
              <a:rPr lang="en-US" dirty="0"/>
              <a:t>compiled by: IT </a:t>
            </a:r>
            <a:r>
              <a:rPr lang="en-US" dirty="0" err="1"/>
              <a:t>dep't</a:t>
            </a:r>
            <a:r>
              <a:rPr lang="en-US" dirty="0"/>
              <a:t> staffs</a:t>
            </a:r>
          </a:p>
        </p:txBody>
      </p:sp>
      <p:sp>
        <p:nvSpPr>
          <p:cNvPr id="6" name="Slide Number Placeholder 5">
            <a:extLst>
              <a:ext uri="{FF2B5EF4-FFF2-40B4-BE49-F238E27FC236}">
                <a16:creationId xmlns:a16="http://schemas.microsoft.com/office/drawing/2014/main" id="{1A5687BB-A3E7-3182-2D27-5A508300B32B}"/>
              </a:ext>
            </a:extLst>
          </p:cNvPr>
          <p:cNvSpPr>
            <a:spLocks noGrp="1"/>
          </p:cNvSpPr>
          <p:nvPr>
            <p:ph type="sldNum" sz="quarter" idx="12"/>
          </p:nvPr>
        </p:nvSpPr>
        <p:spPr/>
        <p:txBody>
          <a:bodyPr/>
          <a:lstStyle/>
          <a:p>
            <a:fld id="{DD4953B1-23D1-427D-BAAF-F6F31382E945}" type="slidenum">
              <a:rPr lang="en-US" smtClean="0"/>
              <a:t>53</a:t>
            </a:fld>
            <a:endParaRPr lang="en-US"/>
          </a:p>
        </p:txBody>
      </p:sp>
    </p:spTree>
    <p:extLst>
      <p:ext uri="{BB962C8B-B14F-4D97-AF65-F5344CB8AC3E}">
        <p14:creationId xmlns:p14="http://schemas.microsoft.com/office/powerpoint/2010/main" val="2261820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1961F-D8DC-D4F3-284B-6C1462249C42}"/>
              </a:ext>
            </a:extLst>
          </p:cNvPr>
          <p:cNvSpPr>
            <a:spLocks noGrp="1"/>
          </p:cNvSpPr>
          <p:nvPr>
            <p:ph type="title"/>
          </p:nvPr>
        </p:nvSpPr>
        <p:spPr>
          <a:xfrm>
            <a:off x="1600200" y="352740"/>
            <a:ext cx="7162800" cy="1095060"/>
          </a:xfrm>
        </p:spPr>
        <p:txBody>
          <a:bodyPr>
            <a:normAutofit fontScale="90000"/>
          </a:bodyPr>
          <a:lstStyle/>
          <a:p>
            <a:r>
              <a:rPr lang="en-US" b="0" i="0" dirty="0">
                <a:solidFill>
                  <a:srgbClr val="00B0F0"/>
                </a:solidFill>
                <a:effectLst/>
              </a:rPr>
              <a:t>PHP's </a:t>
            </a:r>
            <a:r>
              <a:rPr lang="en-US" b="0" i="0" dirty="0" err="1">
                <a:solidFill>
                  <a:srgbClr val="00B0F0"/>
                </a:solidFill>
                <a:effectLst/>
              </a:rPr>
              <a:t>Regexp</a:t>
            </a:r>
            <a:r>
              <a:rPr lang="en-US" b="0" i="0" dirty="0">
                <a:solidFill>
                  <a:srgbClr val="00B0F0"/>
                </a:solidFill>
                <a:effectLst/>
              </a:rPr>
              <a:t> PERL Compatible Functions and descriptions </a:t>
            </a:r>
            <a:endParaRPr lang="en-US" dirty="0">
              <a:solidFill>
                <a:srgbClr val="00B0F0"/>
              </a:solidFill>
            </a:endParaRPr>
          </a:p>
        </p:txBody>
      </p:sp>
      <p:sp>
        <p:nvSpPr>
          <p:cNvPr id="3" name="Content Placeholder 2">
            <a:extLst>
              <a:ext uri="{FF2B5EF4-FFF2-40B4-BE49-F238E27FC236}">
                <a16:creationId xmlns:a16="http://schemas.microsoft.com/office/drawing/2014/main" id="{833A23A8-2391-8591-35A9-E5D4D8ED4F60}"/>
              </a:ext>
            </a:extLst>
          </p:cNvPr>
          <p:cNvSpPr>
            <a:spLocks noGrp="1"/>
          </p:cNvSpPr>
          <p:nvPr>
            <p:ph idx="1"/>
          </p:nvPr>
        </p:nvSpPr>
        <p:spPr>
          <a:xfrm>
            <a:off x="1295401" y="1447800"/>
            <a:ext cx="7239000" cy="4572000"/>
          </a:xfrm>
        </p:spPr>
        <p:txBody>
          <a:bodyPr>
            <a:normAutofit fontScale="92500" lnSpcReduction="20000"/>
          </a:bodyPr>
          <a:lstStyle/>
          <a:p>
            <a:pPr marL="0" algn="l" rtl="0" eaLnBrk="1" fontAlgn="ctr" latinLnBrk="0" hangingPunct="1">
              <a:lnSpc>
                <a:spcPct val="150000"/>
              </a:lnSpc>
              <a:spcBef>
                <a:spcPts val="0"/>
              </a:spcBef>
              <a:spcAft>
                <a:spcPts val="0"/>
              </a:spcAft>
              <a:buFont typeface="Wingdings" panose="05000000000000000000" pitchFamily="2" charset="2"/>
              <a:buChar char="Ø"/>
            </a:pPr>
            <a:r>
              <a:rPr lang="en-US" sz="1800" b="1" i="0" strike="noStrike" kern="1200" dirty="0" err="1">
                <a:solidFill>
                  <a:schemeClr val="tx1"/>
                </a:solidFill>
                <a:effectLst/>
                <a:latin typeface="+mj-lt"/>
              </a:rPr>
              <a:t>Preg_match</a:t>
            </a:r>
            <a:r>
              <a:rPr lang="en-US" sz="1800" b="1" i="0" strike="noStrike" kern="1200" dirty="0">
                <a:solidFill>
                  <a:schemeClr val="tx1"/>
                </a:solidFill>
                <a:effectLst/>
                <a:latin typeface="+mj-lt"/>
              </a:rPr>
              <a:t>(): </a:t>
            </a:r>
            <a:r>
              <a:rPr lang="en-US" sz="1800" b="0" i="0" strike="noStrike" kern="1200" dirty="0">
                <a:solidFill>
                  <a:schemeClr val="tx1"/>
                </a:solidFill>
                <a:effectLst/>
                <a:latin typeface="+mj-lt"/>
              </a:rPr>
              <a:t>The </a:t>
            </a:r>
            <a:r>
              <a:rPr lang="en-US" sz="1800" b="0" i="0" strike="noStrike" kern="1200" dirty="0" err="1">
                <a:solidFill>
                  <a:schemeClr val="tx1"/>
                </a:solidFill>
                <a:effectLst/>
                <a:latin typeface="+mj-lt"/>
              </a:rPr>
              <a:t>preg_match</a:t>
            </a:r>
            <a:r>
              <a:rPr lang="en-US" sz="1800" b="0" i="0" strike="noStrike" kern="1200" dirty="0">
                <a:solidFill>
                  <a:schemeClr val="tx1"/>
                </a:solidFill>
                <a:effectLst/>
                <a:latin typeface="+mj-lt"/>
              </a:rPr>
              <a:t>() function searches string for pattern, returning true if pattern exists, and false otherwise.</a:t>
            </a:r>
            <a:endParaRPr lang="en-US" sz="1800" b="0" i="0" strike="noStrike" dirty="0">
              <a:solidFill>
                <a:schemeClr val="tx1"/>
              </a:solidFill>
              <a:effectLst/>
              <a:latin typeface="+mj-lt"/>
            </a:endParaRPr>
          </a:p>
          <a:p>
            <a:pPr marL="0" algn="l" rtl="0" eaLnBrk="1" fontAlgn="ctr" latinLnBrk="0" hangingPunct="1">
              <a:lnSpc>
                <a:spcPct val="150000"/>
              </a:lnSpc>
              <a:spcBef>
                <a:spcPts val="0"/>
              </a:spcBef>
              <a:spcAft>
                <a:spcPts val="0"/>
              </a:spcAft>
              <a:buFont typeface="Wingdings" panose="05000000000000000000" pitchFamily="2" charset="2"/>
              <a:buChar char="Ø"/>
            </a:pPr>
            <a:r>
              <a:rPr lang="en-US" sz="1800" b="1" i="0" strike="noStrike" kern="1200" dirty="0" err="1">
                <a:solidFill>
                  <a:schemeClr val="tx1"/>
                </a:solidFill>
                <a:effectLst/>
                <a:latin typeface="+mj-lt"/>
              </a:rPr>
              <a:t>preg_match_all</a:t>
            </a:r>
            <a:r>
              <a:rPr lang="en-US" sz="1800" b="1" i="0" strike="noStrike" kern="1200" dirty="0">
                <a:solidFill>
                  <a:schemeClr val="tx1"/>
                </a:solidFill>
                <a:effectLst/>
                <a:latin typeface="+mj-lt"/>
              </a:rPr>
              <a:t>():</a:t>
            </a:r>
            <a:r>
              <a:rPr lang="en-US" sz="1800" b="0" i="0" strike="noStrike" kern="1200" dirty="0">
                <a:solidFill>
                  <a:schemeClr val="tx1"/>
                </a:solidFill>
                <a:effectLst/>
                <a:latin typeface="+mj-lt"/>
              </a:rPr>
              <a:t>The </a:t>
            </a:r>
            <a:r>
              <a:rPr lang="en-US" sz="1800" b="0" i="0" strike="noStrike" kern="1200" dirty="0" err="1">
                <a:solidFill>
                  <a:schemeClr val="tx1"/>
                </a:solidFill>
                <a:effectLst/>
                <a:latin typeface="+mj-lt"/>
              </a:rPr>
              <a:t>preg_match_all</a:t>
            </a:r>
            <a:r>
              <a:rPr lang="en-US" sz="1800" b="0" i="0" strike="noStrike" kern="1200" dirty="0">
                <a:solidFill>
                  <a:schemeClr val="tx1"/>
                </a:solidFill>
                <a:effectLst/>
                <a:latin typeface="+mj-lt"/>
              </a:rPr>
              <a:t>() function matches all occurrences of pattern in string.</a:t>
            </a:r>
            <a:endParaRPr lang="en-US" sz="1800" b="0" i="0" strike="noStrike" dirty="0">
              <a:solidFill>
                <a:schemeClr val="tx1"/>
              </a:solidFill>
              <a:effectLst/>
              <a:latin typeface="+mj-lt"/>
            </a:endParaRPr>
          </a:p>
          <a:p>
            <a:pPr marL="0" algn="l" rtl="0" eaLnBrk="1" fontAlgn="ctr" latinLnBrk="0" hangingPunct="1">
              <a:lnSpc>
                <a:spcPct val="150000"/>
              </a:lnSpc>
              <a:spcBef>
                <a:spcPts val="0"/>
              </a:spcBef>
              <a:spcAft>
                <a:spcPts val="0"/>
              </a:spcAft>
              <a:buFont typeface="Wingdings" panose="05000000000000000000" pitchFamily="2" charset="2"/>
              <a:buChar char="Ø"/>
            </a:pPr>
            <a:r>
              <a:rPr lang="en-US" sz="1800" b="1" i="0" strike="noStrike" kern="1200" dirty="0" err="1">
                <a:solidFill>
                  <a:schemeClr val="tx1"/>
                </a:solidFill>
                <a:effectLst/>
                <a:latin typeface="+mj-lt"/>
              </a:rPr>
              <a:t>preg_replace</a:t>
            </a:r>
            <a:r>
              <a:rPr lang="en-US" sz="1800" b="1" i="0" strike="noStrike" kern="1200" dirty="0">
                <a:solidFill>
                  <a:schemeClr val="tx1"/>
                </a:solidFill>
                <a:effectLst/>
                <a:latin typeface="+mj-lt"/>
              </a:rPr>
              <a:t>():</a:t>
            </a:r>
            <a:r>
              <a:rPr lang="en-US" sz="1800" b="0" i="0" strike="noStrike" kern="1200" dirty="0">
                <a:solidFill>
                  <a:schemeClr val="tx1"/>
                </a:solidFill>
                <a:effectLst/>
                <a:latin typeface="+mj-lt"/>
              </a:rPr>
              <a:t>The </a:t>
            </a:r>
            <a:r>
              <a:rPr lang="en-US" sz="1800" b="0" i="0" strike="noStrike" kern="1200" dirty="0" err="1">
                <a:solidFill>
                  <a:schemeClr val="tx1"/>
                </a:solidFill>
                <a:effectLst/>
                <a:latin typeface="+mj-lt"/>
              </a:rPr>
              <a:t>preg_replace</a:t>
            </a:r>
            <a:r>
              <a:rPr lang="en-US" sz="1800" b="0" i="0" strike="noStrike" kern="1200" dirty="0">
                <a:solidFill>
                  <a:schemeClr val="tx1"/>
                </a:solidFill>
                <a:effectLst/>
                <a:latin typeface="+mj-lt"/>
              </a:rPr>
              <a:t>() function operates just like </a:t>
            </a:r>
            <a:r>
              <a:rPr lang="en-US" sz="1800" b="0" i="0" strike="noStrike" kern="1200" dirty="0" err="1">
                <a:solidFill>
                  <a:schemeClr val="tx1"/>
                </a:solidFill>
                <a:effectLst/>
                <a:latin typeface="+mj-lt"/>
              </a:rPr>
              <a:t>ereg_replace</a:t>
            </a:r>
            <a:r>
              <a:rPr lang="en-US" sz="1800" b="0" i="0" strike="noStrike" kern="1200" dirty="0">
                <a:solidFill>
                  <a:schemeClr val="tx1"/>
                </a:solidFill>
                <a:effectLst/>
                <a:latin typeface="+mj-lt"/>
              </a:rPr>
              <a:t>(), except that regular expressions can be used in the pattern and replacement input parameters.</a:t>
            </a:r>
            <a:endParaRPr lang="en-US" sz="1800" b="0" i="0" strike="noStrike" dirty="0">
              <a:solidFill>
                <a:schemeClr val="tx1"/>
              </a:solidFill>
              <a:effectLst/>
              <a:latin typeface="+mj-lt"/>
            </a:endParaRPr>
          </a:p>
          <a:p>
            <a:pPr marL="0" algn="l" rtl="0" eaLnBrk="1" fontAlgn="ctr" latinLnBrk="0" hangingPunct="1">
              <a:lnSpc>
                <a:spcPct val="150000"/>
              </a:lnSpc>
              <a:spcBef>
                <a:spcPts val="0"/>
              </a:spcBef>
              <a:spcAft>
                <a:spcPts val="0"/>
              </a:spcAft>
              <a:buFont typeface="Wingdings" panose="05000000000000000000" pitchFamily="2" charset="2"/>
              <a:buChar char="Ø"/>
            </a:pPr>
            <a:r>
              <a:rPr lang="en-US" sz="1800" b="1" i="0" strike="noStrike" kern="1200" dirty="0" err="1">
                <a:solidFill>
                  <a:schemeClr val="tx1"/>
                </a:solidFill>
                <a:effectLst/>
                <a:latin typeface="+mj-lt"/>
              </a:rPr>
              <a:t>preg_split</a:t>
            </a:r>
            <a:r>
              <a:rPr lang="en-US" sz="1800" b="1" i="0" strike="noStrike" kern="1200" dirty="0">
                <a:solidFill>
                  <a:schemeClr val="tx1"/>
                </a:solidFill>
                <a:effectLst/>
                <a:latin typeface="+mj-lt"/>
              </a:rPr>
              <a:t>():</a:t>
            </a:r>
            <a:r>
              <a:rPr lang="en-US" sz="1800" b="0" i="0" strike="noStrike" kern="1200" dirty="0">
                <a:solidFill>
                  <a:schemeClr val="tx1"/>
                </a:solidFill>
                <a:effectLst/>
                <a:latin typeface="+mj-lt"/>
              </a:rPr>
              <a:t>The </a:t>
            </a:r>
            <a:r>
              <a:rPr lang="en-US" sz="1800" b="0" i="0" strike="noStrike" kern="1200" dirty="0" err="1">
                <a:solidFill>
                  <a:schemeClr val="tx1"/>
                </a:solidFill>
                <a:effectLst/>
                <a:latin typeface="+mj-lt"/>
              </a:rPr>
              <a:t>preg_split</a:t>
            </a:r>
            <a:r>
              <a:rPr lang="en-US" sz="1800" b="0" i="0" strike="noStrike" kern="1200" dirty="0">
                <a:solidFill>
                  <a:schemeClr val="tx1"/>
                </a:solidFill>
                <a:effectLst/>
                <a:latin typeface="+mj-lt"/>
              </a:rPr>
              <a:t>() function operates exactly like split(), except that regular expressions are accepted as input parameters for pattern.</a:t>
            </a:r>
            <a:endParaRPr lang="en-US" sz="1800" b="0" i="0" strike="noStrike" dirty="0">
              <a:solidFill>
                <a:schemeClr val="tx1"/>
              </a:solidFill>
              <a:effectLst/>
              <a:latin typeface="+mj-lt"/>
            </a:endParaRPr>
          </a:p>
          <a:p>
            <a:pPr marL="0" algn="l" rtl="0" eaLnBrk="1" fontAlgn="ctr" latinLnBrk="0" hangingPunct="1">
              <a:lnSpc>
                <a:spcPct val="150000"/>
              </a:lnSpc>
              <a:spcBef>
                <a:spcPts val="0"/>
              </a:spcBef>
              <a:spcAft>
                <a:spcPts val="0"/>
              </a:spcAft>
              <a:buFont typeface="Wingdings" panose="05000000000000000000" pitchFamily="2" charset="2"/>
              <a:buChar char="Ø"/>
            </a:pPr>
            <a:r>
              <a:rPr lang="en-US" sz="1800" b="1" i="0" strike="noStrike" kern="1200" dirty="0">
                <a:solidFill>
                  <a:schemeClr val="tx1"/>
                </a:solidFill>
                <a:effectLst/>
                <a:latin typeface="+mj-lt"/>
              </a:rPr>
              <a:t>preg_grep():</a:t>
            </a:r>
            <a:r>
              <a:rPr lang="en-US" sz="1800" b="0" i="0" strike="noStrike" kern="1200" dirty="0">
                <a:solidFill>
                  <a:schemeClr val="tx1"/>
                </a:solidFill>
                <a:effectLst/>
                <a:latin typeface="+mj-lt"/>
              </a:rPr>
              <a:t>The preg_grep() function searches all elements of </a:t>
            </a:r>
            <a:r>
              <a:rPr lang="en-US" sz="1800" b="0" i="0" strike="noStrike" kern="1200" dirty="0" err="1">
                <a:solidFill>
                  <a:schemeClr val="tx1"/>
                </a:solidFill>
                <a:effectLst/>
                <a:latin typeface="+mj-lt"/>
              </a:rPr>
              <a:t>input_array</a:t>
            </a:r>
            <a:r>
              <a:rPr lang="en-US" sz="1800" b="0" i="0" strike="noStrike" kern="1200" dirty="0">
                <a:solidFill>
                  <a:schemeClr val="tx1"/>
                </a:solidFill>
                <a:effectLst/>
                <a:latin typeface="+mj-lt"/>
              </a:rPr>
              <a:t>, returning all elements matching the </a:t>
            </a:r>
            <a:r>
              <a:rPr lang="en-US" sz="1800" b="0" i="0" strike="noStrike" kern="1200" dirty="0" err="1">
                <a:solidFill>
                  <a:schemeClr val="tx1"/>
                </a:solidFill>
                <a:effectLst/>
                <a:latin typeface="+mj-lt"/>
              </a:rPr>
              <a:t>regexp</a:t>
            </a:r>
            <a:r>
              <a:rPr lang="en-US" sz="1800" b="0" i="0" strike="noStrike" kern="1200" dirty="0">
                <a:solidFill>
                  <a:schemeClr val="tx1"/>
                </a:solidFill>
                <a:effectLst/>
                <a:latin typeface="+mj-lt"/>
              </a:rPr>
              <a:t> pattern.</a:t>
            </a:r>
            <a:endParaRPr lang="en-US" sz="1800" b="0" i="0" strike="noStrike" dirty="0">
              <a:solidFill>
                <a:schemeClr val="tx1"/>
              </a:solidFill>
              <a:effectLst/>
              <a:latin typeface="+mj-lt"/>
            </a:endParaRPr>
          </a:p>
          <a:p>
            <a:pPr marL="0" algn="l" rtl="0" eaLnBrk="1" fontAlgn="ctr" latinLnBrk="0" hangingPunct="1">
              <a:lnSpc>
                <a:spcPct val="150000"/>
              </a:lnSpc>
              <a:spcBef>
                <a:spcPts val="0"/>
              </a:spcBef>
              <a:spcAft>
                <a:spcPts val="0"/>
              </a:spcAft>
              <a:buFont typeface="Wingdings" panose="05000000000000000000" pitchFamily="2" charset="2"/>
              <a:buChar char="Ø"/>
            </a:pPr>
            <a:r>
              <a:rPr lang="en-US" sz="1800" b="1" i="0" strike="noStrike" kern="1200" dirty="0">
                <a:solidFill>
                  <a:schemeClr val="tx1"/>
                </a:solidFill>
                <a:effectLst/>
                <a:latin typeface="+mj-lt"/>
              </a:rPr>
              <a:t> </a:t>
            </a:r>
            <a:r>
              <a:rPr lang="en-US" sz="1800" b="1" i="0" strike="noStrike" kern="1200" dirty="0" err="1">
                <a:solidFill>
                  <a:schemeClr val="tx1"/>
                </a:solidFill>
                <a:effectLst/>
                <a:latin typeface="+mj-lt"/>
              </a:rPr>
              <a:t>preg_quote</a:t>
            </a:r>
            <a:r>
              <a:rPr lang="en-US" sz="1800" b="1" i="0" strike="noStrike" kern="1200" dirty="0">
                <a:solidFill>
                  <a:schemeClr val="tx1"/>
                </a:solidFill>
                <a:effectLst/>
                <a:latin typeface="+mj-lt"/>
              </a:rPr>
              <a:t>():</a:t>
            </a:r>
            <a:r>
              <a:rPr lang="en-US" sz="1800" b="0" i="0" strike="noStrike" kern="1200" dirty="0">
                <a:solidFill>
                  <a:schemeClr val="tx1"/>
                </a:solidFill>
                <a:effectLst/>
                <a:latin typeface="+mj-lt"/>
              </a:rPr>
              <a:t>Quote regular expression characters</a:t>
            </a:r>
            <a:endParaRPr lang="en-US" sz="1800" b="0" i="0" strike="noStrike" dirty="0">
              <a:solidFill>
                <a:schemeClr val="tx1"/>
              </a:solidFill>
              <a:effectLst/>
              <a:latin typeface="+mj-lt"/>
            </a:endParaRPr>
          </a:p>
          <a:p>
            <a:endParaRPr lang="en-US" dirty="0"/>
          </a:p>
        </p:txBody>
      </p:sp>
      <p:sp>
        <p:nvSpPr>
          <p:cNvPr id="4" name="Date Placeholder 3">
            <a:extLst>
              <a:ext uri="{FF2B5EF4-FFF2-40B4-BE49-F238E27FC236}">
                <a16:creationId xmlns:a16="http://schemas.microsoft.com/office/drawing/2014/main" id="{63E5CF3E-04C7-7D66-8489-5DBD0A62723B}"/>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4124EDB8-A037-55AD-5ACA-9117082EB789}"/>
              </a:ext>
            </a:extLst>
          </p:cNvPr>
          <p:cNvSpPr>
            <a:spLocks noGrp="1"/>
          </p:cNvSpPr>
          <p:nvPr>
            <p:ph type="ftr" sz="quarter" idx="11"/>
          </p:nvPr>
        </p:nvSpPr>
        <p:spPr/>
        <p:txBody>
          <a:bodyPr/>
          <a:lstStyle/>
          <a:p>
            <a:r>
              <a:rPr lang="en-US" dirty="0"/>
              <a:t>compiled by: IT </a:t>
            </a:r>
            <a:r>
              <a:rPr lang="en-US" dirty="0" err="1"/>
              <a:t>dep't</a:t>
            </a:r>
            <a:r>
              <a:rPr lang="en-US" dirty="0"/>
              <a:t> staffs</a:t>
            </a:r>
          </a:p>
        </p:txBody>
      </p:sp>
      <p:sp>
        <p:nvSpPr>
          <p:cNvPr id="6" name="Slide Number Placeholder 5">
            <a:extLst>
              <a:ext uri="{FF2B5EF4-FFF2-40B4-BE49-F238E27FC236}">
                <a16:creationId xmlns:a16="http://schemas.microsoft.com/office/drawing/2014/main" id="{3D524B03-5C4A-6C91-1DD8-108EE1114C15}"/>
              </a:ext>
            </a:extLst>
          </p:cNvPr>
          <p:cNvSpPr>
            <a:spLocks noGrp="1"/>
          </p:cNvSpPr>
          <p:nvPr>
            <p:ph type="sldNum" sz="quarter" idx="12"/>
          </p:nvPr>
        </p:nvSpPr>
        <p:spPr/>
        <p:txBody>
          <a:bodyPr/>
          <a:lstStyle/>
          <a:p>
            <a:fld id="{DD4953B1-23D1-427D-BAAF-F6F31382E945}" type="slidenum">
              <a:rPr lang="en-US" smtClean="0"/>
              <a:t>54</a:t>
            </a:fld>
            <a:endParaRPr lang="en-US"/>
          </a:p>
        </p:txBody>
      </p:sp>
    </p:spTree>
    <p:extLst>
      <p:ext uri="{BB962C8B-B14F-4D97-AF65-F5344CB8AC3E}">
        <p14:creationId xmlns:p14="http://schemas.microsoft.com/office/powerpoint/2010/main" val="5320498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ADED-B3AB-D9B4-C134-CC57A81255B2}"/>
              </a:ext>
            </a:extLst>
          </p:cNvPr>
          <p:cNvSpPr>
            <a:spLocks noGrp="1"/>
          </p:cNvSpPr>
          <p:nvPr>
            <p:ph type="title"/>
          </p:nvPr>
        </p:nvSpPr>
        <p:spPr>
          <a:xfrm>
            <a:off x="1676401" y="228600"/>
            <a:ext cx="6858000" cy="559183"/>
          </a:xfrm>
        </p:spPr>
        <p:txBody>
          <a:bodyPr>
            <a:normAutofit fontScale="90000"/>
          </a:bodyPr>
          <a:lstStyle/>
          <a:p>
            <a:r>
              <a:rPr lang="en-US" b="1" dirty="0">
                <a:solidFill>
                  <a:srgbClr val="00B0F0"/>
                </a:solidFill>
              </a:rPr>
              <a:t>Form validation </a:t>
            </a:r>
          </a:p>
        </p:txBody>
      </p:sp>
      <p:sp>
        <p:nvSpPr>
          <p:cNvPr id="3" name="Content Placeholder 2">
            <a:extLst>
              <a:ext uri="{FF2B5EF4-FFF2-40B4-BE49-F238E27FC236}">
                <a16:creationId xmlns:a16="http://schemas.microsoft.com/office/drawing/2014/main" id="{D4E68DD7-2BAD-857A-AF76-65D06FC98C12}"/>
              </a:ext>
            </a:extLst>
          </p:cNvPr>
          <p:cNvSpPr>
            <a:spLocks noGrp="1"/>
          </p:cNvSpPr>
          <p:nvPr>
            <p:ph idx="1"/>
          </p:nvPr>
        </p:nvSpPr>
        <p:spPr>
          <a:xfrm>
            <a:off x="1295400" y="914400"/>
            <a:ext cx="7239001" cy="4724400"/>
          </a:xfrm>
        </p:spPr>
        <p:txBody>
          <a:bodyPr>
            <a:normAutofit fontScale="92500" lnSpcReduction="20000"/>
          </a:bodyPr>
          <a:lstStyle/>
          <a:p>
            <a:pPr marL="0" indent="0" algn="l">
              <a:lnSpc>
                <a:spcPct val="150000"/>
              </a:lnSpc>
              <a:buNone/>
            </a:pPr>
            <a:r>
              <a:rPr lang="en-US" sz="2200" i="0" dirty="0">
                <a:solidFill>
                  <a:schemeClr val="tx1"/>
                </a:solidFill>
                <a:effectLst/>
                <a:latin typeface="+mj-lt"/>
              </a:rPr>
              <a:t>In PHP, form validation refers to the process of checking and verifying the data submitted through an HTML form before it's used in your application. This is crucial to ensure the data is:</a:t>
            </a:r>
          </a:p>
          <a:p>
            <a:pPr algn="l">
              <a:lnSpc>
                <a:spcPct val="150000"/>
              </a:lnSpc>
              <a:buFont typeface="Arial" panose="020B0604020202020204" pitchFamily="34" charset="0"/>
              <a:buChar char="•"/>
            </a:pPr>
            <a:r>
              <a:rPr lang="en-US" sz="2200" b="1" i="0" dirty="0">
                <a:solidFill>
                  <a:schemeClr val="tx1"/>
                </a:solidFill>
                <a:effectLst/>
                <a:latin typeface="+mj-lt"/>
              </a:rPr>
              <a:t>Present: </a:t>
            </a:r>
            <a:r>
              <a:rPr lang="en-US" sz="2200" i="0" dirty="0">
                <a:solidFill>
                  <a:schemeClr val="tx1"/>
                </a:solidFill>
                <a:effectLst/>
                <a:latin typeface="+mj-lt"/>
              </a:rPr>
              <a:t>Required fields are not left blank.</a:t>
            </a:r>
          </a:p>
          <a:p>
            <a:pPr algn="l">
              <a:lnSpc>
                <a:spcPct val="150000"/>
              </a:lnSpc>
              <a:buFont typeface="Arial" panose="020B0604020202020204" pitchFamily="34" charset="0"/>
              <a:buChar char="•"/>
            </a:pPr>
            <a:r>
              <a:rPr lang="en-US" sz="2200" b="1" i="0" dirty="0">
                <a:solidFill>
                  <a:schemeClr val="tx1"/>
                </a:solidFill>
                <a:effectLst/>
                <a:latin typeface="+mj-lt"/>
              </a:rPr>
              <a:t>Valid: </a:t>
            </a:r>
            <a:r>
              <a:rPr lang="en-US" sz="2200" i="0" dirty="0">
                <a:solidFill>
                  <a:schemeClr val="tx1"/>
                </a:solidFill>
                <a:effectLst/>
                <a:latin typeface="+mj-lt"/>
              </a:rPr>
              <a:t>Data follows expected formats (e.g., email addresses, phone numbers).</a:t>
            </a:r>
          </a:p>
          <a:p>
            <a:pPr algn="l">
              <a:lnSpc>
                <a:spcPct val="150000"/>
              </a:lnSpc>
              <a:buFont typeface="Arial" panose="020B0604020202020204" pitchFamily="34" charset="0"/>
              <a:buChar char="•"/>
            </a:pPr>
            <a:r>
              <a:rPr lang="en-US" sz="2200" b="1" i="0" dirty="0">
                <a:solidFill>
                  <a:schemeClr val="tx1"/>
                </a:solidFill>
                <a:effectLst/>
                <a:latin typeface="+mj-lt"/>
              </a:rPr>
              <a:t>Safe: </a:t>
            </a:r>
            <a:r>
              <a:rPr lang="en-US" sz="2200" i="0" dirty="0">
                <a:solidFill>
                  <a:schemeClr val="tx1"/>
                </a:solidFill>
                <a:effectLst/>
                <a:latin typeface="+mj-lt"/>
              </a:rPr>
              <a:t>Free from malicious content that could harm your application or database (e.g., SQL injection attacks).</a:t>
            </a:r>
          </a:p>
          <a:p>
            <a:endParaRPr lang="en-US" dirty="0"/>
          </a:p>
        </p:txBody>
      </p:sp>
      <p:sp>
        <p:nvSpPr>
          <p:cNvPr id="4" name="Date Placeholder 3">
            <a:extLst>
              <a:ext uri="{FF2B5EF4-FFF2-40B4-BE49-F238E27FC236}">
                <a16:creationId xmlns:a16="http://schemas.microsoft.com/office/drawing/2014/main" id="{16CFEE86-EEA8-8FC5-6F59-158A66CC55A6}"/>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4C283856-9453-3F08-84A1-E9D2E11F1A4C}"/>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3FB738FD-1991-8971-9DDA-E6E4B65AF929}"/>
              </a:ext>
            </a:extLst>
          </p:cNvPr>
          <p:cNvSpPr>
            <a:spLocks noGrp="1"/>
          </p:cNvSpPr>
          <p:nvPr>
            <p:ph type="sldNum" sz="quarter" idx="12"/>
          </p:nvPr>
        </p:nvSpPr>
        <p:spPr/>
        <p:txBody>
          <a:bodyPr/>
          <a:lstStyle/>
          <a:p>
            <a:fld id="{DD4953B1-23D1-427D-BAAF-F6F31382E945}" type="slidenum">
              <a:rPr lang="en-US" smtClean="0"/>
              <a:t>55</a:t>
            </a:fld>
            <a:endParaRPr lang="en-US"/>
          </a:p>
        </p:txBody>
      </p:sp>
    </p:spTree>
    <p:extLst>
      <p:ext uri="{BB962C8B-B14F-4D97-AF65-F5344CB8AC3E}">
        <p14:creationId xmlns:p14="http://schemas.microsoft.com/office/powerpoint/2010/main" val="38515028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D9686-BBF7-72FC-06D5-8C56A2B0CB84}"/>
              </a:ext>
            </a:extLst>
          </p:cNvPr>
          <p:cNvSpPr>
            <a:spLocks noGrp="1"/>
          </p:cNvSpPr>
          <p:nvPr>
            <p:ph type="title"/>
          </p:nvPr>
        </p:nvSpPr>
        <p:spPr>
          <a:xfrm>
            <a:off x="1942415" y="352740"/>
            <a:ext cx="6589199" cy="1704660"/>
          </a:xfrm>
        </p:spPr>
        <p:txBody>
          <a:bodyPr>
            <a:normAutofit fontScale="90000"/>
          </a:bodyPr>
          <a:lstStyle/>
          <a:p>
            <a:r>
              <a:rPr lang="en-US" b="1" dirty="0">
                <a:solidFill>
                  <a:srgbClr val="00B0F0"/>
                </a:solidFill>
              </a:rPr>
              <a:t>Form validation…</a:t>
            </a:r>
            <a:br>
              <a:rPr lang="en-US" b="1" dirty="0">
                <a:solidFill>
                  <a:srgbClr val="00B0F0"/>
                </a:solidFill>
              </a:rPr>
            </a:br>
            <a:br>
              <a:rPr lang="en-US" b="1" dirty="0">
                <a:solidFill>
                  <a:srgbClr val="00B0F0"/>
                </a:solidFill>
              </a:rPr>
            </a:br>
            <a:endParaRPr lang="en-US" dirty="0"/>
          </a:p>
        </p:txBody>
      </p:sp>
      <p:sp>
        <p:nvSpPr>
          <p:cNvPr id="4" name="Date Placeholder 3">
            <a:extLst>
              <a:ext uri="{FF2B5EF4-FFF2-40B4-BE49-F238E27FC236}">
                <a16:creationId xmlns:a16="http://schemas.microsoft.com/office/drawing/2014/main" id="{CA2DC888-CA1D-8712-6EAF-A9065318EFDA}"/>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45C2D008-71AA-9AD4-18A3-0D1E3FBBB16F}"/>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89AC5ED7-40F2-49CF-5952-771B34D97BB0}"/>
              </a:ext>
            </a:extLst>
          </p:cNvPr>
          <p:cNvSpPr>
            <a:spLocks noGrp="1"/>
          </p:cNvSpPr>
          <p:nvPr>
            <p:ph type="sldNum" sz="quarter" idx="12"/>
          </p:nvPr>
        </p:nvSpPr>
        <p:spPr/>
        <p:txBody>
          <a:bodyPr/>
          <a:lstStyle/>
          <a:p>
            <a:fld id="{DD4953B1-23D1-427D-BAAF-F6F31382E945}" type="slidenum">
              <a:rPr lang="en-US" smtClean="0"/>
              <a:t>56</a:t>
            </a:fld>
            <a:endParaRPr lang="en-US"/>
          </a:p>
        </p:txBody>
      </p:sp>
      <p:sp>
        <p:nvSpPr>
          <p:cNvPr id="10" name="Content Placeholder 9">
            <a:extLst>
              <a:ext uri="{FF2B5EF4-FFF2-40B4-BE49-F238E27FC236}">
                <a16:creationId xmlns:a16="http://schemas.microsoft.com/office/drawing/2014/main" id="{1D6218EF-63F2-17D6-526F-76173D46DDDE}"/>
              </a:ext>
            </a:extLst>
          </p:cNvPr>
          <p:cNvSpPr>
            <a:spLocks noGrp="1"/>
          </p:cNvSpPr>
          <p:nvPr>
            <p:ph idx="1"/>
          </p:nvPr>
        </p:nvSpPr>
        <p:spPr>
          <a:xfrm>
            <a:off x="762000" y="1152908"/>
            <a:ext cx="8077199" cy="5171692"/>
          </a:xfrm>
        </p:spPr>
        <p:txBody>
          <a:bodyPr>
            <a:normAutofit/>
          </a:bodyPr>
          <a:lstStyle/>
          <a:p>
            <a:pPr marL="0" indent="0" algn="just">
              <a:lnSpc>
                <a:spcPct val="150000"/>
              </a:lnSpc>
              <a:buNone/>
            </a:pPr>
            <a:r>
              <a:rPr lang="en-US" b="0" i="0" dirty="0">
                <a:solidFill>
                  <a:srgbClr val="333333"/>
                </a:solidFill>
                <a:effectLst/>
                <a:latin typeface="+mj-lt"/>
              </a:rPr>
              <a:t>There is no guarantee that the information provided by the user is always correct. </a:t>
            </a:r>
            <a:r>
              <a:rPr lang="en-US" b="1" i="0" dirty="0">
                <a:solidFill>
                  <a:srgbClr val="FF0000"/>
                </a:solidFill>
                <a:effectLst/>
                <a:latin typeface="+mj-lt"/>
              </a:rPr>
              <a:t>PHP</a:t>
            </a:r>
            <a:r>
              <a:rPr lang="en-US" b="0" i="0" dirty="0">
                <a:solidFill>
                  <a:srgbClr val="333333"/>
                </a:solidFill>
                <a:effectLst/>
                <a:latin typeface="+mj-lt"/>
              </a:rPr>
              <a:t> validates the data at the server-side, which is submitted by </a:t>
            </a:r>
            <a:r>
              <a:rPr lang="en-US" b="1" dirty="0">
                <a:solidFill>
                  <a:srgbClr val="FF0000"/>
                </a:solidFill>
                <a:latin typeface="+mj-lt"/>
              </a:rPr>
              <a:t>HTML FORM</a:t>
            </a:r>
            <a:r>
              <a:rPr lang="en-US" b="1" dirty="0">
                <a:solidFill>
                  <a:schemeClr val="tx1"/>
                </a:solidFill>
                <a:latin typeface="+mj-lt"/>
              </a:rPr>
              <a:t>.</a:t>
            </a:r>
          </a:p>
          <a:p>
            <a:pPr marL="0" indent="0" algn="just">
              <a:lnSpc>
                <a:spcPct val="150000"/>
              </a:lnSpc>
              <a:buNone/>
            </a:pPr>
            <a:r>
              <a:rPr lang="en-US" b="0" i="0" dirty="0">
                <a:solidFill>
                  <a:srgbClr val="333333"/>
                </a:solidFill>
                <a:effectLst/>
                <a:latin typeface="+mj-lt"/>
              </a:rPr>
              <a:t>You need to validate a few things:</a:t>
            </a:r>
          </a:p>
          <a:p>
            <a:pPr algn="just">
              <a:lnSpc>
                <a:spcPct val="150000"/>
              </a:lnSpc>
              <a:buFont typeface="+mj-lt"/>
              <a:buAutoNum type="arabicPeriod"/>
            </a:pPr>
            <a:r>
              <a:rPr lang="en-US" b="0" i="0" dirty="0">
                <a:solidFill>
                  <a:srgbClr val="000000"/>
                </a:solidFill>
                <a:effectLst/>
                <a:latin typeface="+mj-lt"/>
              </a:rPr>
              <a:t>Empty String</a:t>
            </a:r>
          </a:p>
          <a:p>
            <a:pPr algn="just">
              <a:lnSpc>
                <a:spcPct val="150000"/>
              </a:lnSpc>
              <a:buFont typeface="+mj-lt"/>
              <a:buAutoNum type="arabicPeriod"/>
            </a:pPr>
            <a:r>
              <a:rPr lang="en-US" b="0" i="0" dirty="0">
                <a:solidFill>
                  <a:srgbClr val="000000"/>
                </a:solidFill>
                <a:effectLst/>
                <a:latin typeface="+mj-lt"/>
              </a:rPr>
              <a:t>Validate String</a:t>
            </a:r>
          </a:p>
          <a:p>
            <a:pPr algn="just">
              <a:lnSpc>
                <a:spcPct val="150000"/>
              </a:lnSpc>
              <a:buFont typeface="+mj-lt"/>
              <a:buAutoNum type="arabicPeriod"/>
            </a:pPr>
            <a:r>
              <a:rPr lang="en-US" b="0" i="0" dirty="0">
                <a:solidFill>
                  <a:srgbClr val="000000"/>
                </a:solidFill>
                <a:effectLst/>
                <a:latin typeface="+mj-lt"/>
              </a:rPr>
              <a:t>Validate Numbers</a:t>
            </a:r>
          </a:p>
          <a:p>
            <a:pPr algn="just">
              <a:lnSpc>
                <a:spcPct val="150000"/>
              </a:lnSpc>
              <a:buFont typeface="+mj-lt"/>
              <a:buAutoNum type="arabicPeriod"/>
            </a:pPr>
            <a:r>
              <a:rPr lang="en-US" b="0" i="0" dirty="0">
                <a:solidFill>
                  <a:srgbClr val="000000"/>
                </a:solidFill>
                <a:effectLst/>
                <a:latin typeface="+mj-lt"/>
              </a:rPr>
              <a:t>Validate Email</a:t>
            </a:r>
          </a:p>
          <a:p>
            <a:pPr algn="just">
              <a:lnSpc>
                <a:spcPct val="150000"/>
              </a:lnSpc>
              <a:buFont typeface="+mj-lt"/>
              <a:buAutoNum type="arabicPeriod"/>
            </a:pPr>
            <a:r>
              <a:rPr lang="en-US" b="0" i="0" dirty="0">
                <a:solidFill>
                  <a:srgbClr val="000000"/>
                </a:solidFill>
                <a:effectLst/>
                <a:latin typeface="+mj-lt"/>
              </a:rPr>
              <a:t>Validate URL</a:t>
            </a:r>
          </a:p>
          <a:p>
            <a:pPr algn="just">
              <a:lnSpc>
                <a:spcPct val="150000"/>
              </a:lnSpc>
              <a:buFont typeface="+mj-lt"/>
              <a:buAutoNum type="arabicPeriod"/>
            </a:pPr>
            <a:r>
              <a:rPr lang="en-US" b="0" i="0" dirty="0">
                <a:solidFill>
                  <a:srgbClr val="000000"/>
                </a:solidFill>
                <a:effectLst/>
                <a:latin typeface="+mj-lt"/>
              </a:rPr>
              <a:t>Input length</a:t>
            </a:r>
          </a:p>
          <a:p>
            <a:pPr marL="0" indent="0">
              <a:buNone/>
            </a:pPr>
            <a:endParaRPr lang="en-US" dirty="0"/>
          </a:p>
        </p:txBody>
      </p:sp>
    </p:spTree>
    <p:extLst>
      <p:ext uri="{BB962C8B-B14F-4D97-AF65-F5344CB8AC3E}">
        <p14:creationId xmlns:p14="http://schemas.microsoft.com/office/powerpoint/2010/main" val="10345028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39CAD-A4A0-7C11-2417-9E04FB638BB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226F10C-194F-9E18-96D6-011D5DF6D272}"/>
              </a:ext>
            </a:extLst>
          </p:cNvPr>
          <p:cNvSpPr>
            <a:spLocks noGrp="1"/>
          </p:cNvSpPr>
          <p:nvPr>
            <p:ph idx="1"/>
          </p:nvPr>
        </p:nvSpPr>
        <p:spPr>
          <a:xfrm>
            <a:off x="1942415" y="1371600"/>
            <a:ext cx="5982385" cy="4572000"/>
          </a:xfrm>
        </p:spPr>
        <p:txBody>
          <a:bodyPr/>
          <a:lstStyle/>
          <a:p>
            <a:pPr marL="0" indent="0" algn="just">
              <a:buNone/>
            </a:pPr>
            <a:r>
              <a:rPr lang="en-US" b="1" i="0" dirty="0">
                <a:solidFill>
                  <a:srgbClr val="FF0000"/>
                </a:solidFill>
                <a:effectLst/>
                <a:latin typeface="+mj-lt"/>
              </a:rPr>
              <a:t>Empty String</a:t>
            </a:r>
          </a:p>
          <a:p>
            <a:pPr algn="just">
              <a:buFont typeface="Wingdings" panose="05000000000000000000" pitchFamily="2" charset="2"/>
              <a:buChar char="Ø"/>
            </a:pPr>
            <a:r>
              <a:rPr lang="en-US" b="0" i="0" dirty="0">
                <a:solidFill>
                  <a:srgbClr val="333333"/>
                </a:solidFill>
                <a:effectLst/>
                <a:latin typeface="inter-regular"/>
              </a:rPr>
              <a:t>The code below checks that the field is not empty.</a:t>
            </a:r>
          </a:p>
          <a:p>
            <a:pPr marL="0" indent="0" algn="just">
              <a:buNone/>
            </a:pPr>
            <a:r>
              <a:rPr lang="en-US" b="1" i="0" dirty="0">
                <a:solidFill>
                  <a:srgbClr val="006699"/>
                </a:solidFill>
                <a:effectLst/>
                <a:latin typeface="+mj-lt"/>
              </a:rPr>
              <a:t>if</a:t>
            </a:r>
            <a:r>
              <a:rPr lang="en-US" b="0" i="0" dirty="0">
                <a:solidFill>
                  <a:srgbClr val="000000"/>
                </a:solidFill>
                <a:effectLst/>
                <a:latin typeface="+mj-lt"/>
              </a:rPr>
              <a:t> (</a:t>
            </a:r>
            <a:r>
              <a:rPr lang="en-US" b="1" i="0" dirty="0">
                <a:solidFill>
                  <a:srgbClr val="006699"/>
                </a:solidFill>
                <a:effectLst/>
                <a:latin typeface="+mj-lt"/>
              </a:rPr>
              <a:t>empty</a:t>
            </a:r>
            <a:r>
              <a:rPr lang="en-US" b="0" i="0" dirty="0">
                <a:solidFill>
                  <a:srgbClr val="000000"/>
                </a:solidFill>
                <a:effectLst/>
                <a:latin typeface="+mj-lt"/>
              </a:rPr>
              <a:t> ($_POST[</a:t>
            </a:r>
            <a:r>
              <a:rPr lang="en-US" b="0" i="0" dirty="0">
                <a:solidFill>
                  <a:srgbClr val="0000FF"/>
                </a:solidFill>
                <a:effectLst/>
                <a:latin typeface="+mj-lt"/>
              </a:rPr>
              <a:t>"name"</a:t>
            </a:r>
            <a:r>
              <a:rPr lang="en-US" b="0" i="0" dirty="0">
                <a:solidFill>
                  <a:srgbClr val="000000"/>
                </a:solidFill>
                <a:effectLst/>
                <a:latin typeface="+mj-lt"/>
              </a:rPr>
              <a:t>])) {  </a:t>
            </a:r>
          </a:p>
          <a:p>
            <a:pPr marL="0" indent="0" algn="just">
              <a:buNone/>
            </a:pPr>
            <a:r>
              <a:rPr lang="en-US" b="0" i="0" dirty="0">
                <a:solidFill>
                  <a:srgbClr val="000000"/>
                </a:solidFill>
                <a:effectLst/>
                <a:latin typeface="+mj-lt"/>
              </a:rPr>
              <a:t>    $</a:t>
            </a:r>
            <a:r>
              <a:rPr lang="en-US" b="0" i="0" dirty="0" err="1">
                <a:solidFill>
                  <a:srgbClr val="000000"/>
                </a:solidFill>
                <a:effectLst/>
                <a:latin typeface="+mj-lt"/>
              </a:rPr>
              <a:t>errMsg</a:t>
            </a:r>
            <a:r>
              <a:rPr lang="en-US" b="0" i="0" dirty="0">
                <a:solidFill>
                  <a:srgbClr val="000000"/>
                </a:solidFill>
                <a:effectLst/>
                <a:latin typeface="+mj-lt"/>
              </a:rPr>
              <a:t> = </a:t>
            </a:r>
            <a:r>
              <a:rPr lang="en-US" b="0" i="0" dirty="0">
                <a:solidFill>
                  <a:srgbClr val="0000FF"/>
                </a:solidFill>
                <a:effectLst/>
                <a:latin typeface="+mj-lt"/>
              </a:rPr>
              <a:t>"Error! You didn't enter the Name."</a:t>
            </a:r>
            <a:r>
              <a:rPr lang="en-US" b="0" i="0" dirty="0">
                <a:solidFill>
                  <a:srgbClr val="000000"/>
                </a:solidFill>
                <a:effectLst/>
                <a:latin typeface="+mj-lt"/>
              </a:rPr>
              <a:t>;  </a:t>
            </a:r>
          </a:p>
          <a:p>
            <a:pPr marL="0" indent="0" algn="just">
              <a:buNone/>
            </a:pPr>
            <a:r>
              <a:rPr lang="en-US" b="0" i="0" dirty="0">
                <a:solidFill>
                  <a:srgbClr val="000000"/>
                </a:solidFill>
                <a:effectLst/>
                <a:latin typeface="+mj-lt"/>
              </a:rPr>
              <a:t>             echo $</a:t>
            </a:r>
            <a:r>
              <a:rPr lang="en-US" b="0" i="0" dirty="0" err="1">
                <a:solidFill>
                  <a:srgbClr val="000000"/>
                </a:solidFill>
                <a:effectLst/>
                <a:latin typeface="+mj-lt"/>
              </a:rPr>
              <a:t>errMsg</a:t>
            </a:r>
            <a:r>
              <a:rPr lang="en-US" b="0" i="0" dirty="0">
                <a:solidFill>
                  <a:srgbClr val="000000"/>
                </a:solidFill>
                <a:effectLst/>
                <a:latin typeface="+mj-lt"/>
              </a:rPr>
              <a:t>;  </a:t>
            </a:r>
          </a:p>
          <a:p>
            <a:pPr marL="0" indent="0" algn="just">
              <a:buNone/>
            </a:pPr>
            <a:r>
              <a:rPr lang="en-US" b="0" i="0" dirty="0">
                <a:solidFill>
                  <a:srgbClr val="000000"/>
                </a:solidFill>
                <a:effectLst/>
                <a:latin typeface="+mj-lt"/>
              </a:rPr>
              <a:t>} </a:t>
            </a:r>
          </a:p>
          <a:p>
            <a:pPr marL="0" indent="0" algn="just">
              <a:buNone/>
            </a:pPr>
            <a:r>
              <a:rPr lang="en-US" b="1" i="0" dirty="0">
                <a:solidFill>
                  <a:srgbClr val="006699"/>
                </a:solidFill>
                <a:effectLst/>
                <a:latin typeface="+mj-lt"/>
              </a:rPr>
              <a:t>else</a:t>
            </a:r>
            <a:r>
              <a:rPr lang="en-US" b="0" i="0" dirty="0">
                <a:solidFill>
                  <a:srgbClr val="000000"/>
                </a:solidFill>
                <a:effectLst/>
                <a:latin typeface="+mj-lt"/>
              </a:rPr>
              <a:t> {  </a:t>
            </a:r>
          </a:p>
          <a:p>
            <a:pPr marL="0" indent="0" algn="just">
              <a:buNone/>
            </a:pPr>
            <a:r>
              <a:rPr lang="en-US" b="0" i="0" dirty="0">
                <a:solidFill>
                  <a:srgbClr val="000000"/>
                </a:solidFill>
                <a:effectLst/>
                <a:latin typeface="+mj-lt"/>
              </a:rPr>
              <a:t>    $name = $_POST[</a:t>
            </a:r>
            <a:r>
              <a:rPr lang="en-US" b="0" i="0" dirty="0">
                <a:solidFill>
                  <a:srgbClr val="0000FF"/>
                </a:solidFill>
                <a:effectLst/>
                <a:latin typeface="+mj-lt"/>
              </a:rPr>
              <a:t>"name"</a:t>
            </a:r>
            <a:r>
              <a:rPr lang="en-US" b="0" i="0" dirty="0">
                <a:solidFill>
                  <a:srgbClr val="000000"/>
                </a:solidFill>
                <a:effectLst/>
                <a:latin typeface="+mj-lt"/>
              </a:rPr>
              <a:t>];  </a:t>
            </a:r>
          </a:p>
          <a:p>
            <a:pPr marL="0" indent="0" algn="just">
              <a:buNone/>
            </a:pPr>
            <a:r>
              <a:rPr lang="en-US" b="0" i="0" dirty="0">
                <a:solidFill>
                  <a:srgbClr val="000000"/>
                </a:solidFill>
                <a:effectLst/>
                <a:latin typeface="+mj-lt"/>
              </a:rPr>
              <a:t>  }  </a:t>
            </a:r>
          </a:p>
          <a:p>
            <a:endParaRPr lang="en-US" dirty="0"/>
          </a:p>
        </p:txBody>
      </p:sp>
      <p:sp>
        <p:nvSpPr>
          <p:cNvPr id="4" name="Date Placeholder 3">
            <a:extLst>
              <a:ext uri="{FF2B5EF4-FFF2-40B4-BE49-F238E27FC236}">
                <a16:creationId xmlns:a16="http://schemas.microsoft.com/office/drawing/2014/main" id="{42CAC33B-BA06-5301-AF42-41051ECE540C}"/>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9073C95F-0836-F4DC-12C3-6415394ACE07}"/>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00707D87-9D88-A0CA-F999-6E0F25789BE6}"/>
              </a:ext>
            </a:extLst>
          </p:cNvPr>
          <p:cNvSpPr>
            <a:spLocks noGrp="1"/>
          </p:cNvSpPr>
          <p:nvPr>
            <p:ph type="sldNum" sz="quarter" idx="12"/>
          </p:nvPr>
        </p:nvSpPr>
        <p:spPr/>
        <p:txBody>
          <a:bodyPr/>
          <a:lstStyle/>
          <a:p>
            <a:fld id="{DD4953B1-23D1-427D-BAAF-F6F31382E945}" type="slidenum">
              <a:rPr lang="en-US" smtClean="0"/>
              <a:t>57</a:t>
            </a:fld>
            <a:endParaRPr lang="en-US"/>
          </a:p>
        </p:txBody>
      </p:sp>
    </p:spTree>
    <p:extLst>
      <p:ext uri="{BB962C8B-B14F-4D97-AF65-F5344CB8AC3E}">
        <p14:creationId xmlns:p14="http://schemas.microsoft.com/office/powerpoint/2010/main" val="10458979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FA4E6-8FAA-8BEB-3B72-804EDE6BD9F8}"/>
              </a:ext>
            </a:extLst>
          </p:cNvPr>
          <p:cNvSpPr>
            <a:spLocks noGrp="1"/>
          </p:cNvSpPr>
          <p:nvPr>
            <p:ph type="title"/>
          </p:nvPr>
        </p:nvSpPr>
        <p:spPr/>
        <p:txBody>
          <a:bodyPr/>
          <a:lstStyle/>
          <a:p>
            <a:r>
              <a:rPr lang="en-US" dirty="0" err="1"/>
              <a:t>Cont</a:t>
            </a:r>
            <a:r>
              <a:rPr lang="en-US" dirty="0"/>
              <a:t>…</a:t>
            </a:r>
            <a:br>
              <a:rPr lang="en-US" dirty="0"/>
            </a:br>
            <a:endParaRPr lang="en-US" dirty="0"/>
          </a:p>
        </p:txBody>
      </p:sp>
      <p:sp>
        <p:nvSpPr>
          <p:cNvPr id="3" name="Content Placeholder 2">
            <a:extLst>
              <a:ext uri="{FF2B5EF4-FFF2-40B4-BE49-F238E27FC236}">
                <a16:creationId xmlns:a16="http://schemas.microsoft.com/office/drawing/2014/main" id="{9D013EB9-8B67-C78C-773F-D5B59DBD70A6}"/>
              </a:ext>
            </a:extLst>
          </p:cNvPr>
          <p:cNvSpPr>
            <a:spLocks noGrp="1"/>
          </p:cNvSpPr>
          <p:nvPr>
            <p:ph idx="1"/>
          </p:nvPr>
        </p:nvSpPr>
        <p:spPr>
          <a:xfrm>
            <a:off x="1096206" y="1371600"/>
            <a:ext cx="7438195" cy="4539622"/>
          </a:xfrm>
        </p:spPr>
        <p:txBody>
          <a:bodyPr>
            <a:normAutofit fontScale="92500" lnSpcReduction="10000"/>
          </a:bodyPr>
          <a:lstStyle/>
          <a:p>
            <a:r>
              <a:rPr lang="en-US" sz="3000" b="1" dirty="0">
                <a:solidFill>
                  <a:srgbClr val="FF0000"/>
                </a:solidFill>
              </a:rPr>
              <a:t>Validate string </a:t>
            </a:r>
          </a:p>
          <a:p>
            <a:pPr marL="0" indent="0">
              <a:buNone/>
            </a:pPr>
            <a:r>
              <a:rPr lang="en-US" b="0" i="0" dirty="0">
                <a:solidFill>
                  <a:srgbClr val="333333"/>
                </a:solidFill>
                <a:effectLst/>
                <a:latin typeface="+mj-lt"/>
              </a:rPr>
              <a:t>The code below checks that the field will contain only alphabets and whitespace, for example – name.</a:t>
            </a:r>
          </a:p>
          <a:p>
            <a:pPr marL="0" indent="0" algn="just">
              <a:buNone/>
            </a:pPr>
            <a:r>
              <a:rPr lang="en-US" sz="2400" b="0" i="0" dirty="0">
                <a:solidFill>
                  <a:srgbClr val="000000"/>
                </a:solidFill>
                <a:effectLst/>
                <a:latin typeface="+mj-lt"/>
              </a:rPr>
              <a:t>$name = $_POST [</a:t>
            </a:r>
            <a:r>
              <a:rPr lang="en-US" sz="2400" b="0" i="0" dirty="0">
                <a:solidFill>
                  <a:srgbClr val="0000FF"/>
                </a:solidFill>
                <a:effectLst/>
                <a:latin typeface="+mj-lt"/>
              </a:rPr>
              <a:t>"Name"</a:t>
            </a:r>
            <a:r>
              <a:rPr lang="en-US" sz="2400" b="0" i="0" dirty="0">
                <a:solidFill>
                  <a:srgbClr val="000000"/>
                </a:solidFill>
                <a:effectLst/>
                <a:latin typeface="+mj-lt"/>
              </a:rPr>
              <a:t>];  </a:t>
            </a:r>
          </a:p>
          <a:p>
            <a:pPr marL="0" indent="0" algn="just">
              <a:buNone/>
            </a:pPr>
            <a:r>
              <a:rPr lang="en-US" sz="2400" b="1" i="0" dirty="0">
                <a:solidFill>
                  <a:srgbClr val="006699"/>
                </a:solidFill>
                <a:effectLst/>
                <a:latin typeface="+mj-lt"/>
              </a:rPr>
              <a:t>if</a:t>
            </a:r>
            <a:r>
              <a:rPr lang="en-US" sz="2400" b="0" i="0" dirty="0">
                <a:solidFill>
                  <a:srgbClr val="000000"/>
                </a:solidFill>
                <a:effectLst/>
                <a:latin typeface="+mj-lt"/>
              </a:rPr>
              <a:t> (!</a:t>
            </a:r>
            <a:r>
              <a:rPr lang="en-US" sz="2400" b="0" i="0" dirty="0" err="1">
                <a:solidFill>
                  <a:srgbClr val="000000"/>
                </a:solidFill>
                <a:effectLst/>
                <a:latin typeface="+mj-lt"/>
              </a:rPr>
              <a:t>preg_match</a:t>
            </a:r>
            <a:r>
              <a:rPr lang="en-US" sz="2400" b="0" i="0" dirty="0">
                <a:solidFill>
                  <a:srgbClr val="000000"/>
                </a:solidFill>
                <a:effectLst/>
                <a:latin typeface="+mj-lt"/>
              </a:rPr>
              <a:t> (</a:t>
            </a:r>
            <a:r>
              <a:rPr lang="en-US" sz="2400" b="0" i="0" dirty="0">
                <a:solidFill>
                  <a:srgbClr val="0000FF"/>
                </a:solidFill>
                <a:effectLst/>
                <a:latin typeface="+mj-lt"/>
              </a:rPr>
              <a:t>"/^[a-</a:t>
            </a:r>
            <a:r>
              <a:rPr lang="en-US" sz="2400" b="0" i="0" dirty="0" err="1">
                <a:solidFill>
                  <a:srgbClr val="0000FF"/>
                </a:solidFill>
                <a:effectLst/>
                <a:latin typeface="+mj-lt"/>
              </a:rPr>
              <a:t>zA</a:t>
            </a:r>
            <a:r>
              <a:rPr lang="en-US" sz="2400" b="0" i="0" dirty="0">
                <a:solidFill>
                  <a:srgbClr val="0000FF"/>
                </a:solidFill>
                <a:effectLst/>
                <a:latin typeface="+mj-lt"/>
              </a:rPr>
              <a:t>-z]*$/"</a:t>
            </a:r>
            <a:r>
              <a:rPr lang="en-US" sz="2400" b="0" i="0" dirty="0">
                <a:solidFill>
                  <a:srgbClr val="000000"/>
                </a:solidFill>
                <a:effectLst/>
                <a:latin typeface="+mj-lt"/>
              </a:rPr>
              <a:t>, $name) ) {  </a:t>
            </a:r>
          </a:p>
          <a:p>
            <a:pPr marL="0" indent="0" algn="just">
              <a:buNone/>
            </a:pPr>
            <a:r>
              <a:rPr lang="en-US" sz="2400" b="0" i="0" dirty="0">
                <a:solidFill>
                  <a:srgbClr val="000000"/>
                </a:solidFill>
                <a:effectLst/>
                <a:latin typeface="+mj-lt"/>
              </a:rPr>
              <a:t>    $</a:t>
            </a:r>
            <a:r>
              <a:rPr lang="en-US" sz="2400" b="0" i="0" dirty="0" err="1">
                <a:solidFill>
                  <a:srgbClr val="000000"/>
                </a:solidFill>
                <a:effectLst/>
                <a:latin typeface="+mj-lt"/>
              </a:rPr>
              <a:t>ErrMsg</a:t>
            </a:r>
            <a:r>
              <a:rPr lang="en-US" sz="2400" b="0" i="0" dirty="0">
                <a:solidFill>
                  <a:srgbClr val="000000"/>
                </a:solidFill>
                <a:effectLst/>
                <a:latin typeface="+mj-lt"/>
              </a:rPr>
              <a:t> = </a:t>
            </a:r>
            <a:r>
              <a:rPr lang="en-US" sz="2400" b="0" i="0" dirty="0">
                <a:solidFill>
                  <a:srgbClr val="0000FF"/>
                </a:solidFill>
                <a:effectLst/>
                <a:latin typeface="+mj-lt"/>
              </a:rPr>
              <a:t>"Only alphabets and whitespace are allowed."</a:t>
            </a:r>
            <a:r>
              <a:rPr lang="en-US" sz="2400" b="0" i="0" dirty="0">
                <a:solidFill>
                  <a:srgbClr val="000000"/>
                </a:solidFill>
                <a:effectLst/>
                <a:latin typeface="+mj-lt"/>
              </a:rPr>
              <a:t>;  </a:t>
            </a:r>
          </a:p>
          <a:p>
            <a:pPr marL="0" indent="0" algn="just">
              <a:buNone/>
            </a:pPr>
            <a:r>
              <a:rPr lang="en-US" sz="2400" b="0" i="0" dirty="0">
                <a:solidFill>
                  <a:srgbClr val="000000"/>
                </a:solidFill>
                <a:effectLst/>
                <a:latin typeface="+mj-lt"/>
              </a:rPr>
              <a:t>             echo $</a:t>
            </a:r>
            <a:r>
              <a:rPr lang="en-US" sz="2400" b="0" i="0" dirty="0" err="1">
                <a:solidFill>
                  <a:srgbClr val="000000"/>
                </a:solidFill>
                <a:effectLst/>
                <a:latin typeface="+mj-lt"/>
              </a:rPr>
              <a:t>ErrMsg</a:t>
            </a:r>
            <a:r>
              <a:rPr lang="en-US" sz="2400" b="0" i="0" dirty="0">
                <a:solidFill>
                  <a:srgbClr val="000000"/>
                </a:solidFill>
                <a:effectLst/>
                <a:latin typeface="+mj-lt"/>
              </a:rPr>
              <a:t>;  </a:t>
            </a:r>
          </a:p>
          <a:p>
            <a:pPr marL="0" indent="0" algn="just">
              <a:buNone/>
            </a:pPr>
            <a:r>
              <a:rPr lang="en-US" sz="2400" b="0" i="0" dirty="0">
                <a:solidFill>
                  <a:srgbClr val="000000"/>
                </a:solidFill>
                <a:effectLst/>
                <a:latin typeface="+mj-lt"/>
              </a:rPr>
              <a:t>} </a:t>
            </a:r>
            <a:r>
              <a:rPr lang="en-US" sz="2400" b="1" i="0" dirty="0">
                <a:solidFill>
                  <a:srgbClr val="006699"/>
                </a:solidFill>
                <a:effectLst/>
                <a:latin typeface="+mj-lt"/>
              </a:rPr>
              <a:t>else</a:t>
            </a:r>
            <a:r>
              <a:rPr lang="en-US" sz="2400" b="0" i="0" dirty="0">
                <a:solidFill>
                  <a:srgbClr val="000000"/>
                </a:solidFill>
                <a:effectLst/>
                <a:latin typeface="+mj-lt"/>
              </a:rPr>
              <a:t> {  </a:t>
            </a:r>
          </a:p>
          <a:p>
            <a:pPr marL="0" indent="0" algn="just">
              <a:buNone/>
            </a:pPr>
            <a:r>
              <a:rPr lang="en-US" sz="2400" b="0" i="0" dirty="0">
                <a:solidFill>
                  <a:srgbClr val="000000"/>
                </a:solidFill>
                <a:effectLst/>
                <a:latin typeface="+mj-lt"/>
              </a:rPr>
              <a:t>    echo $name;  </a:t>
            </a:r>
          </a:p>
          <a:p>
            <a:pPr marL="0" indent="0" algn="just">
              <a:buNone/>
            </a:pPr>
            <a:r>
              <a:rPr lang="en-US" sz="2400" b="0" i="0" dirty="0">
                <a:solidFill>
                  <a:srgbClr val="000000"/>
                </a:solidFill>
                <a:effectLst/>
                <a:latin typeface="+mj-lt"/>
              </a:rPr>
              <a:t>} </a:t>
            </a:r>
            <a:r>
              <a:rPr lang="en-US" b="0" i="0" dirty="0">
                <a:solidFill>
                  <a:srgbClr val="000000"/>
                </a:solidFill>
                <a:effectLst/>
                <a:latin typeface="+mj-lt"/>
              </a:rPr>
              <a:t> </a:t>
            </a:r>
          </a:p>
          <a:p>
            <a:pPr marL="0" indent="0">
              <a:buNone/>
            </a:pPr>
            <a:endParaRPr lang="en-US" dirty="0"/>
          </a:p>
        </p:txBody>
      </p:sp>
      <p:sp>
        <p:nvSpPr>
          <p:cNvPr id="4" name="Date Placeholder 3">
            <a:extLst>
              <a:ext uri="{FF2B5EF4-FFF2-40B4-BE49-F238E27FC236}">
                <a16:creationId xmlns:a16="http://schemas.microsoft.com/office/drawing/2014/main" id="{4E6D31C4-7FF5-8172-AD2C-AC6B2E443550}"/>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955EE51C-4D79-A1BB-646F-ECA624DA409B}"/>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6179A654-CF1F-DF63-BCB9-675069F52754}"/>
              </a:ext>
            </a:extLst>
          </p:cNvPr>
          <p:cNvSpPr>
            <a:spLocks noGrp="1"/>
          </p:cNvSpPr>
          <p:nvPr>
            <p:ph type="sldNum" sz="quarter" idx="12"/>
          </p:nvPr>
        </p:nvSpPr>
        <p:spPr/>
        <p:txBody>
          <a:bodyPr/>
          <a:lstStyle/>
          <a:p>
            <a:fld id="{DD4953B1-23D1-427D-BAAF-F6F31382E945}" type="slidenum">
              <a:rPr lang="en-US" smtClean="0"/>
              <a:t>58</a:t>
            </a:fld>
            <a:endParaRPr lang="en-US"/>
          </a:p>
        </p:txBody>
      </p:sp>
    </p:spTree>
    <p:extLst>
      <p:ext uri="{BB962C8B-B14F-4D97-AF65-F5344CB8AC3E}">
        <p14:creationId xmlns:p14="http://schemas.microsoft.com/office/powerpoint/2010/main" val="4224940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84902-F7A6-B52C-9FDC-07A4910FEE20}"/>
              </a:ext>
            </a:extLst>
          </p:cNvPr>
          <p:cNvSpPr>
            <a:spLocks noGrp="1"/>
          </p:cNvSpPr>
          <p:nvPr>
            <p:ph type="title"/>
          </p:nvPr>
        </p:nvSpPr>
        <p:spPr>
          <a:xfrm>
            <a:off x="1752601" y="152400"/>
            <a:ext cx="6781800" cy="1000508"/>
          </a:xfrm>
        </p:spPr>
        <p:txBody>
          <a:bodyPr/>
          <a:lstStyle/>
          <a:p>
            <a:r>
              <a:rPr lang="en-US" dirty="0"/>
              <a:t>Cont..</a:t>
            </a:r>
          </a:p>
        </p:txBody>
      </p:sp>
      <p:sp>
        <p:nvSpPr>
          <p:cNvPr id="3" name="Content Placeholder 2">
            <a:extLst>
              <a:ext uri="{FF2B5EF4-FFF2-40B4-BE49-F238E27FC236}">
                <a16:creationId xmlns:a16="http://schemas.microsoft.com/office/drawing/2014/main" id="{09B944FC-A6C9-E83F-2563-9FE4B5D434A2}"/>
              </a:ext>
            </a:extLst>
          </p:cNvPr>
          <p:cNvSpPr>
            <a:spLocks noGrp="1"/>
          </p:cNvSpPr>
          <p:nvPr>
            <p:ph idx="1"/>
          </p:nvPr>
        </p:nvSpPr>
        <p:spPr>
          <a:xfrm>
            <a:off x="1295401" y="1066800"/>
            <a:ext cx="7239000" cy="4844422"/>
          </a:xfrm>
        </p:spPr>
        <p:txBody>
          <a:bodyPr>
            <a:normAutofit/>
          </a:bodyPr>
          <a:lstStyle/>
          <a:p>
            <a:pPr marL="0" indent="0" algn="just">
              <a:buNone/>
            </a:pPr>
            <a:r>
              <a:rPr lang="en-US" sz="2800" b="1" i="0" dirty="0">
                <a:solidFill>
                  <a:srgbClr val="610B38"/>
                </a:solidFill>
                <a:effectLst/>
                <a:latin typeface="+mj-lt"/>
              </a:rPr>
              <a:t>Validate Number</a:t>
            </a:r>
          </a:p>
          <a:p>
            <a:pPr marL="0" indent="0" algn="just">
              <a:buNone/>
            </a:pPr>
            <a:r>
              <a:rPr lang="en-US" sz="2000" b="0" i="0" dirty="0">
                <a:solidFill>
                  <a:srgbClr val="333333"/>
                </a:solidFill>
                <a:effectLst/>
                <a:latin typeface="+mj-lt"/>
              </a:rPr>
              <a:t>The below code validates that the field will only contain a numeric value. </a:t>
            </a:r>
            <a:r>
              <a:rPr lang="en-US" sz="2000" b="1" i="0" dirty="0">
                <a:solidFill>
                  <a:srgbClr val="333333"/>
                </a:solidFill>
                <a:effectLst/>
                <a:latin typeface="+mj-lt"/>
              </a:rPr>
              <a:t>For example -</a:t>
            </a:r>
            <a:r>
              <a:rPr lang="en-US" sz="2000" b="0" i="0" dirty="0">
                <a:solidFill>
                  <a:srgbClr val="333333"/>
                </a:solidFill>
                <a:effectLst/>
                <a:latin typeface="+mj-lt"/>
              </a:rPr>
              <a:t> Mobile no. </a:t>
            </a:r>
          </a:p>
          <a:p>
            <a:pPr marL="0" indent="0" algn="just">
              <a:buNone/>
            </a:pPr>
            <a:r>
              <a:rPr lang="en-US" sz="2000" b="0" i="0" dirty="0">
                <a:solidFill>
                  <a:srgbClr val="000000"/>
                </a:solidFill>
                <a:effectLst/>
                <a:latin typeface="+mj-lt"/>
              </a:rPr>
              <a:t>$</a:t>
            </a:r>
            <a:r>
              <a:rPr lang="en-US" sz="2000" b="0" i="0" dirty="0" err="1">
                <a:solidFill>
                  <a:srgbClr val="000000"/>
                </a:solidFill>
                <a:effectLst/>
                <a:latin typeface="+mj-lt"/>
              </a:rPr>
              <a:t>mobileno</a:t>
            </a:r>
            <a:r>
              <a:rPr lang="en-US" sz="2000" b="0" i="0" dirty="0">
                <a:solidFill>
                  <a:srgbClr val="000000"/>
                </a:solidFill>
                <a:effectLst/>
                <a:latin typeface="+mj-lt"/>
              </a:rPr>
              <a:t> = $_POST [</a:t>
            </a:r>
            <a:r>
              <a:rPr lang="en-US" sz="2000" b="0" i="0" dirty="0">
                <a:solidFill>
                  <a:srgbClr val="0000FF"/>
                </a:solidFill>
                <a:effectLst/>
                <a:latin typeface="+mj-lt"/>
              </a:rPr>
              <a:t>"</a:t>
            </a:r>
            <a:r>
              <a:rPr lang="en-US" sz="2000" b="0" i="0" dirty="0" err="1">
                <a:solidFill>
                  <a:srgbClr val="0000FF"/>
                </a:solidFill>
                <a:effectLst/>
                <a:latin typeface="+mj-lt"/>
              </a:rPr>
              <a:t>Mobile_no</a:t>
            </a:r>
            <a:r>
              <a:rPr lang="en-US" sz="2000" b="0" i="0" dirty="0">
                <a:solidFill>
                  <a:srgbClr val="0000FF"/>
                </a:solidFill>
                <a:effectLst/>
                <a:latin typeface="+mj-lt"/>
              </a:rPr>
              <a:t>"</a:t>
            </a:r>
            <a:r>
              <a:rPr lang="en-US" sz="2000" b="0" i="0" dirty="0">
                <a:solidFill>
                  <a:srgbClr val="000000"/>
                </a:solidFill>
                <a:effectLst/>
                <a:latin typeface="+mj-lt"/>
              </a:rPr>
              <a:t>];  </a:t>
            </a:r>
          </a:p>
          <a:p>
            <a:pPr marL="0" indent="0" algn="just">
              <a:buNone/>
            </a:pPr>
            <a:r>
              <a:rPr lang="en-US" sz="2000" b="1" i="0" dirty="0">
                <a:solidFill>
                  <a:srgbClr val="006699"/>
                </a:solidFill>
                <a:effectLst/>
                <a:latin typeface="+mj-lt"/>
              </a:rPr>
              <a:t>if</a:t>
            </a:r>
            <a:r>
              <a:rPr lang="en-US" sz="2000" b="0" i="0" dirty="0">
                <a:solidFill>
                  <a:srgbClr val="000000"/>
                </a:solidFill>
                <a:effectLst/>
                <a:latin typeface="+mj-lt"/>
              </a:rPr>
              <a:t> (!</a:t>
            </a:r>
            <a:r>
              <a:rPr lang="en-US" sz="2000" b="0" i="0" dirty="0" err="1">
                <a:solidFill>
                  <a:srgbClr val="000000"/>
                </a:solidFill>
                <a:effectLst/>
                <a:latin typeface="+mj-lt"/>
              </a:rPr>
              <a:t>preg_match</a:t>
            </a:r>
            <a:r>
              <a:rPr lang="en-US" sz="2000" b="0" i="0" dirty="0">
                <a:solidFill>
                  <a:srgbClr val="000000"/>
                </a:solidFill>
                <a:effectLst/>
                <a:latin typeface="+mj-lt"/>
              </a:rPr>
              <a:t> (</a:t>
            </a:r>
            <a:r>
              <a:rPr lang="en-US" sz="2000" b="0" i="0" dirty="0">
                <a:solidFill>
                  <a:srgbClr val="0000FF"/>
                </a:solidFill>
                <a:effectLst/>
                <a:latin typeface="+mj-lt"/>
              </a:rPr>
              <a:t>"/^[0-9]*$/"</a:t>
            </a:r>
            <a:r>
              <a:rPr lang="en-US" sz="2000" b="0" i="0" dirty="0">
                <a:solidFill>
                  <a:srgbClr val="000000"/>
                </a:solidFill>
                <a:effectLst/>
                <a:latin typeface="+mj-lt"/>
              </a:rPr>
              <a:t>, $</a:t>
            </a:r>
            <a:r>
              <a:rPr lang="en-US" sz="2000" b="0" i="0" dirty="0" err="1">
                <a:solidFill>
                  <a:srgbClr val="000000"/>
                </a:solidFill>
                <a:effectLst/>
                <a:latin typeface="+mj-lt"/>
              </a:rPr>
              <a:t>mobileno</a:t>
            </a:r>
            <a:r>
              <a:rPr lang="en-US" sz="2000" b="0" i="0" dirty="0">
                <a:solidFill>
                  <a:srgbClr val="000000"/>
                </a:solidFill>
                <a:effectLst/>
                <a:latin typeface="+mj-lt"/>
              </a:rPr>
              <a:t>) ){  </a:t>
            </a:r>
          </a:p>
          <a:p>
            <a:pPr marL="0" indent="0" algn="just">
              <a:buNone/>
            </a:pPr>
            <a:r>
              <a:rPr lang="en-US" sz="2000" b="0" i="0" dirty="0">
                <a:solidFill>
                  <a:srgbClr val="000000"/>
                </a:solidFill>
                <a:effectLst/>
                <a:latin typeface="+mj-lt"/>
              </a:rPr>
              <a:t>    $</a:t>
            </a:r>
            <a:r>
              <a:rPr lang="en-US" sz="2000" b="0" i="0" dirty="0" err="1">
                <a:solidFill>
                  <a:srgbClr val="000000"/>
                </a:solidFill>
                <a:effectLst/>
                <a:latin typeface="+mj-lt"/>
              </a:rPr>
              <a:t>ErrMsg</a:t>
            </a:r>
            <a:r>
              <a:rPr lang="en-US" sz="2000" b="0" i="0" dirty="0">
                <a:solidFill>
                  <a:srgbClr val="000000"/>
                </a:solidFill>
                <a:effectLst/>
                <a:latin typeface="+mj-lt"/>
              </a:rPr>
              <a:t> = </a:t>
            </a:r>
            <a:r>
              <a:rPr lang="en-US" sz="2000" b="0" i="0" dirty="0">
                <a:solidFill>
                  <a:srgbClr val="0000FF"/>
                </a:solidFill>
                <a:effectLst/>
                <a:latin typeface="+mj-lt"/>
              </a:rPr>
              <a:t>"Only numeric value is allowed."</a:t>
            </a:r>
            <a:r>
              <a:rPr lang="en-US" sz="2000" b="0" i="0" dirty="0">
                <a:solidFill>
                  <a:srgbClr val="000000"/>
                </a:solidFill>
                <a:effectLst/>
                <a:latin typeface="+mj-lt"/>
              </a:rPr>
              <a:t>;  </a:t>
            </a:r>
          </a:p>
          <a:p>
            <a:pPr marL="0" indent="0" algn="just">
              <a:buNone/>
            </a:pPr>
            <a:r>
              <a:rPr lang="en-US" sz="2000" b="0" i="0" dirty="0">
                <a:solidFill>
                  <a:srgbClr val="000000"/>
                </a:solidFill>
                <a:effectLst/>
                <a:latin typeface="+mj-lt"/>
              </a:rPr>
              <a:t>    echo $</a:t>
            </a:r>
            <a:r>
              <a:rPr lang="en-US" sz="2000" b="0" i="0" dirty="0" err="1">
                <a:solidFill>
                  <a:srgbClr val="000000"/>
                </a:solidFill>
                <a:effectLst/>
                <a:latin typeface="+mj-lt"/>
              </a:rPr>
              <a:t>ErrMsg</a:t>
            </a:r>
            <a:r>
              <a:rPr lang="en-US" sz="2000" b="0" i="0" dirty="0">
                <a:solidFill>
                  <a:srgbClr val="000000"/>
                </a:solidFill>
                <a:effectLst/>
                <a:latin typeface="+mj-lt"/>
              </a:rPr>
              <a:t>;  </a:t>
            </a:r>
          </a:p>
          <a:p>
            <a:pPr marL="0" indent="0" algn="just">
              <a:buNone/>
            </a:pPr>
            <a:r>
              <a:rPr lang="en-US" sz="2000" b="0" i="0" dirty="0">
                <a:solidFill>
                  <a:srgbClr val="000000"/>
                </a:solidFill>
                <a:effectLst/>
                <a:latin typeface="+mj-lt"/>
              </a:rPr>
              <a:t>} </a:t>
            </a:r>
            <a:r>
              <a:rPr lang="en-US" sz="2000" b="1" i="0" dirty="0">
                <a:solidFill>
                  <a:srgbClr val="006699"/>
                </a:solidFill>
                <a:effectLst/>
                <a:latin typeface="+mj-lt"/>
              </a:rPr>
              <a:t>else</a:t>
            </a:r>
            <a:r>
              <a:rPr lang="en-US" sz="2000" b="0" i="0" dirty="0">
                <a:solidFill>
                  <a:srgbClr val="000000"/>
                </a:solidFill>
                <a:effectLst/>
                <a:latin typeface="+mj-lt"/>
              </a:rPr>
              <a:t> {  </a:t>
            </a:r>
          </a:p>
          <a:p>
            <a:pPr marL="0" indent="0" algn="just">
              <a:buNone/>
            </a:pPr>
            <a:r>
              <a:rPr lang="en-US" sz="2000" b="0" i="0" dirty="0">
                <a:solidFill>
                  <a:srgbClr val="000000"/>
                </a:solidFill>
                <a:effectLst/>
                <a:latin typeface="+mj-lt"/>
              </a:rPr>
              <a:t>    echo $</a:t>
            </a:r>
            <a:r>
              <a:rPr lang="en-US" sz="2000" b="0" i="0" dirty="0" err="1">
                <a:solidFill>
                  <a:srgbClr val="000000"/>
                </a:solidFill>
                <a:effectLst/>
                <a:latin typeface="+mj-lt"/>
              </a:rPr>
              <a:t>mobileno</a:t>
            </a:r>
            <a:r>
              <a:rPr lang="en-US" sz="2000" b="0" i="0" dirty="0">
                <a:solidFill>
                  <a:srgbClr val="000000"/>
                </a:solidFill>
                <a:effectLst/>
                <a:latin typeface="+mj-lt"/>
              </a:rPr>
              <a:t>;  </a:t>
            </a:r>
          </a:p>
          <a:p>
            <a:pPr marL="0" indent="0" algn="just">
              <a:buNone/>
            </a:pPr>
            <a:r>
              <a:rPr lang="en-US" sz="2000" b="0" i="0" dirty="0">
                <a:solidFill>
                  <a:srgbClr val="000000"/>
                </a:solidFill>
                <a:effectLst/>
                <a:latin typeface="+mj-lt"/>
              </a:rPr>
              <a:t>}  </a:t>
            </a:r>
          </a:p>
          <a:p>
            <a:pPr marL="0" indent="0">
              <a:buNone/>
            </a:pPr>
            <a:endParaRPr lang="en-US" dirty="0"/>
          </a:p>
        </p:txBody>
      </p:sp>
      <p:sp>
        <p:nvSpPr>
          <p:cNvPr id="4" name="Date Placeholder 3">
            <a:extLst>
              <a:ext uri="{FF2B5EF4-FFF2-40B4-BE49-F238E27FC236}">
                <a16:creationId xmlns:a16="http://schemas.microsoft.com/office/drawing/2014/main" id="{04A02F8B-C69E-2368-921A-446431B1D72A}"/>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1C18729A-59D9-56CD-5B8D-7CFC81D3F053}"/>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71820BDE-5F43-DB46-4CEB-2F25B1CE4FE0}"/>
              </a:ext>
            </a:extLst>
          </p:cNvPr>
          <p:cNvSpPr>
            <a:spLocks noGrp="1"/>
          </p:cNvSpPr>
          <p:nvPr>
            <p:ph type="sldNum" sz="quarter" idx="12"/>
          </p:nvPr>
        </p:nvSpPr>
        <p:spPr/>
        <p:txBody>
          <a:bodyPr/>
          <a:lstStyle/>
          <a:p>
            <a:fld id="{DD4953B1-23D1-427D-BAAF-F6F31382E945}" type="slidenum">
              <a:rPr lang="en-US" smtClean="0"/>
              <a:t>59</a:t>
            </a:fld>
            <a:endParaRPr lang="en-US"/>
          </a:p>
        </p:txBody>
      </p:sp>
    </p:spTree>
    <p:extLst>
      <p:ext uri="{BB962C8B-B14F-4D97-AF65-F5344CB8AC3E}">
        <p14:creationId xmlns:p14="http://schemas.microsoft.com/office/powerpoint/2010/main" val="2933556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9E131-1005-56F1-5054-D87E3B89ED54}"/>
              </a:ext>
            </a:extLst>
          </p:cNvPr>
          <p:cNvSpPr>
            <a:spLocks noGrp="1"/>
          </p:cNvSpPr>
          <p:nvPr>
            <p:ph type="title"/>
          </p:nvPr>
        </p:nvSpPr>
        <p:spPr>
          <a:xfrm>
            <a:off x="1752600" y="0"/>
            <a:ext cx="6781801" cy="1295400"/>
          </a:xfrm>
        </p:spPr>
        <p:txBody>
          <a:bodyPr/>
          <a:lstStyle/>
          <a:p>
            <a:r>
              <a:rPr lang="en-US" dirty="0"/>
              <a:t>Cont..</a:t>
            </a:r>
          </a:p>
        </p:txBody>
      </p:sp>
      <p:sp>
        <p:nvSpPr>
          <p:cNvPr id="3" name="Content Placeholder 2">
            <a:extLst>
              <a:ext uri="{FF2B5EF4-FFF2-40B4-BE49-F238E27FC236}">
                <a16:creationId xmlns:a16="http://schemas.microsoft.com/office/drawing/2014/main" id="{2541B473-8DF8-9E72-A789-4614A51A3353}"/>
              </a:ext>
            </a:extLst>
          </p:cNvPr>
          <p:cNvSpPr>
            <a:spLocks noGrp="1"/>
          </p:cNvSpPr>
          <p:nvPr>
            <p:ph idx="1"/>
          </p:nvPr>
        </p:nvSpPr>
        <p:spPr>
          <a:xfrm>
            <a:off x="1317572" y="970345"/>
            <a:ext cx="7445428" cy="5164744"/>
          </a:xfrm>
        </p:spPr>
        <p:txBody>
          <a:bodyPr>
            <a:normAutofit/>
          </a:bodyPr>
          <a:lstStyle/>
          <a:p>
            <a:pPr marL="0" indent="0" algn="just">
              <a:buNone/>
            </a:pPr>
            <a:r>
              <a:rPr lang="en-US" sz="2400" b="1" i="0" dirty="0">
                <a:solidFill>
                  <a:srgbClr val="610B38"/>
                </a:solidFill>
                <a:effectLst/>
                <a:latin typeface="+mj-lt"/>
              </a:rPr>
              <a:t>Validate Email</a:t>
            </a:r>
          </a:p>
          <a:p>
            <a:pPr marL="0" indent="0" algn="just">
              <a:buNone/>
            </a:pPr>
            <a:r>
              <a:rPr lang="en-US" b="0" i="0" dirty="0">
                <a:solidFill>
                  <a:srgbClr val="333333"/>
                </a:solidFill>
                <a:effectLst/>
                <a:latin typeface="+mj-lt"/>
              </a:rPr>
              <a:t>A valid email must contain </a:t>
            </a:r>
            <a:r>
              <a:rPr lang="en-US" b="1" i="0" dirty="0">
                <a:solidFill>
                  <a:srgbClr val="FF0000"/>
                </a:solidFill>
                <a:effectLst/>
                <a:latin typeface="+mj-lt"/>
              </a:rPr>
              <a:t>@</a:t>
            </a:r>
            <a:r>
              <a:rPr lang="en-US" b="0" i="0" dirty="0">
                <a:solidFill>
                  <a:srgbClr val="333333"/>
                </a:solidFill>
                <a:effectLst/>
                <a:latin typeface="+mj-lt"/>
              </a:rPr>
              <a:t> and </a:t>
            </a:r>
            <a:r>
              <a:rPr lang="en-US" b="1" i="0" dirty="0">
                <a:solidFill>
                  <a:srgbClr val="FF0000"/>
                </a:solidFill>
                <a:effectLst/>
                <a:latin typeface="+mj-lt"/>
              </a:rPr>
              <a:t>.</a:t>
            </a:r>
            <a:r>
              <a:rPr lang="en-US" b="0" i="0" dirty="0">
                <a:solidFill>
                  <a:srgbClr val="333333"/>
                </a:solidFill>
                <a:effectLst/>
                <a:latin typeface="+mj-lt"/>
              </a:rPr>
              <a:t> symbols. PHP provides various methods to validate the email address. Here, we will use regular expressions to validate the email address.</a:t>
            </a:r>
          </a:p>
          <a:p>
            <a:pPr marL="0" indent="0" algn="just">
              <a:buNone/>
            </a:pPr>
            <a:r>
              <a:rPr lang="en-US" b="0" i="0" dirty="0">
                <a:solidFill>
                  <a:srgbClr val="000000"/>
                </a:solidFill>
                <a:effectLst/>
                <a:latin typeface="+mj-lt"/>
              </a:rPr>
              <a:t>$email = $_POST [</a:t>
            </a:r>
            <a:r>
              <a:rPr lang="en-US" b="0" i="0" dirty="0">
                <a:solidFill>
                  <a:srgbClr val="0000FF"/>
                </a:solidFill>
                <a:effectLst/>
                <a:latin typeface="+mj-lt"/>
              </a:rPr>
              <a:t>"Email"</a:t>
            </a:r>
            <a:r>
              <a:rPr lang="en-US" b="0" i="0" dirty="0">
                <a:solidFill>
                  <a:srgbClr val="000000"/>
                </a:solidFill>
                <a:effectLst/>
                <a:latin typeface="+mj-lt"/>
              </a:rPr>
              <a:t>];  </a:t>
            </a:r>
          </a:p>
          <a:p>
            <a:pPr marL="0" indent="0" algn="just">
              <a:buNone/>
            </a:pPr>
            <a:r>
              <a:rPr lang="en-US" b="0" i="0" dirty="0">
                <a:solidFill>
                  <a:srgbClr val="000000"/>
                </a:solidFill>
                <a:effectLst/>
                <a:latin typeface="+mj-lt"/>
              </a:rPr>
              <a:t>$pattern=</a:t>
            </a:r>
            <a:r>
              <a:rPr lang="en-US" b="0" i="0" dirty="0">
                <a:solidFill>
                  <a:srgbClr val="0000FF"/>
                </a:solidFill>
                <a:effectLst/>
                <a:latin typeface="+mj-lt"/>
              </a:rPr>
              <a:t>"^[_a-z0-9-]+(\.[_a-z0-9-]+)*@[a-z0-9-]+(\.[a-z0-9-]+)*(\.[a-z]{2,3})$^"</a:t>
            </a:r>
            <a:r>
              <a:rPr lang="en-US" b="0" i="0" dirty="0">
                <a:solidFill>
                  <a:srgbClr val="000000"/>
                </a:solidFill>
                <a:effectLst/>
                <a:latin typeface="+mj-lt"/>
              </a:rPr>
              <a:t>;  </a:t>
            </a:r>
          </a:p>
          <a:p>
            <a:pPr marL="0" indent="0" algn="just">
              <a:buNone/>
            </a:pPr>
            <a:r>
              <a:rPr lang="en-US" b="1" i="0" dirty="0">
                <a:solidFill>
                  <a:srgbClr val="006699"/>
                </a:solidFill>
                <a:effectLst/>
                <a:latin typeface="+mj-lt"/>
              </a:rPr>
              <a:t>if</a:t>
            </a:r>
            <a:r>
              <a:rPr lang="en-US" b="0" i="0" dirty="0">
                <a:solidFill>
                  <a:srgbClr val="000000"/>
                </a:solidFill>
                <a:effectLst/>
                <a:latin typeface="+mj-lt"/>
              </a:rPr>
              <a:t> (!</a:t>
            </a:r>
            <a:r>
              <a:rPr lang="en-US" b="0" i="0" dirty="0" err="1">
                <a:solidFill>
                  <a:srgbClr val="000000"/>
                </a:solidFill>
                <a:effectLst/>
                <a:latin typeface="+mj-lt"/>
              </a:rPr>
              <a:t>preg_match</a:t>
            </a:r>
            <a:r>
              <a:rPr lang="en-US" b="0" i="0" dirty="0">
                <a:solidFill>
                  <a:srgbClr val="000000"/>
                </a:solidFill>
                <a:effectLst/>
                <a:latin typeface="+mj-lt"/>
              </a:rPr>
              <a:t> ($pattern, $email) ){  </a:t>
            </a:r>
          </a:p>
          <a:p>
            <a:pPr marL="0" indent="0" algn="just">
              <a:buNone/>
            </a:pPr>
            <a:r>
              <a:rPr lang="en-US" b="0" i="0" dirty="0">
                <a:solidFill>
                  <a:srgbClr val="000000"/>
                </a:solidFill>
                <a:effectLst/>
                <a:latin typeface="+mj-lt"/>
              </a:rPr>
              <a:t>    $</a:t>
            </a:r>
            <a:r>
              <a:rPr lang="en-US" b="0" i="0" dirty="0" err="1">
                <a:solidFill>
                  <a:srgbClr val="000000"/>
                </a:solidFill>
                <a:effectLst/>
                <a:latin typeface="+mj-lt"/>
              </a:rPr>
              <a:t>ErrMsg</a:t>
            </a:r>
            <a:r>
              <a:rPr lang="en-US" b="0" i="0" dirty="0">
                <a:solidFill>
                  <a:srgbClr val="000000"/>
                </a:solidFill>
                <a:effectLst/>
                <a:latin typeface="+mj-lt"/>
              </a:rPr>
              <a:t> = </a:t>
            </a:r>
            <a:r>
              <a:rPr lang="en-US" b="0" i="0" dirty="0">
                <a:solidFill>
                  <a:srgbClr val="0000FF"/>
                </a:solidFill>
                <a:effectLst/>
                <a:latin typeface="+mj-lt"/>
              </a:rPr>
              <a:t>"Email is not valid."</a:t>
            </a:r>
            <a:r>
              <a:rPr lang="en-US" b="0" i="0" dirty="0">
                <a:solidFill>
                  <a:srgbClr val="000000"/>
                </a:solidFill>
                <a:effectLst/>
                <a:latin typeface="+mj-lt"/>
              </a:rPr>
              <a:t>;  </a:t>
            </a:r>
          </a:p>
          <a:p>
            <a:pPr marL="0" indent="0" algn="just">
              <a:buNone/>
            </a:pPr>
            <a:r>
              <a:rPr lang="en-US" b="0" i="0" dirty="0">
                <a:solidFill>
                  <a:srgbClr val="000000"/>
                </a:solidFill>
                <a:effectLst/>
                <a:latin typeface="+mj-lt"/>
              </a:rPr>
              <a:t>            echo $</a:t>
            </a:r>
            <a:r>
              <a:rPr lang="en-US" b="0" i="0" dirty="0" err="1">
                <a:solidFill>
                  <a:srgbClr val="000000"/>
                </a:solidFill>
                <a:effectLst/>
                <a:latin typeface="+mj-lt"/>
              </a:rPr>
              <a:t>ErrMsg</a:t>
            </a:r>
            <a:r>
              <a:rPr lang="en-US" b="0" i="0" dirty="0">
                <a:solidFill>
                  <a:srgbClr val="000000"/>
                </a:solidFill>
                <a:effectLst/>
                <a:latin typeface="+mj-lt"/>
              </a:rPr>
              <a:t>;  </a:t>
            </a:r>
          </a:p>
          <a:p>
            <a:pPr marL="0" indent="0" algn="just">
              <a:buNone/>
            </a:pPr>
            <a:r>
              <a:rPr lang="en-US" b="0" i="0" dirty="0">
                <a:solidFill>
                  <a:srgbClr val="000000"/>
                </a:solidFill>
                <a:effectLst/>
                <a:latin typeface="+mj-lt"/>
              </a:rPr>
              <a:t>} </a:t>
            </a:r>
            <a:r>
              <a:rPr lang="en-US" b="1" i="0" dirty="0">
                <a:solidFill>
                  <a:srgbClr val="006699"/>
                </a:solidFill>
                <a:effectLst/>
                <a:latin typeface="+mj-lt"/>
              </a:rPr>
              <a:t>else</a:t>
            </a:r>
            <a:r>
              <a:rPr lang="en-US" b="0" i="0" dirty="0">
                <a:solidFill>
                  <a:srgbClr val="000000"/>
                </a:solidFill>
                <a:effectLst/>
                <a:latin typeface="+mj-lt"/>
              </a:rPr>
              <a:t> {  </a:t>
            </a:r>
          </a:p>
          <a:p>
            <a:pPr marL="0" indent="0" algn="just">
              <a:buNone/>
            </a:pPr>
            <a:r>
              <a:rPr lang="en-US" b="0" i="0" dirty="0">
                <a:solidFill>
                  <a:srgbClr val="000000"/>
                </a:solidFill>
                <a:effectLst/>
                <a:latin typeface="+mj-lt"/>
              </a:rPr>
              <a:t>    echo </a:t>
            </a:r>
            <a:r>
              <a:rPr lang="en-US" b="0" i="0" dirty="0">
                <a:solidFill>
                  <a:srgbClr val="0000FF"/>
                </a:solidFill>
                <a:effectLst/>
                <a:latin typeface="+mj-lt"/>
              </a:rPr>
              <a:t>"Your valid email address is: "</a:t>
            </a:r>
            <a:r>
              <a:rPr lang="en-US" b="0" i="0" dirty="0">
                <a:solidFill>
                  <a:srgbClr val="000000"/>
                </a:solidFill>
                <a:effectLst/>
                <a:latin typeface="+mj-lt"/>
              </a:rPr>
              <a:t> .$email;  </a:t>
            </a:r>
          </a:p>
          <a:p>
            <a:pPr marL="0" indent="0" algn="just">
              <a:buNone/>
            </a:pPr>
            <a:r>
              <a:rPr lang="en-US" b="0" i="0" dirty="0">
                <a:solidFill>
                  <a:srgbClr val="000000"/>
                </a:solidFill>
                <a:effectLst/>
                <a:latin typeface="+mj-lt"/>
              </a:rPr>
              <a:t>}  </a:t>
            </a:r>
          </a:p>
          <a:p>
            <a:endParaRPr lang="en-US" dirty="0"/>
          </a:p>
        </p:txBody>
      </p:sp>
      <p:sp>
        <p:nvSpPr>
          <p:cNvPr id="4" name="Date Placeholder 3">
            <a:extLst>
              <a:ext uri="{FF2B5EF4-FFF2-40B4-BE49-F238E27FC236}">
                <a16:creationId xmlns:a16="http://schemas.microsoft.com/office/drawing/2014/main" id="{4B86F036-8F24-F8FB-58C5-75ED358964C5}"/>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4BE61A92-C898-8A09-1863-96A6B68E89E0}"/>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70B0F92C-830E-B2B6-3EB0-03174B975570}"/>
              </a:ext>
            </a:extLst>
          </p:cNvPr>
          <p:cNvSpPr>
            <a:spLocks noGrp="1"/>
          </p:cNvSpPr>
          <p:nvPr>
            <p:ph type="sldNum" sz="quarter" idx="12"/>
          </p:nvPr>
        </p:nvSpPr>
        <p:spPr/>
        <p:txBody>
          <a:bodyPr/>
          <a:lstStyle/>
          <a:p>
            <a:fld id="{DD4953B1-23D1-427D-BAAF-F6F31382E945}" type="slidenum">
              <a:rPr lang="en-US" smtClean="0"/>
              <a:t>60</a:t>
            </a:fld>
            <a:endParaRPr lang="en-US"/>
          </a:p>
        </p:txBody>
      </p:sp>
    </p:spTree>
    <p:extLst>
      <p:ext uri="{BB962C8B-B14F-4D97-AF65-F5344CB8AC3E}">
        <p14:creationId xmlns:p14="http://schemas.microsoft.com/office/powerpoint/2010/main" val="24456903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B03F-FED7-DB1E-96B0-6C413A6AC99F}"/>
              </a:ext>
            </a:extLst>
          </p:cNvPr>
          <p:cNvSpPr>
            <a:spLocks noGrp="1"/>
          </p:cNvSpPr>
          <p:nvPr>
            <p:ph type="title"/>
          </p:nvPr>
        </p:nvSpPr>
        <p:spPr>
          <a:xfrm>
            <a:off x="1752600" y="152400"/>
            <a:ext cx="6781801" cy="635383"/>
          </a:xfrm>
        </p:spPr>
        <p:txBody>
          <a:bodyPr>
            <a:normAutofit fontScale="90000"/>
          </a:bodyPr>
          <a:lstStyle/>
          <a:p>
            <a:r>
              <a:rPr lang="en-US" dirty="0" err="1"/>
              <a:t>Cont</a:t>
            </a:r>
            <a:r>
              <a:rPr lang="en-US" dirty="0"/>
              <a:t>…</a:t>
            </a:r>
          </a:p>
        </p:txBody>
      </p:sp>
      <p:sp>
        <p:nvSpPr>
          <p:cNvPr id="3" name="Content Placeholder 2">
            <a:extLst>
              <a:ext uri="{FF2B5EF4-FFF2-40B4-BE49-F238E27FC236}">
                <a16:creationId xmlns:a16="http://schemas.microsoft.com/office/drawing/2014/main" id="{140F8890-91BB-417D-8235-DC7EDE0BE5A7}"/>
              </a:ext>
            </a:extLst>
          </p:cNvPr>
          <p:cNvSpPr>
            <a:spLocks noGrp="1"/>
          </p:cNvSpPr>
          <p:nvPr>
            <p:ph idx="1"/>
          </p:nvPr>
        </p:nvSpPr>
        <p:spPr>
          <a:xfrm>
            <a:off x="1942415" y="787783"/>
            <a:ext cx="6690356" cy="5123439"/>
          </a:xfrm>
        </p:spPr>
        <p:txBody>
          <a:bodyPr>
            <a:normAutofit fontScale="25000" lnSpcReduction="20000"/>
          </a:bodyPr>
          <a:lstStyle/>
          <a:p>
            <a:pPr marL="0" indent="0" algn="just">
              <a:lnSpc>
                <a:spcPct val="170000"/>
              </a:lnSpc>
              <a:buNone/>
            </a:pPr>
            <a:r>
              <a:rPr lang="en-US" sz="8000" b="1" i="0" dirty="0">
                <a:solidFill>
                  <a:srgbClr val="610B38"/>
                </a:solidFill>
                <a:effectLst/>
                <a:latin typeface="+mj-lt"/>
              </a:rPr>
              <a:t>Input Length Validation</a:t>
            </a:r>
          </a:p>
          <a:p>
            <a:pPr marL="0" indent="0" algn="just">
              <a:lnSpc>
                <a:spcPct val="170000"/>
              </a:lnSpc>
              <a:buNone/>
            </a:pPr>
            <a:r>
              <a:rPr lang="en-US" sz="4800" b="0" i="0" dirty="0">
                <a:solidFill>
                  <a:srgbClr val="333333"/>
                </a:solidFill>
                <a:effectLst/>
                <a:latin typeface="+mj-lt"/>
              </a:rPr>
              <a:t>The input length validation restricts the user to provide the value between the specified range, for Example - Mobile Number. A valid mobile number must have 10 digits.</a:t>
            </a:r>
          </a:p>
          <a:p>
            <a:pPr marL="0" indent="0" algn="just">
              <a:lnSpc>
                <a:spcPct val="170000"/>
              </a:lnSpc>
              <a:buNone/>
            </a:pPr>
            <a:r>
              <a:rPr lang="en-US" sz="4800" b="1" i="0" dirty="0">
                <a:solidFill>
                  <a:srgbClr val="000000"/>
                </a:solidFill>
                <a:effectLst/>
                <a:latin typeface="+mj-lt"/>
              </a:rPr>
              <a:t>$</a:t>
            </a:r>
            <a:r>
              <a:rPr lang="en-US" sz="4800" b="1" i="0" dirty="0" err="1">
                <a:solidFill>
                  <a:srgbClr val="000000"/>
                </a:solidFill>
                <a:effectLst/>
                <a:latin typeface="+mj-lt"/>
              </a:rPr>
              <a:t>mobileno</a:t>
            </a:r>
            <a:r>
              <a:rPr lang="en-US" sz="4800" b="1" i="0" dirty="0">
                <a:solidFill>
                  <a:srgbClr val="000000"/>
                </a:solidFill>
                <a:effectLst/>
                <a:latin typeface="+mj-lt"/>
              </a:rPr>
              <a:t> = </a:t>
            </a:r>
            <a:r>
              <a:rPr lang="en-US" sz="4800" b="1" i="0" dirty="0" err="1">
                <a:solidFill>
                  <a:srgbClr val="000000"/>
                </a:solidFill>
                <a:effectLst/>
                <a:latin typeface="+mj-lt"/>
              </a:rPr>
              <a:t>strlen</a:t>
            </a:r>
            <a:r>
              <a:rPr lang="en-US" sz="4800" b="1" i="0" dirty="0">
                <a:solidFill>
                  <a:srgbClr val="000000"/>
                </a:solidFill>
                <a:effectLst/>
                <a:latin typeface="+mj-lt"/>
              </a:rPr>
              <a:t> ($_POST [</a:t>
            </a:r>
            <a:r>
              <a:rPr lang="en-US" sz="4800" b="1" i="0" dirty="0">
                <a:solidFill>
                  <a:srgbClr val="0000FF"/>
                </a:solidFill>
                <a:effectLst/>
                <a:latin typeface="+mj-lt"/>
              </a:rPr>
              <a:t>"Mobile"</a:t>
            </a:r>
            <a:r>
              <a:rPr lang="en-US" sz="4800" b="1" i="0" dirty="0">
                <a:solidFill>
                  <a:srgbClr val="000000"/>
                </a:solidFill>
                <a:effectLst/>
                <a:latin typeface="+mj-lt"/>
              </a:rPr>
              <a:t>]);  </a:t>
            </a:r>
          </a:p>
          <a:p>
            <a:pPr marL="0" indent="0" algn="just">
              <a:lnSpc>
                <a:spcPct val="170000"/>
              </a:lnSpc>
              <a:buNone/>
            </a:pPr>
            <a:r>
              <a:rPr lang="en-US" sz="4800" b="1" i="0" dirty="0">
                <a:solidFill>
                  <a:srgbClr val="000000"/>
                </a:solidFill>
                <a:effectLst/>
                <a:latin typeface="+mj-lt"/>
              </a:rPr>
              <a:t>$length = </a:t>
            </a:r>
            <a:r>
              <a:rPr lang="en-US" sz="4800" b="1" i="0" dirty="0" err="1">
                <a:solidFill>
                  <a:srgbClr val="000000"/>
                </a:solidFill>
                <a:effectLst/>
                <a:latin typeface="+mj-lt"/>
              </a:rPr>
              <a:t>strlen</a:t>
            </a:r>
            <a:r>
              <a:rPr lang="en-US" sz="4800" b="1" i="0" dirty="0">
                <a:solidFill>
                  <a:srgbClr val="000000"/>
                </a:solidFill>
                <a:effectLst/>
                <a:latin typeface="+mj-lt"/>
              </a:rPr>
              <a:t> ($</a:t>
            </a:r>
            <a:r>
              <a:rPr lang="en-US" sz="4800" b="1" i="0" dirty="0" err="1">
                <a:solidFill>
                  <a:srgbClr val="000000"/>
                </a:solidFill>
                <a:effectLst/>
                <a:latin typeface="+mj-lt"/>
              </a:rPr>
              <a:t>mobileno</a:t>
            </a:r>
            <a:r>
              <a:rPr lang="en-US" sz="4800" b="1" i="0" dirty="0">
                <a:solidFill>
                  <a:srgbClr val="000000"/>
                </a:solidFill>
                <a:effectLst/>
                <a:latin typeface="+mj-lt"/>
              </a:rPr>
              <a:t>);  </a:t>
            </a:r>
          </a:p>
          <a:p>
            <a:pPr marL="0" indent="0" algn="just">
              <a:lnSpc>
                <a:spcPct val="170000"/>
              </a:lnSpc>
              <a:buNone/>
            </a:pPr>
            <a:r>
              <a:rPr lang="en-US" sz="4800" b="1" i="0" dirty="0">
                <a:solidFill>
                  <a:srgbClr val="006699"/>
                </a:solidFill>
                <a:effectLst/>
                <a:latin typeface="+mj-lt"/>
              </a:rPr>
              <a:t>if</a:t>
            </a:r>
            <a:r>
              <a:rPr lang="en-US" sz="4800" b="1" i="0" dirty="0">
                <a:solidFill>
                  <a:srgbClr val="000000"/>
                </a:solidFill>
                <a:effectLst/>
                <a:latin typeface="+mj-lt"/>
              </a:rPr>
              <a:t> ( $length &lt; 10 &amp;&amp; $length &gt; 10) {  </a:t>
            </a:r>
          </a:p>
          <a:p>
            <a:pPr marL="0" indent="0" algn="just">
              <a:lnSpc>
                <a:spcPct val="170000"/>
              </a:lnSpc>
              <a:buNone/>
            </a:pPr>
            <a:r>
              <a:rPr lang="en-US" sz="4800" b="1" i="0" dirty="0">
                <a:solidFill>
                  <a:srgbClr val="000000"/>
                </a:solidFill>
                <a:effectLst/>
                <a:latin typeface="+mj-lt"/>
              </a:rPr>
              <a:t>    $</a:t>
            </a:r>
            <a:r>
              <a:rPr lang="en-US" sz="4800" b="1" i="0" dirty="0" err="1">
                <a:solidFill>
                  <a:srgbClr val="000000"/>
                </a:solidFill>
                <a:effectLst/>
                <a:latin typeface="+mj-lt"/>
              </a:rPr>
              <a:t>ErrMsg</a:t>
            </a:r>
            <a:r>
              <a:rPr lang="en-US" sz="4800" b="1" i="0" dirty="0">
                <a:solidFill>
                  <a:srgbClr val="000000"/>
                </a:solidFill>
                <a:effectLst/>
                <a:latin typeface="+mj-lt"/>
              </a:rPr>
              <a:t> = </a:t>
            </a:r>
            <a:r>
              <a:rPr lang="en-US" sz="4800" b="1" i="0" dirty="0">
                <a:solidFill>
                  <a:srgbClr val="0000FF"/>
                </a:solidFill>
                <a:effectLst/>
                <a:latin typeface="+mj-lt"/>
              </a:rPr>
              <a:t>"Mobile must have 10 digits."</a:t>
            </a:r>
            <a:r>
              <a:rPr lang="en-US" sz="4800" b="1" i="0" dirty="0">
                <a:solidFill>
                  <a:srgbClr val="000000"/>
                </a:solidFill>
                <a:effectLst/>
                <a:latin typeface="+mj-lt"/>
              </a:rPr>
              <a:t>;  </a:t>
            </a:r>
          </a:p>
          <a:p>
            <a:pPr marL="0" indent="0" algn="just">
              <a:lnSpc>
                <a:spcPct val="170000"/>
              </a:lnSpc>
              <a:buNone/>
            </a:pPr>
            <a:r>
              <a:rPr lang="en-US" sz="4800" b="1" i="0" dirty="0">
                <a:solidFill>
                  <a:srgbClr val="000000"/>
                </a:solidFill>
                <a:effectLst/>
                <a:latin typeface="+mj-lt"/>
              </a:rPr>
              <a:t>            echo $</a:t>
            </a:r>
            <a:r>
              <a:rPr lang="en-US" sz="4800" b="1" i="0" dirty="0" err="1">
                <a:solidFill>
                  <a:srgbClr val="000000"/>
                </a:solidFill>
                <a:effectLst/>
                <a:latin typeface="+mj-lt"/>
              </a:rPr>
              <a:t>ErrMsg</a:t>
            </a:r>
            <a:r>
              <a:rPr lang="en-US" sz="4800" b="1" i="0" dirty="0">
                <a:solidFill>
                  <a:srgbClr val="000000"/>
                </a:solidFill>
                <a:effectLst/>
                <a:latin typeface="+mj-lt"/>
              </a:rPr>
              <a:t>;  </a:t>
            </a:r>
          </a:p>
          <a:p>
            <a:pPr marL="0" indent="0" algn="just">
              <a:lnSpc>
                <a:spcPct val="170000"/>
              </a:lnSpc>
              <a:buNone/>
            </a:pPr>
            <a:r>
              <a:rPr lang="en-US" sz="4800" b="1" i="0" dirty="0">
                <a:solidFill>
                  <a:srgbClr val="000000"/>
                </a:solidFill>
                <a:effectLst/>
                <a:latin typeface="+mj-lt"/>
              </a:rPr>
              <a:t>} </a:t>
            </a:r>
            <a:r>
              <a:rPr lang="en-US" sz="4800" b="1" i="0" dirty="0">
                <a:solidFill>
                  <a:srgbClr val="006699"/>
                </a:solidFill>
                <a:effectLst/>
                <a:latin typeface="+mj-lt"/>
              </a:rPr>
              <a:t>else</a:t>
            </a:r>
            <a:r>
              <a:rPr lang="en-US" sz="4800" b="1" i="0" dirty="0">
                <a:solidFill>
                  <a:srgbClr val="000000"/>
                </a:solidFill>
                <a:effectLst/>
                <a:latin typeface="+mj-lt"/>
              </a:rPr>
              <a:t> {  </a:t>
            </a:r>
          </a:p>
          <a:p>
            <a:pPr marL="0" indent="0" algn="just">
              <a:lnSpc>
                <a:spcPct val="170000"/>
              </a:lnSpc>
              <a:buNone/>
            </a:pPr>
            <a:r>
              <a:rPr lang="en-US" sz="4800" b="1" i="0" dirty="0">
                <a:solidFill>
                  <a:srgbClr val="000000"/>
                </a:solidFill>
                <a:effectLst/>
                <a:latin typeface="+mj-lt"/>
              </a:rPr>
              <a:t>    echo </a:t>
            </a:r>
            <a:r>
              <a:rPr lang="en-US" sz="4800" b="1" i="0" dirty="0">
                <a:solidFill>
                  <a:srgbClr val="0000FF"/>
                </a:solidFill>
                <a:effectLst/>
                <a:latin typeface="+mj-lt"/>
              </a:rPr>
              <a:t>"Your Mobile number is: "</a:t>
            </a:r>
            <a:r>
              <a:rPr lang="en-US" sz="4800" b="1" i="0" dirty="0">
                <a:solidFill>
                  <a:srgbClr val="000000"/>
                </a:solidFill>
                <a:effectLst/>
                <a:latin typeface="+mj-lt"/>
              </a:rPr>
              <a:t> .$</a:t>
            </a:r>
            <a:r>
              <a:rPr lang="en-US" sz="4800" b="1" i="0" dirty="0" err="1">
                <a:solidFill>
                  <a:srgbClr val="000000"/>
                </a:solidFill>
                <a:effectLst/>
                <a:latin typeface="+mj-lt"/>
              </a:rPr>
              <a:t>mobileno</a:t>
            </a:r>
            <a:r>
              <a:rPr lang="en-US" sz="4800" b="1" i="0" dirty="0">
                <a:solidFill>
                  <a:srgbClr val="000000"/>
                </a:solidFill>
                <a:effectLst/>
                <a:latin typeface="+mj-lt"/>
              </a:rPr>
              <a:t>;  </a:t>
            </a:r>
          </a:p>
          <a:p>
            <a:pPr marL="0" indent="0" algn="just">
              <a:lnSpc>
                <a:spcPct val="170000"/>
              </a:lnSpc>
              <a:buNone/>
            </a:pPr>
            <a:r>
              <a:rPr lang="en-US" sz="4800" b="1" i="0" dirty="0">
                <a:solidFill>
                  <a:srgbClr val="000000"/>
                </a:solidFill>
                <a:effectLst/>
                <a:latin typeface="+mj-lt"/>
              </a:rPr>
              <a:t>}  </a:t>
            </a:r>
          </a:p>
          <a:p>
            <a:pPr marL="0" indent="0" algn="just">
              <a:buNone/>
            </a:pPr>
            <a:endParaRPr lang="en-US" b="0" i="0" dirty="0">
              <a:solidFill>
                <a:srgbClr val="333333"/>
              </a:solidFill>
              <a:effectLst/>
              <a:latin typeface="inter-regular"/>
            </a:endParaRPr>
          </a:p>
          <a:p>
            <a:endParaRPr lang="en-US" dirty="0"/>
          </a:p>
        </p:txBody>
      </p:sp>
      <p:sp>
        <p:nvSpPr>
          <p:cNvPr id="4" name="Date Placeholder 3">
            <a:extLst>
              <a:ext uri="{FF2B5EF4-FFF2-40B4-BE49-F238E27FC236}">
                <a16:creationId xmlns:a16="http://schemas.microsoft.com/office/drawing/2014/main" id="{E32F3955-FB8D-9053-AFBE-10030F0BDCDF}"/>
              </a:ext>
            </a:extLst>
          </p:cNvPr>
          <p:cNvSpPr>
            <a:spLocks noGrp="1"/>
          </p:cNvSpPr>
          <p:nvPr>
            <p:ph type="dt" sz="half" idx="10"/>
          </p:nvPr>
        </p:nvSpPr>
        <p:spPr/>
        <p:txBody>
          <a:bodyPr/>
          <a:lstStyle/>
          <a:p>
            <a:fld id="{5BA55DE9-7230-4882-AE9C-C7D86E9BE0FE}" type="datetime1">
              <a:rPr lang="en-US" smtClean="0"/>
              <a:t>2/28/2024</a:t>
            </a:fld>
            <a:endParaRPr lang="en-US"/>
          </a:p>
        </p:txBody>
      </p:sp>
      <p:sp>
        <p:nvSpPr>
          <p:cNvPr id="5" name="Footer Placeholder 4">
            <a:extLst>
              <a:ext uri="{FF2B5EF4-FFF2-40B4-BE49-F238E27FC236}">
                <a16:creationId xmlns:a16="http://schemas.microsoft.com/office/drawing/2014/main" id="{4605A1A0-74EF-1D39-141A-5CC1FEA67DCF}"/>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90481E2F-D4CC-3935-072B-5494C056EBED}"/>
              </a:ext>
            </a:extLst>
          </p:cNvPr>
          <p:cNvSpPr>
            <a:spLocks noGrp="1"/>
          </p:cNvSpPr>
          <p:nvPr>
            <p:ph type="sldNum" sz="quarter" idx="12"/>
          </p:nvPr>
        </p:nvSpPr>
        <p:spPr/>
        <p:txBody>
          <a:bodyPr/>
          <a:lstStyle/>
          <a:p>
            <a:fld id="{DD4953B1-23D1-427D-BAAF-F6F31382E945}" type="slidenum">
              <a:rPr lang="en-US" smtClean="0"/>
              <a:t>61</a:t>
            </a:fld>
            <a:endParaRPr lang="en-US"/>
          </a:p>
        </p:txBody>
      </p:sp>
    </p:spTree>
    <p:extLst>
      <p:ext uri="{BB962C8B-B14F-4D97-AF65-F5344CB8AC3E}">
        <p14:creationId xmlns:p14="http://schemas.microsoft.com/office/powerpoint/2010/main" val="26683139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E70420F-CF5E-068D-35EB-8D59CF481486}"/>
              </a:ext>
            </a:extLst>
          </p:cNvPr>
          <p:cNvSpPr>
            <a:spLocks noGrp="1"/>
          </p:cNvSpPr>
          <p:nvPr>
            <p:ph type="dt" sz="half" idx="10"/>
          </p:nvPr>
        </p:nvSpPr>
        <p:spPr/>
        <p:txBody>
          <a:bodyPr/>
          <a:lstStyle/>
          <a:p>
            <a:fld id="{A0871198-DFBF-45E4-8EBB-D6ED30A109C1}" type="datetime1">
              <a:rPr lang="en-US" smtClean="0"/>
              <a:t>2/28/2024</a:t>
            </a:fld>
            <a:endParaRPr lang="en-US"/>
          </a:p>
        </p:txBody>
      </p:sp>
      <p:sp>
        <p:nvSpPr>
          <p:cNvPr id="5" name="Footer Placeholder 4">
            <a:extLst>
              <a:ext uri="{FF2B5EF4-FFF2-40B4-BE49-F238E27FC236}">
                <a16:creationId xmlns:a16="http://schemas.microsoft.com/office/drawing/2014/main" id="{79E0D8B6-0A54-2AD1-AD9B-B68ED58CB80F}"/>
              </a:ext>
            </a:extLst>
          </p:cNvPr>
          <p:cNvSpPr>
            <a:spLocks noGrp="1"/>
          </p:cNvSpPr>
          <p:nvPr>
            <p:ph type="ftr" sz="quarter" idx="11"/>
          </p:nvPr>
        </p:nvSpPr>
        <p:spPr/>
        <p:txBody>
          <a:bodyPr/>
          <a:lstStyle/>
          <a:p>
            <a:r>
              <a:rPr lang="en-US"/>
              <a:t>compiled by: IT dep't staffs</a:t>
            </a:r>
          </a:p>
        </p:txBody>
      </p:sp>
      <p:sp>
        <p:nvSpPr>
          <p:cNvPr id="6" name="Slide Number Placeholder 5">
            <a:extLst>
              <a:ext uri="{FF2B5EF4-FFF2-40B4-BE49-F238E27FC236}">
                <a16:creationId xmlns:a16="http://schemas.microsoft.com/office/drawing/2014/main" id="{2DD72F22-F0A3-E5BC-AE7A-DCD30188E175}"/>
              </a:ext>
            </a:extLst>
          </p:cNvPr>
          <p:cNvSpPr>
            <a:spLocks noGrp="1"/>
          </p:cNvSpPr>
          <p:nvPr>
            <p:ph type="sldNum" sz="quarter" idx="12"/>
          </p:nvPr>
        </p:nvSpPr>
        <p:spPr/>
        <p:txBody>
          <a:bodyPr/>
          <a:lstStyle/>
          <a:p>
            <a:fld id="{DD4953B1-23D1-427D-BAAF-F6F31382E945}" type="slidenum">
              <a:rPr lang="en-US" smtClean="0"/>
              <a:t>62</a:t>
            </a:fld>
            <a:endParaRPr lang="en-US"/>
          </a:p>
        </p:txBody>
      </p:sp>
      <p:sp>
        <p:nvSpPr>
          <p:cNvPr id="7" name="Rectangle 6">
            <a:extLst>
              <a:ext uri="{FF2B5EF4-FFF2-40B4-BE49-F238E27FC236}">
                <a16:creationId xmlns:a16="http://schemas.microsoft.com/office/drawing/2014/main" id="{3C923A81-BC30-0ECD-743C-FAA4ADD6221B}"/>
              </a:ext>
            </a:extLst>
          </p:cNvPr>
          <p:cNvSpPr/>
          <p:nvPr/>
        </p:nvSpPr>
        <p:spPr>
          <a:xfrm>
            <a:off x="1295400" y="1371600"/>
            <a:ext cx="6248400" cy="3139321"/>
          </a:xfrm>
          <a:prstGeom prst="rect">
            <a:avLst/>
          </a:prstGeom>
          <a:noFill/>
        </p:spPr>
        <p:txBody>
          <a:bodyPr wrap="square" lIns="91440" tIns="45720" rIns="91440" bIns="45720">
            <a:spAutoFit/>
          </a:bodyPr>
          <a:lstStyle/>
          <a:p>
            <a:pPr algn="ctr"/>
            <a:r>
              <a:rPr lang="en-US" sz="6600" b="1" dirty="0">
                <a:ln w="22225">
                  <a:solidFill>
                    <a:schemeClr val="accent2"/>
                  </a:solidFill>
                  <a:prstDash val="solid"/>
                </a:ln>
                <a:solidFill>
                  <a:srgbClr val="00B050"/>
                </a:solidFill>
              </a:rPr>
              <a:t>THANK YOU!</a:t>
            </a:r>
            <a:r>
              <a:rPr lang="en-US" sz="6600" b="1" cap="none" spc="0" dirty="0">
                <a:ln w="22225">
                  <a:solidFill>
                    <a:schemeClr val="accent2"/>
                  </a:solidFill>
                  <a:prstDash val="solid"/>
                </a:ln>
                <a:solidFill>
                  <a:srgbClr val="00B050"/>
                </a:solidFill>
                <a:effectLst/>
              </a:rPr>
              <a:t> </a:t>
            </a:r>
          </a:p>
          <a:p>
            <a:pPr algn="ctr"/>
            <a:r>
              <a:rPr lang="en-US" sz="6600" b="1" cap="none" spc="0" dirty="0">
                <a:ln w="22225">
                  <a:solidFill>
                    <a:schemeClr val="accent2"/>
                  </a:solidFill>
                  <a:prstDash val="solid"/>
                </a:ln>
                <a:solidFill>
                  <a:srgbClr val="FFFF00"/>
                </a:solidFill>
                <a:effectLst/>
              </a:rPr>
              <a:t>THE END OF </a:t>
            </a:r>
            <a:r>
              <a:rPr lang="en-US" sz="6600" b="1" cap="none" spc="0" dirty="0">
                <a:ln w="22225">
                  <a:solidFill>
                    <a:schemeClr val="accent2"/>
                  </a:solidFill>
                  <a:prstDash val="solid"/>
                </a:ln>
                <a:solidFill>
                  <a:srgbClr val="FF0000"/>
                </a:solidFill>
                <a:effectLst/>
              </a:rPr>
              <a:t>CHAPTER-2</a:t>
            </a:r>
          </a:p>
        </p:txBody>
      </p:sp>
    </p:spTree>
    <p:extLst>
      <p:ext uri="{BB962C8B-B14F-4D97-AF65-F5344CB8AC3E}">
        <p14:creationId xmlns:p14="http://schemas.microsoft.com/office/powerpoint/2010/main" val="345757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751</TotalTime>
  <Words>3712</Words>
  <Application>Microsoft Office PowerPoint</Application>
  <PresentationFormat>On-screen Show (4:3)</PresentationFormat>
  <Paragraphs>654</Paragraphs>
  <Slides>62</Slides>
  <Notes>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Arial</vt:lpstr>
      <vt:lpstr>Calibri</vt:lpstr>
      <vt:lpstr>Century Gothic</vt:lpstr>
      <vt:lpstr>erdana</vt:lpstr>
      <vt:lpstr>inter-regular</vt:lpstr>
      <vt:lpstr>Times New Roman</vt:lpstr>
      <vt:lpstr>Verdana</vt:lpstr>
      <vt:lpstr>Wingdings</vt:lpstr>
      <vt:lpstr>Wingdings 3</vt:lpstr>
      <vt:lpstr>Wisp</vt:lpstr>
      <vt:lpstr>Chapter 2</vt:lpstr>
      <vt:lpstr>PHP Decision Making</vt:lpstr>
      <vt:lpstr>        The if statement </vt:lpstr>
      <vt:lpstr>       if… else</vt:lpstr>
      <vt:lpstr>     if..elseif…else</vt:lpstr>
      <vt:lpstr>                 switch</vt:lpstr>
      <vt:lpstr>      How if…else works</vt:lpstr>
      <vt:lpstr>    How if…elseif…else works</vt:lpstr>
      <vt:lpstr>        How switch works</vt:lpstr>
      <vt:lpstr>How switch works</vt:lpstr>
      <vt:lpstr>Exercise </vt:lpstr>
      <vt:lpstr>PHP Loop Types</vt:lpstr>
      <vt:lpstr>     for loop</vt:lpstr>
      <vt:lpstr>      How it works</vt:lpstr>
      <vt:lpstr>while loop</vt:lpstr>
      <vt:lpstr>      How it works</vt:lpstr>
      <vt:lpstr>do…while loop</vt:lpstr>
      <vt:lpstr>Cont…</vt:lpstr>
      <vt:lpstr>       How it works</vt:lpstr>
      <vt:lpstr>      foreach loop</vt:lpstr>
      <vt:lpstr>Cont…</vt:lpstr>
      <vt:lpstr>      How it works</vt:lpstr>
      <vt:lpstr>Break and continue statements </vt:lpstr>
      <vt:lpstr>How it works</vt:lpstr>
      <vt:lpstr>The ‘continue’ statement</vt:lpstr>
      <vt:lpstr>           How it works</vt:lpstr>
      <vt:lpstr>Exercise </vt:lpstr>
      <vt:lpstr>What do you think is the output of the following program?</vt:lpstr>
      <vt:lpstr>  Arrays</vt:lpstr>
      <vt:lpstr>Arrays</vt:lpstr>
      <vt:lpstr>Types</vt:lpstr>
      <vt:lpstr>Numeric Arrays</vt:lpstr>
      <vt:lpstr>Associative Array</vt:lpstr>
      <vt:lpstr>Cont…</vt:lpstr>
      <vt:lpstr>Multidimensional Array</vt:lpstr>
      <vt:lpstr>Cont…</vt:lpstr>
      <vt:lpstr>Functions in PHP</vt:lpstr>
      <vt:lpstr>      Functions in PHP…</vt:lpstr>
      <vt:lpstr>    Functions in PHP…</vt:lpstr>
      <vt:lpstr>         Functions in PHP…</vt:lpstr>
      <vt:lpstr>PHP Form Handling</vt:lpstr>
      <vt:lpstr>     Forms</vt:lpstr>
      <vt:lpstr>GET method and $_GET variable</vt:lpstr>
      <vt:lpstr>      GET cont.…</vt:lpstr>
      <vt:lpstr>How it works</vt:lpstr>
      <vt:lpstr>      Cont.…</vt:lpstr>
      <vt:lpstr>POST method and $_POST variable</vt:lpstr>
      <vt:lpstr>How it works</vt:lpstr>
      <vt:lpstr>Cont.…</vt:lpstr>
      <vt:lpstr>Regular expressions(Regex)</vt:lpstr>
      <vt:lpstr>Regex cont.…</vt:lpstr>
      <vt:lpstr>PERL Style Regular Expression </vt:lpstr>
      <vt:lpstr>Perl style regex cont..</vt:lpstr>
      <vt:lpstr>PHP's Regexp PERL Compatible Functions and descriptions </vt:lpstr>
      <vt:lpstr>Form validation </vt:lpstr>
      <vt:lpstr>Form validation…  </vt:lpstr>
      <vt:lpstr>Cont..</vt:lpstr>
      <vt:lpstr>Cont… </vt:lpstr>
      <vt:lpstr>Cont..</vt:lpstr>
      <vt:lpstr>Cont..</vt:lpstr>
      <vt:lpstr>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 Decision Making</dc:title>
  <dc:creator>Windows User</dc:creator>
  <cp:lastModifiedBy>Yemax</cp:lastModifiedBy>
  <cp:revision>69</cp:revision>
  <dcterms:created xsi:type="dcterms:W3CDTF">2021-05-29T16:05:41Z</dcterms:created>
  <dcterms:modified xsi:type="dcterms:W3CDTF">2024-02-28T14:25:11Z</dcterms:modified>
</cp:coreProperties>
</file>